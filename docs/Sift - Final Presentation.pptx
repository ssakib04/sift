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Kaji Sadman Sakib, ID 30234, YSD Batch 05, AI track at BJIT Academy. Sift is an AI recruiting platform. The image on the right is the live neural avatar of Sift's AI interviewer.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and background: hiring teams receive more applications than they can read, and interviews are inconsistent. Sift is the single desk that runs the whole pipeline. The numbers are from the running system.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problems: volume, inconsistency, unverified claims, and identity. Each maps to a part of Sift.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goals, each with a measurable outcome. The interview weighting is the real formula in the master assessment.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capabilities. The two highlighted are the innovation: the AI interviewer and the identity check. The next two slides go deeper on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show-stopper. When no recruiter is in the room, Sift's own interviewer joins the LiveKit call. Groq Whisper hears the candidate, Gemini plans the next line from the checklist, and the Orpheus voice speaks it. It waits for the candidate to finish, follows up on thin answers, never goes silent if the model is slow, then runs the quiz, ends the call, and writes the reports. If possible, show it live 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innovation is trust. The face check only runs after consent, compares three frames with the CV photo using InsightFace, and the recruiter keeps the final say. The transcript feeds the CV-claims report, which compares what was said with what the CV claims. The screenshot is the real call with Abdullah Al Maruf: 62% likeness, admitted.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big picture. Recruiters and candidates use the same Next.js web app, signed in with a JWT or a signed invite link. Behind it, FastAPI services and workers run LangGraph workflows in three stages: pre-interview, live interview, and post-interview. Every stage calls the same shared AI services and reads and writes one Postgres database with pgvector. External services handle job posting, the CV inbox, invitations, and live media.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 right: people reach the Next.js frontend through public HTTPS. The FastAPI backend owns auth, jobs, scoring, and reports. Workers run the AI interviewer, the transcriber, and inbox intake. AI calls go through one router with fallbacks. Video and audio flow through LiveKit Cloud, where the agents join as participants. Postgres with pgvector stores everything, including policy embeddings.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blueprint, with every step numbered in demo order. Pre-interview, steps 1 to 6: policy upload, job creation, CV intake and processing, checklist scoring, ranking. Live interview, steps 7 to 12: invitation, face check, the AI video interview, live transcript, in-call tools, and handoff. Post-interview, steps 13 to 18: Q&amp;A analysis, CV claim verification, interview score, interview quality, consolidated assessment, and reports. Shared AI services sit on the right, persistence at the bottom. If the room needs detail, open diagrams/system-architecture.pdf and zoom 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Languages: TypeScript and Python. The AI layer always has a fallback: Claude, then Gemini, then a local Ollama model. Speech has an offline fallback too: Kokoro or Piper.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eight steps. Steps 1 to 4 run before anyone is contacted. Step 6 is where the innovation lives. The final score formula is shown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a recruiter starts: the sign-in page. It checks one password in constant time and issues a recruiter token that is separate from candidate invite links. The theme switcher at the top right changes the whole desk between Rose, Moon, Wine, and Moss.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home desk with the copilot drafting a brief. Right: the AI Engineer role is locked, scoring is running, and invitations go to the top of the ranking.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AI-led room, the avatar while speaking. Right: the recruiter-led room with Abdullah Al Maruf, the face match card, and the messenger-style transcript.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results for Abdullah Al Maruf. When the call ends, five reports are written automatically. The master assessment combines CV screening at 100 and interview Q&amp;A at 59.8 into 74.9, and every claim cites the checklist item it comes from.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candidate gallery and the final ranking. Final ranking only includes people who completed screening, the interview, and the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real problems hit while building and testing Sift, each with the fix that is in the code today.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Likely questions: how the AI interviewer decides what to ask, how face data is stored and consented, what happens when the AI provider fails, and how the final score is weighted.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png"/><Relationship Id="rId4"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png"/>
          <p:cNvPicPr>
            <a:picLocks noChangeAspect="1"/>
          </p:cNvPicPr>
          <p:nvPr/>
        </p:nvPicPr>
        <p:blipFill>
          <a:blip r:embed="rId2"/>
          <a:stretch>
            <a:fillRect/>
          </a:stretch>
        </p:blipFill>
        <p:spPr>
          <a:xfrm>
            <a:off x="0" y="0"/>
            <a:ext cx="12191695" cy="6858000"/>
          </a:xfrm>
          <a:prstGeom prst="rect">
            <a:avLst/>
          </a:prstGeom>
        </p:spPr>
      </p:pic>
      <p:pic>
        <p:nvPicPr>
          <p:cNvPr id="3" name="Picture 2" descr="fade_title_avatar.png"/>
          <p:cNvPicPr>
            <a:picLocks noChangeAspect="1"/>
          </p:cNvPicPr>
          <p:nvPr/>
        </p:nvPicPr>
        <p:blipFill>
          <a:blip r:embed="rId3"/>
          <a:stretch>
            <a:fillRect/>
          </a:stretch>
        </p:blipFill>
        <p:spPr>
          <a:xfrm>
            <a:off x="3840480" y="1234440"/>
            <a:ext cx="8503920" cy="4342002"/>
          </a:xfrm>
          <a:prstGeom prst="rect">
            <a:avLst/>
          </a:prstGeom>
        </p:spPr>
      </p:pic>
      <p:pic>
        <p:nvPicPr>
          <p:cNvPr id="4" name="Picture 3" descr="logo.png"/>
          <p:cNvPicPr>
            <a:picLocks noChangeAspect="1"/>
          </p:cNvPicPr>
          <p:nvPr/>
        </p:nvPicPr>
        <p:blipFill>
          <a:blip r:embed="rId4"/>
          <a:stretch>
            <a:fillRect/>
          </a:stretch>
        </p:blipFill>
        <p:spPr>
          <a:xfrm>
            <a:off x="566928" y="310896"/>
            <a:ext cx="868680" cy="361500"/>
          </a:xfrm>
          <a:prstGeom prst="rect">
            <a:avLst/>
          </a:prstGeom>
        </p:spPr>
      </p:pic>
      <p:sp>
        <p:nvSpPr>
          <p:cNvPr id="5" name="Rectangle 4"/>
          <p:cNvSpPr/>
          <p:nvPr/>
        </p:nvSpPr>
        <p:spPr>
          <a:xfrm>
            <a:off x="566928" y="932688"/>
            <a:ext cx="292608" cy="41148"/>
          </a:xfrm>
          <a:prstGeom prst="rect">
            <a:avLst/>
          </a:prstGeom>
          <a:solidFill>
            <a:srgbClr val="F3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69264" y="822960"/>
            <a:ext cx="8229600" cy="274320"/>
          </a:xfrm>
          <a:prstGeom prst="rect">
            <a:avLst/>
          </a:prstGeom>
          <a:noFill/>
        </p:spPr>
        <p:txBody>
          <a:bodyPr wrap="square" lIns="0" rIns="0" tIns="0" bIns="0" anchor="t">
            <a:spAutoFit/>
          </a:bodyPr>
          <a:lstStyle/>
          <a:p>
            <a:pPr algn="l">
              <a:lnSpc>
                <a:spcPct val="112000"/>
              </a:lnSpc>
            </a:pPr>
            <a:r>
              <a:rPr sz="1100" b="0" i="0" spc="320">
                <a:solidFill>
                  <a:srgbClr val="F3A85C"/>
                </a:solidFill>
                <a:latin typeface="Segoe UI Semibold"/>
              </a:rPr>
              <a:t>FINAL PROJECT  ·  YSD BATCH 05  ·  AI</a:t>
            </a:r>
          </a:p>
        </p:txBody>
      </p:sp>
      <p:sp>
        <p:nvSpPr>
          <p:cNvPr id="7" name="TextBox 6"/>
          <p:cNvSpPr txBox="1"/>
          <p:nvPr/>
        </p:nvSpPr>
        <p:spPr>
          <a:xfrm>
            <a:off x="502920" y="1325880"/>
            <a:ext cx="6400800" cy="2011680"/>
          </a:xfrm>
          <a:prstGeom prst="rect">
            <a:avLst/>
          </a:prstGeom>
          <a:noFill/>
        </p:spPr>
        <p:txBody>
          <a:bodyPr wrap="square" lIns="0" rIns="0" tIns="0" bIns="0" anchor="t">
            <a:spAutoFit/>
          </a:bodyPr>
          <a:lstStyle/>
          <a:p>
            <a:pPr algn="l">
              <a:lnSpc>
                <a:spcPct val="100000"/>
              </a:lnSpc>
              <a:spcAft>
                <a:spcPts val="0"/>
              </a:spcAft>
            </a:pPr>
            <a:r>
              <a:rPr sz="12800" b="0" i="0">
                <a:solidFill>
                  <a:srgbClr val="F7F0E7"/>
                </a:solidFill>
                <a:latin typeface="Georgia"/>
              </a:rPr>
              <a:t>Sift</a:t>
            </a:r>
            <a:r>
              <a:rPr sz="12800" b="0" i="0">
                <a:solidFill>
                  <a:srgbClr val="DB8492"/>
                </a:solidFill>
                <a:latin typeface="Georgia"/>
              </a:rPr>
              <a:t>.</a:t>
            </a:r>
          </a:p>
        </p:txBody>
      </p:sp>
      <p:sp>
        <p:nvSpPr>
          <p:cNvPr id="8" name="TextBox 7"/>
          <p:cNvSpPr txBox="1"/>
          <p:nvPr/>
        </p:nvSpPr>
        <p:spPr>
          <a:xfrm>
            <a:off x="566928" y="3520440"/>
            <a:ext cx="6400800" cy="914400"/>
          </a:xfrm>
          <a:prstGeom prst="rect">
            <a:avLst/>
          </a:prstGeom>
          <a:noFill/>
        </p:spPr>
        <p:txBody>
          <a:bodyPr wrap="square" lIns="0" rIns="0" tIns="0" bIns="0" anchor="t">
            <a:spAutoFit/>
          </a:bodyPr>
          <a:lstStyle/>
          <a:p>
            <a:pPr algn="l">
              <a:lnSpc>
                <a:spcPct val="130000"/>
              </a:lnSpc>
            </a:pPr>
            <a:r>
              <a:rPr sz="1900" b="0" i="0">
                <a:solidFill>
                  <a:srgbClr val="C4B2AE"/>
                </a:solidFill>
                <a:latin typeface="Segoe UI"/>
              </a:rPr>
              <a:t>An AI recruiting platform that reads every CV,</a:t>
            </a:r>
          </a:p>
          <a:p>
            <a:pPr algn="l">
              <a:lnSpc>
                <a:spcPct val="130000"/>
              </a:lnSpc>
            </a:pPr>
            <a:r>
              <a:rPr sz="1900" b="0" i="0">
                <a:solidFill>
                  <a:srgbClr val="C4B2AE"/>
                </a:solidFill>
                <a:latin typeface="Segoe UI"/>
              </a:rPr>
              <a:t>interviews every candidate, and shows its evidence.</a:t>
            </a:r>
          </a:p>
        </p:txBody>
      </p:sp>
      <p:sp>
        <p:nvSpPr>
          <p:cNvPr id="9" name="Rounded Rectangle 8"/>
          <p:cNvSpPr/>
          <p:nvPr/>
        </p:nvSpPr>
        <p:spPr>
          <a:xfrm>
            <a:off x="566928" y="4617720"/>
            <a:ext cx="1877568" cy="329184"/>
          </a:xfrm>
          <a:prstGeom prst="roundRect">
            <a:avLst>
              <a:gd name="adj" fmla="val 50000"/>
            </a:avLst>
          </a:prstGeom>
          <a:solidFill>
            <a:srgbClr val="9678EB">
              <a:alpha val="14000"/>
            </a:srgbClr>
          </a:solidFill>
          <a:ln w="9525">
            <a:solidFill>
              <a:srgbClr val="9678EB">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4617720"/>
            <a:ext cx="1877568" cy="329184"/>
          </a:xfrm>
          <a:prstGeom prst="rect">
            <a:avLst/>
          </a:prstGeom>
          <a:noFill/>
        </p:spPr>
        <p:txBody>
          <a:bodyPr wrap="square" lIns="0" rIns="0" tIns="0" bIns="0" anchor="ctr">
            <a:spAutoFit/>
          </a:bodyPr>
          <a:lstStyle/>
          <a:p>
            <a:pPr algn="ctr">
              <a:lnSpc>
                <a:spcPct val="112000"/>
              </a:lnSpc>
            </a:pPr>
            <a:r>
              <a:rPr sz="1050" b="0" i="0">
                <a:solidFill>
                  <a:srgbClr val="9678EB"/>
                </a:solidFill>
                <a:latin typeface="Segoe UI Semibold"/>
              </a:rPr>
              <a:t>AI voice interviewer</a:t>
            </a:r>
          </a:p>
        </p:txBody>
      </p:sp>
      <p:sp>
        <p:nvSpPr>
          <p:cNvPr id="11" name="Rounded Rectangle 10"/>
          <p:cNvSpPr/>
          <p:nvPr/>
        </p:nvSpPr>
        <p:spPr>
          <a:xfrm>
            <a:off x="2581656" y="4617720"/>
            <a:ext cx="1802892" cy="329184"/>
          </a:xfrm>
          <a:prstGeom prst="roundRect">
            <a:avLst>
              <a:gd name="adj" fmla="val 50000"/>
            </a:avLst>
          </a:prstGeom>
          <a:solidFill>
            <a:srgbClr val="F3A85C">
              <a:alpha val="14000"/>
            </a:srgbClr>
          </a:solidFill>
          <a:ln w="9525">
            <a:solidFill>
              <a:srgbClr val="F3A85C">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581656" y="4617720"/>
            <a:ext cx="1802892" cy="329184"/>
          </a:xfrm>
          <a:prstGeom prst="rect">
            <a:avLst/>
          </a:prstGeom>
          <a:noFill/>
        </p:spPr>
        <p:txBody>
          <a:bodyPr wrap="square" lIns="0" rIns="0" tIns="0" bIns="0" anchor="ctr">
            <a:spAutoFit/>
          </a:bodyPr>
          <a:lstStyle/>
          <a:p>
            <a:pPr algn="ctr">
              <a:lnSpc>
                <a:spcPct val="112000"/>
              </a:lnSpc>
            </a:pPr>
            <a:r>
              <a:rPr sz="1050" b="0" i="0">
                <a:solidFill>
                  <a:srgbClr val="F3A85C"/>
                </a:solidFill>
                <a:latin typeface="Segoe UI Semibold"/>
              </a:rPr>
              <a:t>Face identity check</a:t>
            </a:r>
          </a:p>
        </p:txBody>
      </p:sp>
      <p:sp>
        <p:nvSpPr>
          <p:cNvPr id="13" name="Rounded Rectangle 12"/>
          <p:cNvSpPr/>
          <p:nvPr/>
        </p:nvSpPr>
        <p:spPr>
          <a:xfrm>
            <a:off x="4521708" y="4617720"/>
            <a:ext cx="1802892" cy="329184"/>
          </a:xfrm>
          <a:prstGeom prst="roundRect">
            <a:avLst>
              <a:gd name="adj" fmla="val 50000"/>
            </a:avLst>
          </a:prstGeom>
          <a:solidFill>
            <a:srgbClr val="98D0AC">
              <a:alpha val="14000"/>
            </a:srgbClr>
          </a:solidFill>
          <a:ln w="9525">
            <a:solidFill>
              <a:srgbClr val="98D0AC">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21708" y="4617720"/>
            <a:ext cx="1802892" cy="329184"/>
          </a:xfrm>
          <a:prstGeom prst="rect">
            <a:avLst/>
          </a:prstGeom>
          <a:noFill/>
        </p:spPr>
        <p:txBody>
          <a:bodyPr wrap="square" lIns="0" rIns="0" tIns="0" bIns="0" anchor="ctr">
            <a:spAutoFit/>
          </a:bodyPr>
          <a:lstStyle/>
          <a:p>
            <a:pPr algn="ctr">
              <a:lnSpc>
                <a:spcPct val="112000"/>
              </a:lnSpc>
            </a:pPr>
            <a:r>
              <a:rPr sz="1050" b="0" i="0">
                <a:solidFill>
                  <a:srgbClr val="98D0AC"/>
                </a:solidFill>
                <a:latin typeface="Segoe UI Semibold"/>
              </a:rPr>
              <a:t>Explainable scoring</a:t>
            </a:r>
          </a:p>
        </p:txBody>
      </p:sp>
      <p:sp>
        <p:nvSpPr>
          <p:cNvPr id="15" name="TextBox 14"/>
          <p:cNvSpPr txBox="1"/>
          <p:nvPr/>
        </p:nvSpPr>
        <p:spPr>
          <a:xfrm>
            <a:off x="566928" y="6144768"/>
            <a:ext cx="5486400" cy="274320"/>
          </a:xfrm>
          <a:prstGeom prst="rect">
            <a:avLst/>
          </a:prstGeom>
          <a:noFill/>
        </p:spPr>
        <p:txBody>
          <a:bodyPr wrap="square" lIns="0" rIns="0" tIns="0" bIns="0" anchor="t">
            <a:spAutoFit/>
          </a:bodyPr>
          <a:lstStyle/>
          <a:p>
            <a:pPr algn="l">
              <a:lnSpc>
                <a:spcPct val="112000"/>
              </a:lnSpc>
            </a:pPr>
            <a:r>
              <a:rPr sz="1050" b="0" i="0" spc="150">
                <a:solidFill>
                  <a:srgbClr val="8C7A78"/>
                </a:solidFill>
                <a:latin typeface="Segoe UI"/>
              </a:rPr>
              <a:t>Kaji Sadman Sakib  ·  30234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rose.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566928"/>
            <a:ext cx="292608" cy="41148"/>
          </a:xfrm>
          <a:prstGeom prst="rect">
            <a:avLst/>
          </a:prstGeom>
          <a:solidFill>
            <a:srgbClr val="F3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457200"/>
            <a:ext cx="8229600" cy="274320"/>
          </a:xfrm>
          <a:prstGeom prst="rect">
            <a:avLst/>
          </a:prstGeom>
          <a:noFill/>
        </p:spPr>
        <p:txBody>
          <a:bodyPr wrap="square" lIns="0" rIns="0" tIns="0" bIns="0" anchor="t">
            <a:spAutoFit/>
          </a:bodyPr>
          <a:lstStyle/>
          <a:p>
            <a:pPr algn="l">
              <a:lnSpc>
                <a:spcPct val="112000"/>
              </a:lnSpc>
            </a:pPr>
            <a:r>
              <a:rPr sz="1100" b="0" i="0" spc="320">
                <a:solidFill>
                  <a:srgbClr val="F3A85C"/>
                </a:solidFill>
                <a:latin typeface="Segoe UI Semibold"/>
              </a:rPr>
              <a:t>02  ·  PROJECT OVERVIEW</a:t>
            </a:r>
          </a:p>
        </p:txBody>
      </p:sp>
      <p:sp>
        <p:nvSpPr>
          <p:cNvPr id="5" name="TextBox 4"/>
          <p:cNvSpPr txBox="1"/>
          <p:nvPr/>
        </p:nvSpPr>
        <p:spPr>
          <a:xfrm>
            <a:off x="548640" y="786384"/>
            <a:ext cx="11064240" cy="914400"/>
          </a:xfrm>
          <a:prstGeom prst="rect">
            <a:avLst/>
          </a:prstGeom>
          <a:noFill/>
        </p:spPr>
        <p:txBody>
          <a:bodyPr wrap="square" lIns="0" rIns="0" tIns="0" bIns="0" anchor="t">
            <a:spAutoFit/>
          </a:bodyPr>
          <a:lstStyle/>
          <a:p>
            <a:pPr algn="l">
              <a:lnSpc>
                <a:spcPct val="112000"/>
              </a:lnSpc>
            </a:pPr>
            <a:r>
              <a:rPr sz="3800" b="0" i="0">
                <a:solidFill>
                  <a:srgbClr val="F7F0E7"/>
                </a:solidFill>
                <a:latin typeface="Georgia"/>
              </a:rPr>
              <a:t>One desk for the whole hiring pipeline</a:t>
            </a:r>
          </a:p>
        </p:txBody>
      </p:sp>
      <p:sp>
        <p:nvSpPr>
          <p:cNvPr id="6" name="TextBox 5"/>
          <p:cNvSpPr txBox="1"/>
          <p:nvPr/>
        </p:nvSpPr>
        <p:spPr>
          <a:xfrm>
            <a:off x="566928" y="6419088"/>
            <a:ext cx="2743200" cy="228600"/>
          </a:xfrm>
          <a:prstGeom prst="rect">
            <a:avLst/>
          </a:prstGeom>
          <a:noFill/>
        </p:spPr>
        <p:txBody>
          <a:bodyPr wrap="square" lIns="0" rIns="0" tIns="0" bIns="0" anchor="t">
            <a:spAutoFit/>
          </a:bodyPr>
          <a:lstStyle/>
          <a:p>
            <a:pPr algn="l">
              <a:lnSpc>
                <a:spcPct val="112000"/>
              </a:lnSpc>
            </a:pPr>
            <a:r>
              <a:rPr sz="900" b="0" i="0" spc="400">
                <a:solidFill>
                  <a:srgbClr val="8C7A78"/>
                </a:solidFill>
                <a:latin typeface="Segoe UI Semibold"/>
              </a:rPr>
              <a:t>SIFT</a:t>
            </a:r>
          </a:p>
        </p:txBody>
      </p:sp>
      <p:sp>
        <p:nvSpPr>
          <p:cNvPr id="7" name="TextBox 6"/>
          <p:cNvSpPr txBox="1"/>
          <p:nvPr/>
        </p:nvSpPr>
        <p:spPr>
          <a:xfrm>
            <a:off x="9784080" y="6419088"/>
            <a:ext cx="1856231" cy="228600"/>
          </a:xfrm>
          <a:prstGeom prst="rect">
            <a:avLst/>
          </a:prstGeom>
          <a:noFill/>
        </p:spPr>
        <p:txBody>
          <a:bodyPr wrap="square" lIns="0" rIns="0" tIns="0" bIns="0" anchor="t">
            <a:spAutoFit/>
          </a:bodyPr>
          <a:lstStyle/>
          <a:p>
            <a:pPr algn="r">
              <a:lnSpc>
                <a:spcPct val="112000"/>
              </a:lnSpc>
            </a:pPr>
            <a:r>
              <a:rPr sz="900" b="0" i="0" spc="200">
                <a:solidFill>
                  <a:srgbClr val="8C7A78"/>
                </a:solidFill>
                <a:latin typeface="Segoe UI Semibold"/>
              </a:rPr>
              <a:t>02 / 19</a:t>
            </a:r>
          </a:p>
        </p:txBody>
      </p:sp>
      <p:sp>
        <p:nvSpPr>
          <p:cNvPr id="8" name="TextBox 7"/>
          <p:cNvSpPr txBox="1"/>
          <p:nvPr/>
        </p:nvSpPr>
        <p:spPr>
          <a:xfrm>
            <a:off x="566928" y="1874519"/>
            <a:ext cx="4343400" cy="3291840"/>
          </a:xfrm>
          <a:prstGeom prst="rect">
            <a:avLst/>
          </a:prstGeom>
          <a:noFill/>
        </p:spPr>
        <p:txBody>
          <a:bodyPr wrap="square" lIns="0" rIns="0" tIns="0" bIns="0" anchor="t">
            <a:spAutoFit/>
          </a:bodyPr>
          <a:lstStyle/>
          <a:p>
            <a:pPr algn="l">
              <a:lnSpc>
                <a:spcPct val="130000"/>
              </a:lnSpc>
              <a:spcAft>
                <a:spcPts val="1400"/>
              </a:spcAft>
            </a:pPr>
            <a:r>
              <a:rPr sz="1700" b="0" i="0">
                <a:solidFill>
                  <a:srgbClr val="F7F0E7"/>
                </a:solidFill>
                <a:latin typeface="Segoe UI"/>
              </a:rPr>
              <a:t>Sift is a recruiter’s desk where every step of hiring runs through one pipeline, and every score comes with its reasons.</a:t>
            </a:r>
          </a:p>
          <a:p>
            <a:pPr algn="l">
              <a:lnSpc>
                <a:spcPct val="130000"/>
              </a:lnSpc>
              <a:spcAft>
                <a:spcPts val="1200"/>
              </a:spcAft>
            </a:pPr>
            <a:r>
              <a:rPr sz="1350" b="0" i="0">
                <a:solidFill>
                  <a:srgbClr val="C4B2AE"/>
                </a:solidFill>
                <a:latin typeface="Segoe UI"/>
              </a:rPr>
              <a:t>A role is written once, from the company’s own policy. From then on, CVs, interviews, quizzes, and reports all measure against the same locked checklist.</a:t>
            </a:r>
          </a:p>
          <a:p>
            <a:pPr algn="l">
              <a:lnSpc>
                <a:spcPct val="130000"/>
              </a:lnSpc>
              <a:spcAft>
                <a:spcPts val="0"/>
              </a:spcAft>
            </a:pPr>
            <a:r>
              <a:rPr sz="1350" b="0" i="0">
                <a:solidFill>
                  <a:srgbClr val="C4B2AE"/>
                </a:solidFill>
                <a:latin typeface="Segoe UI"/>
              </a:rPr>
              <a:t>A recruiter can run the interview with a live transcript and copilot, or let Sift’s AI interviewer run it on its own.</a:t>
            </a:r>
          </a:p>
        </p:txBody>
      </p:sp>
      <p:sp>
        <p:nvSpPr>
          <p:cNvPr id="9" name="TextBox 8"/>
          <p:cNvSpPr txBox="1"/>
          <p:nvPr/>
        </p:nvSpPr>
        <p:spPr>
          <a:xfrm>
            <a:off x="566928" y="5074920"/>
            <a:ext cx="1371600" cy="548640"/>
          </a:xfrm>
          <a:prstGeom prst="rect">
            <a:avLst/>
          </a:prstGeom>
          <a:noFill/>
        </p:spPr>
        <p:txBody>
          <a:bodyPr wrap="square" lIns="0" rIns="0" tIns="0" bIns="0" anchor="t">
            <a:spAutoFit/>
          </a:bodyPr>
          <a:lstStyle/>
          <a:p>
            <a:pPr algn="l">
              <a:lnSpc>
                <a:spcPct val="112000"/>
              </a:lnSpc>
            </a:pPr>
            <a:r>
              <a:rPr sz="3000" b="0" i="0">
                <a:solidFill>
                  <a:srgbClr val="F3A85C"/>
                </a:solidFill>
                <a:latin typeface="Georgia"/>
              </a:rPr>
              <a:t>17</a:t>
            </a:r>
          </a:p>
        </p:txBody>
      </p:sp>
      <p:sp>
        <p:nvSpPr>
          <p:cNvPr id="10" name="TextBox 9"/>
          <p:cNvSpPr txBox="1"/>
          <p:nvPr/>
        </p:nvSpPr>
        <p:spPr>
          <a:xfrm>
            <a:off x="566928" y="5641848"/>
            <a:ext cx="1371600" cy="274320"/>
          </a:xfrm>
          <a:prstGeom prst="rect">
            <a:avLst/>
          </a:prstGeom>
          <a:noFill/>
        </p:spPr>
        <p:txBody>
          <a:bodyPr wrap="square" lIns="0" rIns="0" tIns="0" bIns="0" anchor="t">
            <a:spAutoFit/>
          </a:bodyPr>
          <a:lstStyle/>
          <a:p>
            <a:pPr algn="l">
              <a:lnSpc>
                <a:spcPct val="112000"/>
              </a:lnSpc>
            </a:pPr>
            <a:r>
              <a:rPr sz="900" b="0" i="0" spc="200">
                <a:solidFill>
                  <a:srgbClr val="8C7A78"/>
                </a:solidFill>
                <a:latin typeface="Segoe UI Semibold"/>
              </a:rPr>
              <a:t>ACTIVE ROLES</a:t>
            </a:r>
          </a:p>
        </p:txBody>
      </p:sp>
      <p:sp>
        <p:nvSpPr>
          <p:cNvPr id="11" name="TextBox 10"/>
          <p:cNvSpPr txBox="1"/>
          <p:nvPr/>
        </p:nvSpPr>
        <p:spPr>
          <a:xfrm>
            <a:off x="2029968" y="5074920"/>
            <a:ext cx="1371600" cy="548640"/>
          </a:xfrm>
          <a:prstGeom prst="rect">
            <a:avLst/>
          </a:prstGeom>
          <a:noFill/>
        </p:spPr>
        <p:txBody>
          <a:bodyPr wrap="square" lIns="0" rIns="0" tIns="0" bIns="0" anchor="t">
            <a:spAutoFit/>
          </a:bodyPr>
          <a:lstStyle/>
          <a:p>
            <a:pPr algn="l">
              <a:lnSpc>
                <a:spcPct val="112000"/>
              </a:lnSpc>
            </a:pPr>
            <a:r>
              <a:rPr sz="3000" b="0" i="0">
                <a:solidFill>
                  <a:srgbClr val="F3A85C"/>
                </a:solidFill>
                <a:latin typeface="Georgia"/>
              </a:rPr>
              <a:t>36</a:t>
            </a:r>
          </a:p>
        </p:txBody>
      </p:sp>
      <p:sp>
        <p:nvSpPr>
          <p:cNvPr id="12" name="TextBox 11"/>
          <p:cNvSpPr txBox="1"/>
          <p:nvPr/>
        </p:nvSpPr>
        <p:spPr>
          <a:xfrm>
            <a:off x="2029968" y="5641848"/>
            <a:ext cx="1371600" cy="274320"/>
          </a:xfrm>
          <a:prstGeom prst="rect">
            <a:avLst/>
          </a:prstGeom>
          <a:noFill/>
        </p:spPr>
        <p:txBody>
          <a:bodyPr wrap="square" lIns="0" rIns="0" tIns="0" bIns="0" anchor="t">
            <a:spAutoFit/>
          </a:bodyPr>
          <a:lstStyle/>
          <a:p>
            <a:pPr algn="l">
              <a:lnSpc>
                <a:spcPct val="112000"/>
              </a:lnSpc>
            </a:pPr>
            <a:r>
              <a:rPr sz="900" b="0" i="0" spc="200">
                <a:solidFill>
                  <a:srgbClr val="8C7A78"/>
                </a:solidFill>
                <a:latin typeface="Segoe UI Semibold"/>
              </a:rPr>
              <a:t>APPLICANTS</a:t>
            </a:r>
          </a:p>
        </p:txBody>
      </p:sp>
      <p:sp>
        <p:nvSpPr>
          <p:cNvPr id="13" name="TextBox 12"/>
          <p:cNvSpPr txBox="1"/>
          <p:nvPr/>
        </p:nvSpPr>
        <p:spPr>
          <a:xfrm>
            <a:off x="3493008" y="5074920"/>
            <a:ext cx="1371600" cy="548640"/>
          </a:xfrm>
          <a:prstGeom prst="rect">
            <a:avLst/>
          </a:prstGeom>
          <a:noFill/>
        </p:spPr>
        <p:txBody>
          <a:bodyPr wrap="square" lIns="0" rIns="0" tIns="0" bIns="0" anchor="t">
            <a:spAutoFit/>
          </a:bodyPr>
          <a:lstStyle/>
          <a:p>
            <a:pPr algn="l">
              <a:lnSpc>
                <a:spcPct val="112000"/>
              </a:lnSpc>
            </a:pPr>
            <a:r>
              <a:rPr sz="3000" b="0" i="0">
                <a:solidFill>
                  <a:srgbClr val="F3A85C"/>
                </a:solidFill>
                <a:latin typeface="Georgia"/>
              </a:rPr>
              <a:t>7</a:t>
            </a:r>
          </a:p>
        </p:txBody>
      </p:sp>
      <p:sp>
        <p:nvSpPr>
          <p:cNvPr id="14" name="TextBox 13"/>
          <p:cNvSpPr txBox="1"/>
          <p:nvPr/>
        </p:nvSpPr>
        <p:spPr>
          <a:xfrm>
            <a:off x="3493008" y="5641848"/>
            <a:ext cx="1371600" cy="274320"/>
          </a:xfrm>
          <a:prstGeom prst="rect">
            <a:avLst/>
          </a:prstGeom>
          <a:noFill/>
        </p:spPr>
        <p:txBody>
          <a:bodyPr wrap="square" lIns="0" rIns="0" tIns="0" bIns="0" anchor="t">
            <a:spAutoFit/>
          </a:bodyPr>
          <a:lstStyle/>
          <a:p>
            <a:pPr algn="l">
              <a:lnSpc>
                <a:spcPct val="112000"/>
              </a:lnSpc>
            </a:pPr>
            <a:r>
              <a:rPr sz="900" b="0" i="0" spc="200">
                <a:solidFill>
                  <a:srgbClr val="8C7A78"/>
                </a:solidFill>
                <a:latin typeface="Segoe UI Semibold"/>
              </a:rPr>
              <a:t>INTERVIEWS</a:t>
            </a:r>
          </a:p>
        </p:txBody>
      </p:sp>
      <p:pic>
        <p:nvPicPr>
          <p:cNvPr id="15" name="Picture 14" descr="frame_overview.png"/>
          <p:cNvPicPr>
            <a:picLocks noChangeAspect="1"/>
          </p:cNvPicPr>
          <p:nvPr/>
        </p:nvPicPr>
        <p:blipFill>
          <a:blip r:embed="rId3"/>
          <a:stretch>
            <a:fillRect/>
          </a:stretch>
        </p:blipFill>
        <p:spPr>
          <a:xfrm>
            <a:off x="5093207" y="1572768"/>
            <a:ext cx="6775704" cy="3506268"/>
          </a:xfrm>
          <a:prstGeom prst="rect">
            <a:avLst/>
          </a:prstGeom>
        </p:spPr>
      </p:pic>
      <p:sp>
        <p:nvSpPr>
          <p:cNvPr id="16" name="TextBox 15"/>
          <p:cNvSpPr txBox="1"/>
          <p:nvPr/>
        </p:nvSpPr>
        <p:spPr>
          <a:xfrm>
            <a:off x="5349240" y="4956048"/>
            <a:ext cx="6263640" cy="274320"/>
          </a:xfrm>
          <a:prstGeom prst="rect">
            <a:avLst/>
          </a:prstGeom>
          <a:noFill/>
        </p:spPr>
        <p:txBody>
          <a:bodyPr wrap="square" lIns="0" rIns="0" tIns="0" bIns="0" anchor="t">
            <a:spAutoFit/>
          </a:bodyPr>
          <a:lstStyle/>
          <a:p>
            <a:pPr algn="r">
              <a:lnSpc>
                <a:spcPct val="112000"/>
              </a:lnSpc>
            </a:pPr>
            <a:r>
              <a:rPr sz="1000" b="0" i="0">
                <a:solidFill>
                  <a:srgbClr val="8C7A78"/>
                </a:solidFill>
                <a:latin typeface="Segoe UI"/>
              </a:rPr>
              <a:t>Recruiter desk  ·  live analytics, with the copilot drafting a role brief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wine.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566928"/>
            <a:ext cx="292608" cy="41148"/>
          </a:xfrm>
          <a:prstGeom prst="rect">
            <a:avLst/>
          </a:prstGeom>
          <a:solidFill>
            <a:srgbClr val="F3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457200"/>
            <a:ext cx="8229600" cy="274320"/>
          </a:xfrm>
          <a:prstGeom prst="rect">
            <a:avLst/>
          </a:prstGeom>
          <a:noFill/>
        </p:spPr>
        <p:txBody>
          <a:bodyPr wrap="square" lIns="0" rIns="0" tIns="0" bIns="0" anchor="t">
            <a:spAutoFit/>
          </a:bodyPr>
          <a:lstStyle/>
          <a:p>
            <a:pPr algn="l">
              <a:lnSpc>
                <a:spcPct val="112000"/>
              </a:lnSpc>
            </a:pPr>
            <a:r>
              <a:rPr sz="1100" b="0" i="0" spc="320">
                <a:solidFill>
                  <a:srgbClr val="F3A85C"/>
                </a:solidFill>
                <a:latin typeface="Segoe UI Semibold"/>
              </a:rPr>
              <a:t>03  ·  PROBLEM STATEMENT</a:t>
            </a:r>
          </a:p>
        </p:txBody>
      </p:sp>
      <p:sp>
        <p:nvSpPr>
          <p:cNvPr id="5" name="TextBox 4"/>
          <p:cNvSpPr txBox="1"/>
          <p:nvPr/>
        </p:nvSpPr>
        <p:spPr>
          <a:xfrm>
            <a:off x="548640" y="786384"/>
            <a:ext cx="11064240" cy="914400"/>
          </a:xfrm>
          <a:prstGeom prst="rect">
            <a:avLst/>
          </a:prstGeom>
          <a:noFill/>
        </p:spPr>
        <p:txBody>
          <a:bodyPr wrap="square" lIns="0" rIns="0" tIns="0" bIns="0" anchor="t">
            <a:spAutoFit/>
          </a:bodyPr>
          <a:lstStyle/>
          <a:p>
            <a:pPr algn="l">
              <a:lnSpc>
                <a:spcPct val="112000"/>
              </a:lnSpc>
            </a:pPr>
            <a:r>
              <a:rPr sz="3800" b="0" i="0">
                <a:solidFill>
                  <a:srgbClr val="F7F0E7"/>
                </a:solidFill>
                <a:latin typeface="Georgia"/>
              </a:rPr>
              <a:t>Hiring is slow, inconsistent, and easy to fake</a:t>
            </a:r>
          </a:p>
        </p:txBody>
      </p:sp>
      <p:sp>
        <p:nvSpPr>
          <p:cNvPr id="6" name="TextBox 5"/>
          <p:cNvSpPr txBox="1"/>
          <p:nvPr/>
        </p:nvSpPr>
        <p:spPr>
          <a:xfrm>
            <a:off x="566928" y="6419088"/>
            <a:ext cx="2743200" cy="228600"/>
          </a:xfrm>
          <a:prstGeom prst="rect">
            <a:avLst/>
          </a:prstGeom>
          <a:noFill/>
        </p:spPr>
        <p:txBody>
          <a:bodyPr wrap="square" lIns="0" rIns="0" tIns="0" bIns="0" anchor="t">
            <a:spAutoFit/>
          </a:bodyPr>
          <a:lstStyle/>
          <a:p>
            <a:pPr algn="l">
              <a:lnSpc>
                <a:spcPct val="112000"/>
              </a:lnSpc>
            </a:pPr>
            <a:r>
              <a:rPr sz="900" b="0" i="0" spc="400">
                <a:solidFill>
                  <a:srgbClr val="8C7A78"/>
                </a:solidFill>
                <a:latin typeface="Segoe UI Semibold"/>
              </a:rPr>
              <a:t>SIFT</a:t>
            </a:r>
          </a:p>
        </p:txBody>
      </p:sp>
      <p:sp>
        <p:nvSpPr>
          <p:cNvPr id="7" name="TextBox 6"/>
          <p:cNvSpPr txBox="1"/>
          <p:nvPr/>
        </p:nvSpPr>
        <p:spPr>
          <a:xfrm>
            <a:off x="9784080" y="6419088"/>
            <a:ext cx="1856231" cy="228600"/>
          </a:xfrm>
          <a:prstGeom prst="rect">
            <a:avLst/>
          </a:prstGeom>
          <a:noFill/>
        </p:spPr>
        <p:txBody>
          <a:bodyPr wrap="square" lIns="0" rIns="0" tIns="0" bIns="0" anchor="t">
            <a:spAutoFit/>
          </a:bodyPr>
          <a:lstStyle/>
          <a:p>
            <a:pPr algn="r">
              <a:lnSpc>
                <a:spcPct val="112000"/>
              </a:lnSpc>
            </a:pPr>
            <a:r>
              <a:rPr sz="900" b="0" i="0" spc="200">
                <a:solidFill>
                  <a:srgbClr val="8C7A78"/>
                </a:solidFill>
                <a:latin typeface="Segoe UI Semibold"/>
              </a:rPr>
              <a:t>03 / 19</a:t>
            </a:r>
          </a:p>
        </p:txBody>
      </p:sp>
      <p:sp>
        <p:nvSpPr>
          <p:cNvPr id="8" name="Rounded Rectangle 7"/>
          <p:cNvSpPr/>
          <p:nvPr/>
        </p:nvSpPr>
        <p:spPr>
          <a:xfrm>
            <a:off x="566928" y="1874519"/>
            <a:ext cx="5349240" cy="1737360"/>
          </a:xfrm>
          <a:prstGeom prst="roundRect">
            <a:avLst>
              <a:gd name="adj" fmla="val 9473"/>
            </a:avLst>
          </a:prstGeom>
          <a:solidFill>
            <a:srgbClr val="F7F0E7">
              <a:alpha val="4000"/>
            </a:srgbClr>
          </a:solidFill>
          <a:ln w="9525">
            <a:solidFill>
              <a:srgbClr val="F7F0E7">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2148839"/>
            <a:ext cx="54864" cy="1188720"/>
          </a:xfrm>
          <a:prstGeom prst="rect">
            <a:avLst/>
          </a:prstGeom>
          <a:solidFill>
            <a:srgbClr val="DB84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86968" y="2112263"/>
            <a:ext cx="731520" cy="457200"/>
          </a:xfrm>
          <a:prstGeom prst="rect">
            <a:avLst/>
          </a:prstGeom>
          <a:noFill/>
        </p:spPr>
        <p:txBody>
          <a:bodyPr wrap="square" lIns="0" rIns="0" tIns="0" bIns="0" anchor="t">
            <a:spAutoFit/>
          </a:bodyPr>
          <a:lstStyle/>
          <a:p>
            <a:pPr algn="l">
              <a:lnSpc>
                <a:spcPct val="112000"/>
              </a:lnSpc>
            </a:pPr>
            <a:r>
              <a:rPr sz="2200" b="0" i="0">
                <a:solidFill>
                  <a:srgbClr val="DB8492"/>
                </a:solidFill>
                <a:latin typeface="Georgia"/>
              </a:rPr>
              <a:t>01</a:t>
            </a:r>
          </a:p>
        </p:txBody>
      </p:sp>
      <p:sp>
        <p:nvSpPr>
          <p:cNvPr id="11" name="TextBox 10"/>
          <p:cNvSpPr txBox="1"/>
          <p:nvPr/>
        </p:nvSpPr>
        <p:spPr>
          <a:xfrm>
            <a:off x="1527048" y="2148839"/>
            <a:ext cx="4206240" cy="411480"/>
          </a:xfrm>
          <a:prstGeom prst="rect">
            <a:avLst/>
          </a:prstGeom>
          <a:noFill/>
        </p:spPr>
        <p:txBody>
          <a:bodyPr wrap="square" lIns="0" rIns="0" tIns="0" bIns="0" anchor="t">
            <a:spAutoFit/>
          </a:bodyPr>
          <a:lstStyle/>
          <a:p>
            <a:pPr algn="l">
              <a:lnSpc>
                <a:spcPct val="112000"/>
              </a:lnSpc>
            </a:pPr>
            <a:r>
              <a:rPr sz="1700" b="0" i="0">
                <a:solidFill>
                  <a:srgbClr val="F7F0E7"/>
                </a:solidFill>
                <a:latin typeface="Segoe UI Semibold"/>
              </a:rPr>
              <a:t>Too many CVs to read</a:t>
            </a:r>
          </a:p>
        </p:txBody>
      </p:sp>
      <p:sp>
        <p:nvSpPr>
          <p:cNvPr id="12" name="TextBox 11"/>
          <p:cNvSpPr txBox="1"/>
          <p:nvPr/>
        </p:nvSpPr>
        <p:spPr>
          <a:xfrm>
            <a:off x="1527048" y="2587752"/>
            <a:ext cx="4160520" cy="914400"/>
          </a:xfrm>
          <a:prstGeom prst="rect">
            <a:avLst/>
          </a:prstGeom>
          <a:noFill/>
        </p:spPr>
        <p:txBody>
          <a:bodyPr wrap="square" lIns="0" rIns="0" tIns="0" bIns="0" anchor="t">
            <a:spAutoFit/>
          </a:bodyPr>
          <a:lstStyle/>
          <a:p>
            <a:pPr algn="l">
              <a:lnSpc>
                <a:spcPct val="125000"/>
              </a:lnSpc>
            </a:pPr>
            <a:r>
              <a:rPr sz="1250" b="0" i="0">
                <a:solidFill>
                  <a:srgbClr val="C4B2AE"/>
                </a:solidFill>
                <a:latin typeface="Segoe UI"/>
              </a:rPr>
              <a:t>Recruiters skim and filter by keyword. Strong people are missed, and nobody can explain why one CV beat another.</a:t>
            </a:r>
          </a:p>
        </p:txBody>
      </p:sp>
      <p:sp>
        <p:nvSpPr>
          <p:cNvPr id="13" name="Rounded Rectangle 12"/>
          <p:cNvSpPr/>
          <p:nvPr/>
        </p:nvSpPr>
        <p:spPr>
          <a:xfrm>
            <a:off x="6144768" y="1874519"/>
            <a:ext cx="5349240" cy="1737360"/>
          </a:xfrm>
          <a:prstGeom prst="roundRect">
            <a:avLst>
              <a:gd name="adj" fmla="val 9473"/>
            </a:avLst>
          </a:prstGeom>
          <a:solidFill>
            <a:srgbClr val="F7F0E7">
              <a:alpha val="4000"/>
            </a:srgbClr>
          </a:solidFill>
          <a:ln w="9525">
            <a:solidFill>
              <a:srgbClr val="F7F0E7">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144768" y="2148839"/>
            <a:ext cx="54864" cy="1188720"/>
          </a:xfrm>
          <a:prstGeom prst="rect">
            <a:avLst/>
          </a:prstGeom>
          <a:solidFill>
            <a:srgbClr val="F3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64807" y="2112263"/>
            <a:ext cx="731520" cy="457200"/>
          </a:xfrm>
          <a:prstGeom prst="rect">
            <a:avLst/>
          </a:prstGeom>
          <a:noFill/>
        </p:spPr>
        <p:txBody>
          <a:bodyPr wrap="square" lIns="0" rIns="0" tIns="0" bIns="0" anchor="t">
            <a:spAutoFit/>
          </a:bodyPr>
          <a:lstStyle/>
          <a:p>
            <a:pPr algn="l">
              <a:lnSpc>
                <a:spcPct val="112000"/>
              </a:lnSpc>
            </a:pPr>
            <a:r>
              <a:rPr sz="2200" b="0" i="0">
                <a:solidFill>
                  <a:srgbClr val="F3A85C"/>
                </a:solidFill>
                <a:latin typeface="Georgia"/>
              </a:rPr>
              <a:t>02</a:t>
            </a:r>
          </a:p>
        </p:txBody>
      </p:sp>
      <p:sp>
        <p:nvSpPr>
          <p:cNvPr id="16" name="TextBox 15"/>
          <p:cNvSpPr txBox="1"/>
          <p:nvPr/>
        </p:nvSpPr>
        <p:spPr>
          <a:xfrm>
            <a:off x="7104888" y="2148839"/>
            <a:ext cx="4206240" cy="411480"/>
          </a:xfrm>
          <a:prstGeom prst="rect">
            <a:avLst/>
          </a:prstGeom>
          <a:noFill/>
        </p:spPr>
        <p:txBody>
          <a:bodyPr wrap="square" lIns="0" rIns="0" tIns="0" bIns="0" anchor="t">
            <a:spAutoFit/>
          </a:bodyPr>
          <a:lstStyle/>
          <a:p>
            <a:pPr algn="l">
              <a:lnSpc>
                <a:spcPct val="112000"/>
              </a:lnSpc>
            </a:pPr>
            <a:r>
              <a:rPr sz="1700" b="0" i="0">
                <a:solidFill>
                  <a:srgbClr val="F7F0E7"/>
                </a:solidFill>
                <a:latin typeface="Segoe UI Semibold"/>
              </a:rPr>
              <a:t>Every interview is different</a:t>
            </a:r>
          </a:p>
        </p:txBody>
      </p:sp>
      <p:sp>
        <p:nvSpPr>
          <p:cNvPr id="17" name="TextBox 16"/>
          <p:cNvSpPr txBox="1"/>
          <p:nvPr/>
        </p:nvSpPr>
        <p:spPr>
          <a:xfrm>
            <a:off x="7104888" y="2587752"/>
            <a:ext cx="4160520" cy="914400"/>
          </a:xfrm>
          <a:prstGeom prst="rect">
            <a:avLst/>
          </a:prstGeom>
          <a:noFill/>
        </p:spPr>
        <p:txBody>
          <a:bodyPr wrap="square" lIns="0" rIns="0" tIns="0" bIns="0" anchor="t">
            <a:spAutoFit/>
          </a:bodyPr>
          <a:lstStyle/>
          <a:p>
            <a:pPr algn="l">
              <a:lnSpc>
                <a:spcPct val="125000"/>
              </a:lnSpc>
            </a:pPr>
            <a:r>
              <a:rPr sz="1250" b="0" i="0">
                <a:solidFill>
                  <a:srgbClr val="C4B2AE"/>
                </a:solidFill>
                <a:latin typeface="Segoe UI"/>
              </a:rPr>
              <a:t>Questions change with the interviewer and the day, so two candidates are never measured on the same scale.</a:t>
            </a:r>
          </a:p>
        </p:txBody>
      </p:sp>
      <p:sp>
        <p:nvSpPr>
          <p:cNvPr id="18" name="Rounded Rectangle 17"/>
          <p:cNvSpPr/>
          <p:nvPr/>
        </p:nvSpPr>
        <p:spPr>
          <a:xfrm>
            <a:off x="566928" y="3840479"/>
            <a:ext cx="5349240" cy="1737360"/>
          </a:xfrm>
          <a:prstGeom prst="roundRect">
            <a:avLst>
              <a:gd name="adj" fmla="val 9473"/>
            </a:avLst>
          </a:prstGeom>
          <a:solidFill>
            <a:srgbClr val="F7F0E7">
              <a:alpha val="4000"/>
            </a:srgbClr>
          </a:solidFill>
          <a:ln w="9525">
            <a:solidFill>
              <a:srgbClr val="F7F0E7">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114799"/>
            <a:ext cx="54864" cy="1188720"/>
          </a:xfrm>
          <a:prstGeom prst="rect">
            <a:avLst/>
          </a:prstGeom>
          <a:solidFill>
            <a:srgbClr val="98D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6968" y="4078223"/>
            <a:ext cx="731520" cy="457200"/>
          </a:xfrm>
          <a:prstGeom prst="rect">
            <a:avLst/>
          </a:prstGeom>
          <a:noFill/>
        </p:spPr>
        <p:txBody>
          <a:bodyPr wrap="square" lIns="0" rIns="0" tIns="0" bIns="0" anchor="t">
            <a:spAutoFit/>
          </a:bodyPr>
          <a:lstStyle/>
          <a:p>
            <a:pPr algn="l">
              <a:lnSpc>
                <a:spcPct val="112000"/>
              </a:lnSpc>
            </a:pPr>
            <a:r>
              <a:rPr sz="2200" b="0" i="0">
                <a:solidFill>
                  <a:srgbClr val="98D0AC"/>
                </a:solidFill>
                <a:latin typeface="Georgia"/>
              </a:rPr>
              <a:t>03</a:t>
            </a:r>
          </a:p>
        </p:txBody>
      </p:sp>
      <p:sp>
        <p:nvSpPr>
          <p:cNvPr id="21" name="TextBox 20"/>
          <p:cNvSpPr txBox="1"/>
          <p:nvPr/>
        </p:nvSpPr>
        <p:spPr>
          <a:xfrm>
            <a:off x="1527048" y="4114799"/>
            <a:ext cx="4206240" cy="411480"/>
          </a:xfrm>
          <a:prstGeom prst="rect">
            <a:avLst/>
          </a:prstGeom>
          <a:noFill/>
        </p:spPr>
        <p:txBody>
          <a:bodyPr wrap="square" lIns="0" rIns="0" tIns="0" bIns="0" anchor="t">
            <a:spAutoFit/>
          </a:bodyPr>
          <a:lstStyle/>
          <a:p>
            <a:pPr algn="l">
              <a:lnSpc>
                <a:spcPct val="112000"/>
              </a:lnSpc>
            </a:pPr>
            <a:r>
              <a:rPr sz="1700" b="0" i="0">
                <a:solidFill>
                  <a:srgbClr val="F7F0E7"/>
                </a:solidFill>
                <a:latin typeface="Segoe UI Semibold"/>
              </a:rPr>
              <a:t>Claims go unchecked</a:t>
            </a:r>
          </a:p>
        </p:txBody>
      </p:sp>
      <p:sp>
        <p:nvSpPr>
          <p:cNvPr id="22" name="TextBox 21"/>
          <p:cNvSpPr txBox="1"/>
          <p:nvPr/>
        </p:nvSpPr>
        <p:spPr>
          <a:xfrm>
            <a:off x="1527048" y="4553712"/>
            <a:ext cx="4160520" cy="914400"/>
          </a:xfrm>
          <a:prstGeom prst="rect">
            <a:avLst/>
          </a:prstGeom>
          <a:noFill/>
        </p:spPr>
        <p:txBody>
          <a:bodyPr wrap="square" lIns="0" rIns="0" tIns="0" bIns="0" anchor="t">
            <a:spAutoFit/>
          </a:bodyPr>
          <a:lstStyle/>
          <a:p>
            <a:pPr algn="l">
              <a:lnSpc>
                <a:spcPct val="125000"/>
              </a:lnSpc>
            </a:pPr>
            <a:r>
              <a:rPr sz="1250" b="0" i="0">
                <a:solidFill>
                  <a:srgbClr val="C4B2AE"/>
                </a:solidFill>
                <a:latin typeface="Segoe UI"/>
              </a:rPr>
              <a:t>What the CV says and what the candidate says on the call are never compared side by side.</a:t>
            </a:r>
          </a:p>
        </p:txBody>
      </p:sp>
      <p:sp>
        <p:nvSpPr>
          <p:cNvPr id="23" name="Rounded Rectangle 22"/>
          <p:cNvSpPr/>
          <p:nvPr/>
        </p:nvSpPr>
        <p:spPr>
          <a:xfrm>
            <a:off x="6144768" y="3840479"/>
            <a:ext cx="5349240" cy="1737360"/>
          </a:xfrm>
          <a:prstGeom prst="roundRect">
            <a:avLst>
              <a:gd name="adj" fmla="val 9473"/>
            </a:avLst>
          </a:prstGeom>
          <a:solidFill>
            <a:srgbClr val="F7F0E7">
              <a:alpha val="4000"/>
            </a:srgbClr>
          </a:solidFill>
          <a:ln w="9525">
            <a:solidFill>
              <a:srgbClr val="F7F0E7">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144768" y="4114799"/>
            <a:ext cx="54864" cy="1188720"/>
          </a:xfrm>
          <a:prstGeom prst="rect">
            <a:avLst/>
          </a:prstGeom>
          <a:solidFill>
            <a:srgbClr val="967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64807" y="4078223"/>
            <a:ext cx="731520" cy="457200"/>
          </a:xfrm>
          <a:prstGeom prst="rect">
            <a:avLst/>
          </a:prstGeom>
          <a:noFill/>
        </p:spPr>
        <p:txBody>
          <a:bodyPr wrap="square" lIns="0" rIns="0" tIns="0" bIns="0" anchor="t">
            <a:spAutoFit/>
          </a:bodyPr>
          <a:lstStyle/>
          <a:p>
            <a:pPr algn="l">
              <a:lnSpc>
                <a:spcPct val="112000"/>
              </a:lnSpc>
            </a:pPr>
            <a:r>
              <a:rPr sz="2200" b="0" i="0">
                <a:solidFill>
                  <a:srgbClr val="9678EB"/>
                </a:solidFill>
                <a:latin typeface="Georgia"/>
              </a:rPr>
              <a:t>04</a:t>
            </a:r>
          </a:p>
        </p:txBody>
      </p:sp>
      <p:sp>
        <p:nvSpPr>
          <p:cNvPr id="26" name="TextBox 25"/>
          <p:cNvSpPr txBox="1"/>
          <p:nvPr/>
        </p:nvSpPr>
        <p:spPr>
          <a:xfrm>
            <a:off x="7104888" y="4114799"/>
            <a:ext cx="4206240" cy="411480"/>
          </a:xfrm>
          <a:prstGeom prst="rect">
            <a:avLst/>
          </a:prstGeom>
          <a:noFill/>
        </p:spPr>
        <p:txBody>
          <a:bodyPr wrap="square" lIns="0" rIns="0" tIns="0" bIns="0" anchor="t">
            <a:spAutoFit/>
          </a:bodyPr>
          <a:lstStyle/>
          <a:p>
            <a:pPr algn="l">
              <a:lnSpc>
                <a:spcPct val="112000"/>
              </a:lnSpc>
            </a:pPr>
            <a:r>
              <a:rPr sz="1700" b="0" i="0">
                <a:solidFill>
                  <a:srgbClr val="F7F0E7"/>
                </a:solidFill>
                <a:latin typeface="Segoe UI Semibold"/>
              </a:rPr>
              <a:t>Remote calls invite impersonation</a:t>
            </a:r>
          </a:p>
        </p:txBody>
      </p:sp>
      <p:sp>
        <p:nvSpPr>
          <p:cNvPr id="27" name="TextBox 26"/>
          <p:cNvSpPr txBox="1"/>
          <p:nvPr/>
        </p:nvSpPr>
        <p:spPr>
          <a:xfrm>
            <a:off x="7104888" y="4553712"/>
            <a:ext cx="4160520" cy="914400"/>
          </a:xfrm>
          <a:prstGeom prst="rect">
            <a:avLst/>
          </a:prstGeom>
          <a:noFill/>
        </p:spPr>
        <p:txBody>
          <a:bodyPr wrap="square" lIns="0" rIns="0" tIns="0" bIns="0" anchor="t">
            <a:spAutoFit/>
          </a:bodyPr>
          <a:lstStyle/>
          <a:p>
            <a:pPr algn="l">
              <a:lnSpc>
                <a:spcPct val="125000"/>
              </a:lnSpc>
            </a:pPr>
            <a:r>
              <a:rPr sz="1250" b="0" i="0">
                <a:solidFill>
                  <a:srgbClr val="C4B2AE"/>
                </a:solidFill>
                <a:latin typeface="Segoe UI"/>
              </a:rPr>
              <a:t>In a video interview, nothing checks that the person on camera is the person who applied.</a:t>
            </a:r>
          </a:p>
        </p:txBody>
      </p:sp>
      <p:sp>
        <p:nvSpPr>
          <p:cNvPr id="28" name="TextBox 27"/>
          <p:cNvSpPr txBox="1"/>
          <p:nvPr/>
        </p:nvSpPr>
        <p:spPr>
          <a:xfrm>
            <a:off x="566928" y="5870448"/>
            <a:ext cx="10972800" cy="411480"/>
          </a:xfrm>
          <a:prstGeom prst="rect">
            <a:avLst/>
          </a:prstGeom>
          <a:noFill/>
        </p:spPr>
        <p:txBody>
          <a:bodyPr wrap="square" lIns="0" rIns="0" tIns="0" bIns="0" anchor="t">
            <a:spAutoFit/>
          </a:bodyPr>
          <a:lstStyle/>
          <a:p>
            <a:pPr algn="l">
              <a:lnSpc>
                <a:spcPct val="115000"/>
              </a:lnSpc>
              <a:spcAft>
                <a:spcPts val="0"/>
              </a:spcAft>
            </a:pPr>
            <a:r>
              <a:rPr sz="1250" b="0" i="0">
                <a:solidFill>
                  <a:srgbClr val="F3A85C"/>
                </a:solidFill>
                <a:latin typeface="Segoe UI Semibold"/>
              </a:rPr>
              <a:t>Why it matters  </a:t>
            </a:r>
            <a:r>
              <a:rPr sz="1250" b="0" i="0">
                <a:solidFill>
                  <a:srgbClr val="C4B2AE"/>
                </a:solidFill>
                <a:latin typeface="Segoe UI"/>
              </a:rPr>
              <a:t>A bad hire is expensive, and a decision that cannot be explained cannot be defended.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mber.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566928"/>
            <a:ext cx="292608" cy="41148"/>
          </a:xfrm>
          <a:prstGeom prst="rect">
            <a:avLst/>
          </a:prstGeom>
          <a:solidFill>
            <a:srgbClr val="F3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457200"/>
            <a:ext cx="8229600" cy="274320"/>
          </a:xfrm>
          <a:prstGeom prst="rect">
            <a:avLst/>
          </a:prstGeom>
          <a:noFill/>
        </p:spPr>
        <p:txBody>
          <a:bodyPr wrap="square" lIns="0" rIns="0" tIns="0" bIns="0" anchor="t">
            <a:spAutoFit/>
          </a:bodyPr>
          <a:lstStyle/>
          <a:p>
            <a:pPr algn="l">
              <a:lnSpc>
                <a:spcPct val="112000"/>
              </a:lnSpc>
            </a:pPr>
            <a:r>
              <a:rPr sz="1100" b="0" i="0" spc="320">
                <a:solidFill>
                  <a:srgbClr val="F3A85C"/>
                </a:solidFill>
                <a:latin typeface="Segoe UI Semibold"/>
              </a:rPr>
              <a:t>04  ·  PROJECT OBJECTIVES</a:t>
            </a:r>
          </a:p>
        </p:txBody>
      </p:sp>
      <p:sp>
        <p:nvSpPr>
          <p:cNvPr id="5" name="TextBox 4"/>
          <p:cNvSpPr txBox="1"/>
          <p:nvPr/>
        </p:nvSpPr>
        <p:spPr>
          <a:xfrm>
            <a:off x="548640" y="786384"/>
            <a:ext cx="11064240" cy="914400"/>
          </a:xfrm>
          <a:prstGeom prst="rect">
            <a:avLst/>
          </a:prstGeom>
          <a:noFill/>
        </p:spPr>
        <p:txBody>
          <a:bodyPr wrap="square" lIns="0" rIns="0" tIns="0" bIns="0" anchor="t">
            <a:spAutoFit/>
          </a:bodyPr>
          <a:lstStyle/>
          <a:p>
            <a:pPr algn="l">
              <a:lnSpc>
                <a:spcPct val="112000"/>
              </a:lnSpc>
            </a:pPr>
            <a:r>
              <a:rPr sz="3800" b="0" i="0">
                <a:solidFill>
                  <a:srgbClr val="F7F0E7"/>
                </a:solidFill>
                <a:latin typeface="Georgia"/>
              </a:rPr>
              <a:t>What Sift sets out to do</a:t>
            </a:r>
          </a:p>
        </p:txBody>
      </p:sp>
      <p:sp>
        <p:nvSpPr>
          <p:cNvPr id="6" name="TextBox 5"/>
          <p:cNvSpPr txBox="1"/>
          <p:nvPr/>
        </p:nvSpPr>
        <p:spPr>
          <a:xfrm>
            <a:off x="566928" y="6419088"/>
            <a:ext cx="2743200" cy="228600"/>
          </a:xfrm>
          <a:prstGeom prst="rect">
            <a:avLst/>
          </a:prstGeom>
          <a:noFill/>
        </p:spPr>
        <p:txBody>
          <a:bodyPr wrap="square" lIns="0" rIns="0" tIns="0" bIns="0" anchor="t">
            <a:spAutoFit/>
          </a:bodyPr>
          <a:lstStyle/>
          <a:p>
            <a:pPr algn="l">
              <a:lnSpc>
                <a:spcPct val="112000"/>
              </a:lnSpc>
            </a:pPr>
            <a:r>
              <a:rPr sz="900" b="0" i="0" spc="400">
                <a:solidFill>
                  <a:srgbClr val="8C7A78"/>
                </a:solidFill>
                <a:latin typeface="Segoe UI Semibold"/>
              </a:rPr>
              <a:t>SIFT</a:t>
            </a:r>
          </a:p>
        </p:txBody>
      </p:sp>
      <p:sp>
        <p:nvSpPr>
          <p:cNvPr id="7" name="TextBox 6"/>
          <p:cNvSpPr txBox="1"/>
          <p:nvPr/>
        </p:nvSpPr>
        <p:spPr>
          <a:xfrm>
            <a:off x="9784080" y="6419088"/>
            <a:ext cx="1856231" cy="228600"/>
          </a:xfrm>
          <a:prstGeom prst="rect">
            <a:avLst/>
          </a:prstGeom>
          <a:noFill/>
        </p:spPr>
        <p:txBody>
          <a:bodyPr wrap="square" lIns="0" rIns="0" tIns="0" bIns="0" anchor="t">
            <a:spAutoFit/>
          </a:bodyPr>
          <a:lstStyle/>
          <a:p>
            <a:pPr algn="r">
              <a:lnSpc>
                <a:spcPct val="112000"/>
              </a:lnSpc>
            </a:pPr>
            <a:r>
              <a:rPr sz="900" b="0" i="0" spc="200">
                <a:solidFill>
                  <a:srgbClr val="8C7A78"/>
                </a:solidFill>
                <a:latin typeface="Segoe UI Semibold"/>
              </a:rPr>
              <a:t>04 / 19</a:t>
            </a:r>
          </a:p>
        </p:txBody>
      </p:sp>
      <p:sp>
        <p:nvSpPr>
          <p:cNvPr id="8" name="Rounded Rectangle 7"/>
          <p:cNvSpPr/>
          <p:nvPr/>
        </p:nvSpPr>
        <p:spPr>
          <a:xfrm>
            <a:off x="566928" y="1810512"/>
            <a:ext cx="11064240" cy="731520"/>
          </a:xfrm>
          <a:prstGeom prst="roundRect">
            <a:avLst>
              <a:gd name="adj" fmla="val 17500"/>
            </a:avLst>
          </a:prstGeom>
          <a:solidFill>
            <a:srgbClr val="F7F0E7">
              <a:alpha val="3500"/>
            </a:srgbClr>
          </a:solidFill>
          <a:ln w="9525">
            <a:solidFill>
              <a:srgbClr val="F7F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6384" y="1975104"/>
            <a:ext cx="402336" cy="402336"/>
          </a:xfrm>
          <a:prstGeom prst="ellipse">
            <a:avLst/>
          </a:prstGeom>
          <a:solidFill>
            <a:srgbClr val="F3A85C">
              <a:alpha val="16000"/>
            </a:srgbClr>
          </a:solidFill>
          <a:ln w="9525">
            <a:solidFill>
              <a:srgbClr val="F3A85C">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 y="1975104"/>
            <a:ext cx="402336" cy="402336"/>
          </a:xfrm>
          <a:prstGeom prst="rect">
            <a:avLst/>
          </a:prstGeom>
          <a:noFill/>
        </p:spPr>
        <p:txBody>
          <a:bodyPr wrap="square" lIns="0" rIns="0" tIns="0" bIns="0" anchor="ctr">
            <a:spAutoFit/>
          </a:bodyPr>
          <a:lstStyle/>
          <a:p>
            <a:pPr algn="ctr">
              <a:lnSpc>
                <a:spcPct val="112000"/>
              </a:lnSpc>
            </a:pPr>
            <a:r>
              <a:rPr sz="1300" b="0" i="0">
                <a:solidFill>
                  <a:srgbClr val="F3A85C"/>
                </a:solidFill>
                <a:latin typeface="Segoe UI Semibold"/>
              </a:rPr>
              <a:t>1</a:t>
            </a:r>
          </a:p>
        </p:txBody>
      </p:sp>
      <p:sp>
        <p:nvSpPr>
          <p:cNvPr id="11" name="TextBox 10"/>
          <p:cNvSpPr txBox="1"/>
          <p:nvPr/>
        </p:nvSpPr>
        <p:spPr>
          <a:xfrm>
            <a:off x="1417320" y="1810512"/>
            <a:ext cx="3566160" cy="731520"/>
          </a:xfrm>
          <a:prstGeom prst="rect">
            <a:avLst/>
          </a:prstGeom>
          <a:noFill/>
        </p:spPr>
        <p:txBody>
          <a:bodyPr wrap="square" lIns="0" rIns="0" tIns="0" bIns="0" anchor="ctr">
            <a:spAutoFit/>
          </a:bodyPr>
          <a:lstStyle/>
          <a:p>
            <a:pPr algn="l">
              <a:lnSpc>
                <a:spcPct val="112000"/>
              </a:lnSpc>
            </a:pPr>
            <a:r>
              <a:rPr sz="1550" b="0" i="0">
                <a:solidFill>
                  <a:srgbClr val="F7F0E7"/>
                </a:solidFill>
                <a:latin typeface="Segoe UI Semibold"/>
              </a:rPr>
              <a:t>Ground every role in policy</a:t>
            </a:r>
          </a:p>
        </p:txBody>
      </p:sp>
      <p:sp>
        <p:nvSpPr>
          <p:cNvPr id="12" name="TextBox 11"/>
          <p:cNvSpPr txBox="1"/>
          <p:nvPr/>
        </p:nvSpPr>
        <p:spPr>
          <a:xfrm>
            <a:off x="4983480" y="1810512"/>
            <a:ext cx="6446520" cy="731520"/>
          </a:xfrm>
          <a:prstGeom prst="rect">
            <a:avLst/>
          </a:prstGeom>
          <a:noFill/>
        </p:spPr>
        <p:txBody>
          <a:bodyPr wrap="square" lIns="0" rIns="0" tIns="0" bIns="0" anchor="ctr">
            <a:spAutoFit/>
          </a:bodyPr>
          <a:lstStyle/>
          <a:p>
            <a:pPr algn="l">
              <a:lnSpc>
                <a:spcPct val="120000"/>
              </a:lnSpc>
            </a:pPr>
            <a:r>
              <a:rPr sz="1250" b="0" i="0">
                <a:solidFill>
                  <a:srgbClr val="C4B2AE"/>
                </a:solidFill>
                <a:latin typeface="Segoe UI"/>
              </a:rPr>
              <a:t>A brief and a 10-question checklist drawn from indexed company policy, locked before applications open.</a:t>
            </a:r>
          </a:p>
        </p:txBody>
      </p:sp>
      <p:sp>
        <p:nvSpPr>
          <p:cNvPr id="13" name="Rounded Rectangle 12"/>
          <p:cNvSpPr/>
          <p:nvPr/>
        </p:nvSpPr>
        <p:spPr>
          <a:xfrm>
            <a:off x="566928" y="2660904"/>
            <a:ext cx="11064240" cy="731520"/>
          </a:xfrm>
          <a:prstGeom prst="roundRect">
            <a:avLst>
              <a:gd name="adj" fmla="val 17500"/>
            </a:avLst>
          </a:prstGeom>
          <a:solidFill>
            <a:srgbClr val="F7F0E7">
              <a:alpha val="3500"/>
            </a:srgbClr>
          </a:solidFill>
          <a:ln w="9525">
            <a:solidFill>
              <a:srgbClr val="F7F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786384" y="2825496"/>
            <a:ext cx="402336" cy="402336"/>
          </a:xfrm>
          <a:prstGeom prst="ellipse">
            <a:avLst/>
          </a:prstGeom>
          <a:solidFill>
            <a:srgbClr val="F3A85C">
              <a:alpha val="16000"/>
            </a:srgbClr>
          </a:solidFill>
          <a:ln w="9525">
            <a:solidFill>
              <a:srgbClr val="F3A85C">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86384" y="2825496"/>
            <a:ext cx="402336" cy="402336"/>
          </a:xfrm>
          <a:prstGeom prst="rect">
            <a:avLst/>
          </a:prstGeom>
          <a:noFill/>
        </p:spPr>
        <p:txBody>
          <a:bodyPr wrap="square" lIns="0" rIns="0" tIns="0" bIns="0" anchor="ctr">
            <a:spAutoFit/>
          </a:bodyPr>
          <a:lstStyle/>
          <a:p>
            <a:pPr algn="ctr">
              <a:lnSpc>
                <a:spcPct val="112000"/>
              </a:lnSpc>
            </a:pPr>
            <a:r>
              <a:rPr sz="1300" b="0" i="0">
                <a:solidFill>
                  <a:srgbClr val="F3A85C"/>
                </a:solidFill>
                <a:latin typeface="Segoe UI Semibold"/>
              </a:rPr>
              <a:t>2</a:t>
            </a:r>
          </a:p>
        </p:txBody>
      </p:sp>
      <p:sp>
        <p:nvSpPr>
          <p:cNvPr id="16" name="TextBox 15"/>
          <p:cNvSpPr txBox="1"/>
          <p:nvPr/>
        </p:nvSpPr>
        <p:spPr>
          <a:xfrm>
            <a:off x="1417320" y="2660904"/>
            <a:ext cx="3566160" cy="731520"/>
          </a:xfrm>
          <a:prstGeom prst="rect">
            <a:avLst/>
          </a:prstGeom>
          <a:noFill/>
        </p:spPr>
        <p:txBody>
          <a:bodyPr wrap="square" lIns="0" rIns="0" tIns="0" bIns="0" anchor="ctr">
            <a:spAutoFit/>
          </a:bodyPr>
          <a:lstStyle/>
          <a:p>
            <a:pPr algn="l">
              <a:lnSpc>
                <a:spcPct val="112000"/>
              </a:lnSpc>
            </a:pPr>
            <a:r>
              <a:rPr sz="1550" b="0" i="0">
                <a:solidFill>
                  <a:srgbClr val="F7F0E7"/>
                </a:solidFill>
                <a:latin typeface="Segoe UI Semibold"/>
              </a:rPr>
              <a:t>Screen fairly at scale</a:t>
            </a:r>
          </a:p>
        </p:txBody>
      </p:sp>
      <p:sp>
        <p:nvSpPr>
          <p:cNvPr id="17" name="TextBox 16"/>
          <p:cNvSpPr txBox="1"/>
          <p:nvPr/>
        </p:nvSpPr>
        <p:spPr>
          <a:xfrm>
            <a:off x="4983480" y="2660904"/>
            <a:ext cx="6446520" cy="731520"/>
          </a:xfrm>
          <a:prstGeom prst="rect">
            <a:avLst/>
          </a:prstGeom>
          <a:noFill/>
        </p:spPr>
        <p:txBody>
          <a:bodyPr wrap="square" lIns="0" rIns="0" tIns="0" bIns="0" anchor="ctr">
            <a:spAutoFit/>
          </a:bodyPr>
          <a:lstStyle/>
          <a:p>
            <a:pPr algn="l">
              <a:lnSpc>
                <a:spcPct val="120000"/>
              </a:lnSpc>
            </a:pPr>
            <a:r>
              <a:rPr sz="1250" b="0" i="0">
                <a:solidFill>
                  <a:srgbClr val="C4B2AE"/>
                </a:solidFill>
                <a:latin typeface="Segoe UI"/>
              </a:rPr>
              <a:t>Every CV scored against the same checklist, with the supporting line quoted from the CV.</a:t>
            </a:r>
          </a:p>
        </p:txBody>
      </p:sp>
      <p:sp>
        <p:nvSpPr>
          <p:cNvPr id="18" name="Rounded Rectangle 17"/>
          <p:cNvSpPr/>
          <p:nvPr/>
        </p:nvSpPr>
        <p:spPr>
          <a:xfrm>
            <a:off x="566928" y="3511296"/>
            <a:ext cx="11064240" cy="731520"/>
          </a:xfrm>
          <a:prstGeom prst="roundRect">
            <a:avLst>
              <a:gd name="adj" fmla="val 17500"/>
            </a:avLst>
          </a:prstGeom>
          <a:solidFill>
            <a:srgbClr val="F7F0E7">
              <a:alpha val="3500"/>
            </a:srgbClr>
          </a:solidFill>
          <a:ln w="9525">
            <a:solidFill>
              <a:srgbClr val="F7F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86384" y="3675887"/>
            <a:ext cx="402336" cy="402336"/>
          </a:xfrm>
          <a:prstGeom prst="ellipse">
            <a:avLst/>
          </a:prstGeom>
          <a:solidFill>
            <a:srgbClr val="F3A85C">
              <a:alpha val="16000"/>
            </a:srgbClr>
          </a:solidFill>
          <a:ln w="9525">
            <a:solidFill>
              <a:srgbClr val="F3A85C">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86384" y="3675887"/>
            <a:ext cx="402336" cy="402336"/>
          </a:xfrm>
          <a:prstGeom prst="rect">
            <a:avLst/>
          </a:prstGeom>
          <a:noFill/>
        </p:spPr>
        <p:txBody>
          <a:bodyPr wrap="square" lIns="0" rIns="0" tIns="0" bIns="0" anchor="ctr">
            <a:spAutoFit/>
          </a:bodyPr>
          <a:lstStyle/>
          <a:p>
            <a:pPr algn="ctr">
              <a:lnSpc>
                <a:spcPct val="112000"/>
              </a:lnSpc>
            </a:pPr>
            <a:r>
              <a:rPr sz="1300" b="0" i="0">
                <a:solidFill>
                  <a:srgbClr val="F3A85C"/>
                </a:solidFill>
                <a:latin typeface="Segoe UI Semibold"/>
              </a:rPr>
              <a:t>3</a:t>
            </a:r>
          </a:p>
        </p:txBody>
      </p:sp>
      <p:sp>
        <p:nvSpPr>
          <p:cNvPr id="21" name="TextBox 20"/>
          <p:cNvSpPr txBox="1"/>
          <p:nvPr/>
        </p:nvSpPr>
        <p:spPr>
          <a:xfrm>
            <a:off x="1417320" y="3511296"/>
            <a:ext cx="3566160" cy="731520"/>
          </a:xfrm>
          <a:prstGeom prst="rect">
            <a:avLst/>
          </a:prstGeom>
          <a:noFill/>
        </p:spPr>
        <p:txBody>
          <a:bodyPr wrap="square" lIns="0" rIns="0" tIns="0" bIns="0" anchor="ctr">
            <a:spAutoFit/>
          </a:bodyPr>
          <a:lstStyle/>
          <a:p>
            <a:pPr algn="l">
              <a:lnSpc>
                <a:spcPct val="112000"/>
              </a:lnSpc>
            </a:pPr>
            <a:r>
              <a:rPr sz="1550" b="0" i="0">
                <a:solidFill>
                  <a:srgbClr val="F7F0E7"/>
                </a:solidFill>
                <a:latin typeface="Segoe UI Semibold"/>
              </a:rPr>
              <a:t>Interview without a bottleneck</a:t>
            </a:r>
          </a:p>
        </p:txBody>
      </p:sp>
      <p:sp>
        <p:nvSpPr>
          <p:cNvPr id="22" name="TextBox 21"/>
          <p:cNvSpPr txBox="1"/>
          <p:nvPr/>
        </p:nvSpPr>
        <p:spPr>
          <a:xfrm>
            <a:off x="4983480" y="3511296"/>
            <a:ext cx="6446520" cy="731520"/>
          </a:xfrm>
          <a:prstGeom prst="rect">
            <a:avLst/>
          </a:prstGeom>
          <a:noFill/>
        </p:spPr>
        <p:txBody>
          <a:bodyPr wrap="square" lIns="0" rIns="0" tIns="0" bIns="0" anchor="ctr">
            <a:spAutoFit/>
          </a:bodyPr>
          <a:lstStyle/>
          <a:p>
            <a:pPr algn="l">
              <a:lnSpc>
                <a:spcPct val="120000"/>
              </a:lnSpc>
            </a:pPr>
            <a:r>
              <a:rPr sz="1250" b="0" i="0">
                <a:solidFill>
                  <a:srgbClr val="C4B2AE"/>
                </a:solidFill>
                <a:latin typeface="Segoe UI"/>
              </a:rPr>
              <a:t>An AI interviewer that runs the call on its own, or a live transcript and copilot for a recruiter.</a:t>
            </a:r>
          </a:p>
        </p:txBody>
      </p:sp>
      <p:sp>
        <p:nvSpPr>
          <p:cNvPr id="23" name="Rounded Rectangle 22"/>
          <p:cNvSpPr/>
          <p:nvPr/>
        </p:nvSpPr>
        <p:spPr>
          <a:xfrm>
            <a:off x="566928" y="4361688"/>
            <a:ext cx="11064240" cy="731520"/>
          </a:xfrm>
          <a:prstGeom prst="roundRect">
            <a:avLst>
              <a:gd name="adj" fmla="val 17500"/>
            </a:avLst>
          </a:prstGeom>
          <a:solidFill>
            <a:srgbClr val="F7F0E7">
              <a:alpha val="3500"/>
            </a:srgbClr>
          </a:solidFill>
          <a:ln w="9525">
            <a:solidFill>
              <a:srgbClr val="F7F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86384" y="4526279"/>
            <a:ext cx="402336" cy="402336"/>
          </a:xfrm>
          <a:prstGeom prst="ellipse">
            <a:avLst/>
          </a:prstGeom>
          <a:solidFill>
            <a:srgbClr val="F3A85C">
              <a:alpha val="16000"/>
            </a:srgbClr>
          </a:solidFill>
          <a:ln w="9525">
            <a:solidFill>
              <a:srgbClr val="F3A85C">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86384" y="4526279"/>
            <a:ext cx="402336" cy="402336"/>
          </a:xfrm>
          <a:prstGeom prst="rect">
            <a:avLst/>
          </a:prstGeom>
          <a:noFill/>
        </p:spPr>
        <p:txBody>
          <a:bodyPr wrap="square" lIns="0" rIns="0" tIns="0" bIns="0" anchor="ctr">
            <a:spAutoFit/>
          </a:bodyPr>
          <a:lstStyle/>
          <a:p>
            <a:pPr algn="ctr">
              <a:lnSpc>
                <a:spcPct val="112000"/>
              </a:lnSpc>
            </a:pPr>
            <a:r>
              <a:rPr sz="1300" b="0" i="0">
                <a:solidFill>
                  <a:srgbClr val="F3A85C"/>
                </a:solidFill>
                <a:latin typeface="Segoe UI Semibold"/>
              </a:rPr>
              <a:t>4</a:t>
            </a:r>
          </a:p>
        </p:txBody>
      </p:sp>
      <p:sp>
        <p:nvSpPr>
          <p:cNvPr id="26" name="TextBox 25"/>
          <p:cNvSpPr txBox="1"/>
          <p:nvPr/>
        </p:nvSpPr>
        <p:spPr>
          <a:xfrm>
            <a:off x="1417320" y="4361688"/>
            <a:ext cx="3566160" cy="731520"/>
          </a:xfrm>
          <a:prstGeom prst="rect">
            <a:avLst/>
          </a:prstGeom>
          <a:noFill/>
        </p:spPr>
        <p:txBody>
          <a:bodyPr wrap="square" lIns="0" rIns="0" tIns="0" bIns="0" anchor="ctr">
            <a:spAutoFit/>
          </a:bodyPr>
          <a:lstStyle/>
          <a:p>
            <a:pPr algn="l">
              <a:lnSpc>
                <a:spcPct val="112000"/>
              </a:lnSpc>
            </a:pPr>
            <a:r>
              <a:rPr sz="1550" b="0" i="0">
                <a:solidFill>
                  <a:srgbClr val="F7F0E7"/>
                </a:solidFill>
                <a:latin typeface="Segoe UI Semibold"/>
              </a:rPr>
              <a:t>Verify the person and the claims</a:t>
            </a:r>
          </a:p>
        </p:txBody>
      </p:sp>
      <p:sp>
        <p:nvSpPr>
          <p:cNvPr id="27" name="TextBox 26"/>
          <p:cNvSpPr txBox="1"/>
          <p:nvPr/>
        </p:nvSpPr>
        <p:spPr>
          <a:xfrm>
            <a:off x="4983480" y="4361688"/>
            <a:ext cx="6446520" cy="731520"/>
          </a:xfrm>
          <a:prstGeom prst="rect">
            <a:avLst/>
          </a:prstGeom>
          <a:noFill/>
        </p:spPr>
        <p:txBody>
          <a:bodyPr wrap="square" lIns="0" rIns="0" tIns="0" bIns="0" anchor="ctr">
            <a:spAutoFit/>
          </a:bodyPr>
          <a:lstStyle/>
          <a:p>
            <a:pPr algn="l">
              <a:lnSpc>
                <a:spcPct val="120000"/>
              </a:lnSpc>
            </a:pPr>
            <a:r>
              <a:rPr sz="1250" b="0" i="0">
                <a:solidFill>
                  <a:srgbClr val="C4B2AE"/>
                </a:solidFill>
                <a:latin typeface="Segoe UI"/>
              </a:rPr>
              <a:t>A consented face match against the CV photo, and spoken answers checked against CV claims.</a:t>
            </a:r>
          </a:p>
        </p:txBody>
      </p:sp>
      <p:sp>
        <p:nvSpPr>
          <p:cNvPr id="28" name="Rounded Rectangle 27"/>
          <p:cNvSpPr/>
          <p:nvPr/>
        </p:nvSpPr>
        <p:spPr>
          <a:xfrm>
            <a:off x="566928" y="5212080"/>
            <a:ext cx="11064240" cy="731520"/>
          </a:xfrm>
          <a:prstGeom prst="roundRect">
            <a:avLst>
              <a:gd name="adj" fmla="val 17500"/>
            </a:avLst>
          </a:prstGeom>
          <a:solidFill>
            <a:srgbClr val="F7F0E7">
              <a:alpha val="3500"/>
            </a:srgbClr>
          </a:solidFill>
          <a:ln w="9525">
            <a:solidFill>
              <a:srgbClr val="F7F0E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86384" y="5376672"/>
            <a:ext cx="402336" cy="402336"/>
          </a:xfrm>
          <a:prstGeom prst="ellipse">
            <a:avLst/>
          </a:prstGeom>
          <a:solidFill>
            <a:srgbClr val="F3A85C">
              <a:alpha val="16000"/>
            </a:srgbClr>
          </a:solidFill>
          <a:ln w="9525">
            <a:solidFill>
              <a:srgbClr val="F3A85C">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86384" y="5376672"/>
            <a:ext cx="402336" cy="402336"/>
          </a:xfrm>
          <a:prstGeom prst="rect">
            <a:avLst/>
          </a:prstGeom>
          <a:noFill/>
        </p:spPr>
        <p:txBody>
          <a:bodyPr wrap="square" lIns="0" rIns="0" tIns="0" bIns="0" anchor="ctr">
            <a:spAutoFit/>
          </a:bodyPr>
          <a:lstStyle/>
          <a:p>
            <a:pPr algn="ctr">
              <a:lnSpc>
                <a:spcPct val="112000"/>
              </a:lnSpc>
            </a:pPr>
            <a:r>
              <a:rPr sz="1300" b="0" i="0">
                <a:solidFill>
                  <a:srgbClr val="F3A85C"/>
                </a:solidFill>
                <a:latin typeface="Segoe UI Semibold"/>
              </a:rPr>
              <a:t>5</a:t>
            </a:r>
          </a:p>
        </p:txBody>
      </p:sp>
      <p:sp>
        <p:nvSpPr>
          <p:cNvPr id="31" name="TextBox 30"/>
          <p:cNvSpPr txBox="1"/>
          <p:nvPr/>
        </p:nvSpPr>
        <p:spPr>
          <a:xfrm>
            <a:off x="1417320" y="5212080"/>
            <a:ext cx="3566160" cy="731520"/>
          </a:xfrm>
          <a:prstGeom prst="rect">
            <a:avLst/>
          </a:prstGeom>
          <a:noFill/>
        </p:spPr>
        <p:txBody>
          <a:bodyPr wrap="square" lIns="0" rIns="0" tIns="0" bIns="0" anchor="ctr">
            <a:spAutoFit/>
          </a:bodyPr>
          <a:lstStyle/>
          <a:p>
            <a:pPr algn="l">
              <a:lnSpc>
                <a:spcPct val="112000"/>
              </a:lnSpc>
            </a:pPr>
            <a:r>
              <a:rPr sz="1550" b="0" i="0">
                <a:solidFill>
                  <a:srgbClr val="F7F0E7"/>
                </a:solidFill>
                <a:latin typeface="Segoe UI Semibold"/>
              </a:rPr>
              <a:t>Decide with one explainable score</a:t>
            </a:r>
          </a:p>
        </p:txBody>
      </p:sp>
      <p:sp>
        <p:nvSpPr>
          <p:cNvPr id="32" name="TextBox 31"/>
          <p:cNvSpPr txBox="1"/>
          <p:nvPr/>
        </p:nvSpPr>
        <p:spPr>
          <a:xfrm>
            <a:off x="4983480" y="5212080"/>
            <a:ext cx="6446520" cy="731520"/>
          </a:xfrm>
          <a:prstGeom prst="rect">
            <a:avLst/>
          </a:prstGeom>
          <a:noFill/>
        </p:spPr>
        <p:txBody>
          <a:bodyPr wrap="square" lIns="0" rIns="0" tIns="0" bIns="0" anchor="ctr">
            <a:spAutoFit/>
          </a:bodyPr>
          <a:lstStyle/>
          <a:p>
            <a:pPr algn="l">
              <a:lnSpc>
                <a:spcPct val="120000"/>
              </a:lnSpc>
            </a:pPr>
            <a:r>
              <a:rPr sz="1250" b="0" i="0">
                <a:solidFill>
                  <a:srgbClr val="C4B2AE"/>
                </a:solidFill>
                <a:latin typeface="Segoe UI"/>
              </a:rPr>
              <a:t>Master assessment from CV (37.5%) and interview (62.5%), plus a skill quiz, ranked for approval letters.</a:t>
            </a:r>
          </a:p>
        </p:txBody>
      </p:sp>
      <p:sp>
        <p:nvSpPr>
          <p:cNvPr id="33" name="TextBox 32"/>
          <p:cNvSpPr txBox="1"/>
          <p:nvPr/>
        </p:nvSpPr>
        <p:spPr>
          <a:xfrm>
            <a:off x="4983480" y="1481328"/>
            <a:ext cx="6400800" cy="274320"/>
          </a:xfrm>
          <a:prstGeom prst="rect">
            <a:avLst/>
          </a:prstGeom>
          <a:noFill/>
        </p:spPr>
        <p:txBody>
          <a:bodyPr wrap="square" lIns="0" rIns="0" tIns="0" bIns="0" anchor="t">
            <a:spAutoFit/>
          </a:bodyPr>
          <a:lstStyle/>
          <a:p>
            <a:pPr algn="l">
              <a:lnSpc>
                <a:spcPct val="112000"/>
              </a:lnSpc>
            </a:pPr>
            <a:r>
              <a:rPr sz="900" b="0" i="0" spc="250">
                <a:solidFill>
                  <a:srgbClr val="8C7A78"/>
                </a:solidFill>
                <a:latin typeface="Segoe UI Semibold"/>
              </a:rPr>
              <a:t>EXPECTED OUTCOME</a:t>
            </a:r>
          </a:p>
        </p:txBody>
      </p:sp>
      <p:sp>
        <p:nvSpPr>
          <p:cNvPr id="34" name="TextBox 33"/>
          <p:cNvSpPr txBox="1"/>
          <p:nvPr/>
        </p:nvSpPr>
        <p:spPr>
          <a:xfrm>
            <a:off x="1417320" y="1481328"/>
            <a:ext cx="3566160" cy="274320"/>
          </a:xfrm>
          <a:prstGeom prst="rect">
            <a:avLst/>
          </a:prstGeom>
          <a:noFill/>
        </p:spPr>
        <p:txBody>
          <a:bodyPr wrap="square" lIns="0" rIns="0" tIns="0" bIns="0" anchor="t">
            <a:spAutoFit/>
          </a:bodyPr>
          <a:lstStyle/>
          <a:p>
            <a:pPr algn="l">
              <a:lnSpc>
                <a:spcPct val="112000"/>
              </a:lnSpc>
            </a:pPr>
            <a:r>
              <a:rPr sz="900" b="0" i="0" spc="250">
                <a:solidFill>
                  <a:srgbClr val="8C7A78"/>
                </a:solidFill>
                <a:latin typeface="Segoe UI Semibold"/>
              </a:rPr>
              <a:t>GOAL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keys.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566928"/>
            <a:ext cx="292608" cy="41148"/>
          </a:xfrm>
          <a:prstGeom prst="rect">
            <a:avLst/>
          </a:prstGeom>
          <a:solidFill>
            <a:srgbClr val="F3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457200"/>
            <a:ext cx="8229600" cy="274320"/>
          </a:xfrm>
          <a:prstGeom prst="rect">
            <a:avLst/>
          </a:prstGeom>
          <a:noFill/>
        </p:spPr>
        <p:txBody>
          <a:bodyPr wrap="square" lIns="0" rIns="0" tIns="0" bIns="0" anchor="t">
            <a:spAutoFit/>
          </a:bodyPr>
          <a:lstStyle/>
          <a:p>
            <a:pPr algn="l">
              <a:lnSpc>
                <a:spcPct val="112000"/>
              </a:lnSpc>
            </a:pPr>
            <a:r>
              <a:rPr sz="1100" b="0" i="0" spc="320">
                <a:solidFill>
                  <a:srgbClr val="F3A85C"/>
                </a:solidFill>
                <a:latin typeface="Segoe UI Semibold"/>
              </a:rPr>
              <a:t>05  ·  KEY FUNCTIONALITIES</a:t>
            </a:r>
          </a:p>
        </p:txBody>
      </p:sp>
      <p:sp>
        <p:nvSpPr>
          <p:cNvPr id="5" name="TextBox 4"/>
          <p:cNvSpPr txBox="1"/>
          <p:nvPr/>
        </p:nvSpPr>
        <p:spPr>
          <a:xfrm>
            <a:off x="548640" y="786384"/>
            <a:ext cx="11064240" cy="914400"/>
          </a:xfrm>
          <a:prstGeom prst="rect">
            <a:avLst/>
          </a:prstGeom>
          <a:noFill/>
        </p:spPr>
        <p:txBody>
          <a:bodyPr wrap="square" lIns="0" rIns="0" tIns="0" bIns="0" anchor="t">
            <a:spAutoFit/>
          </a:bodyPr>
          <a:lstStyle/>
          <a:p>
            <a:pPr algn="l">
              <a:lnSpc>
                <a:spcPct val="112000"/>
              </a:lnSpc>
            </a:pPr>
            <a:r>
              <a:rPr sz="3800" b="0" i="0">
                <a:solidFill>
                  <a:srgbClr val="F7F0E7"/>
                </a:solidFill>
                <a:latin typeface="Georgia"/>
              </a:rPr>
              <a:t>Everything a hiring team needs, in one pipeline</a:t>
            </a:r>
          </a:p>
        </p:txBody>
      </p:sp>
      <p:sp>
        <p:nvSpPr>
          <p:cNvPr id="6" name="TextBox 5"/>
          <p:cNvSpPr txBox="1"/>
          <p:nvPr/>
        </p:nvSpPr>
        <p:spPr>
          <a:xfrm>
            <a:off x="566928" y="6419088"/>
            <a:ext cx="2743200" cy="228600"/>
          </a:xfrm>
          <a:prstGeom prst="rect">
            <a:avLst/>
          </a:prstGeom>
          <a:noFill/>
        </p:spPr>
        <p:txBody>
          <a:bodyPr wrap="square" lIns="0" rIns="0" tIns="0" bIns="0" anchor="t">
            <a:spAutoFit/>
          </a:bodyPr>
          <a:lstStyle/>
          <a:p>
            <a:pPr algn="l">
              <a:lnSpc>
                <a:spcPct val="112000"/>
              </a:lnSpc>
            </a:pPr>
            <a:r>
              <a:rPr sz="900" b="0" i="0" spc="400">
                <a:solidFill>
                  <a:srgbClr val="8C7A78"/>
                </a:solidFill>
                <a:latin typeface="Segoe UI Semibold"/>
              </a:rPr>
              <a:t>SIFT</a:t>
            </a:r>
          </a:p>
        </p:txBody>
      </p:sp>
      <p:sp>
        <p:nvSpPr>
          <p:cNvPr id="7" name="TextBox 6"/>
          <p:cNvSpPr txBox="1"/>
          <p:nvPr/>
        </p:nvSpPr>
        <p:spPr>
          <a:xfrm>
            <a:off x="9784080" y="6419088"/>
            <a:ext cx="1856231" cy="228600"/>
          </a:xfrm>
          <a:prstGeom prst="rect">
            <a:avLst/>
          </a:prstGeom>
          <a:noFill/>
        </p:spPr>
        <p:txBody>
          <a:bodyPr wrap="square" lIns="0" rIns="0" tIns="0" bIns="0" anchor="t">
            <a:spAutoFit/>
          </a:bodyPr>
          <a:lstStyle/>
          <a:p>
            <a:pPr algn="r">
              <a:lnSpc>
                <a:spcPct val="112000"/>
              </a:lnSpc>
            </a:pPr>
            <a:r>
              <a:rPr sz="900" b="0" i="0" spc="200">
                <a:solidFill>
                  <a:srgbClr val="8C7A78"/>
                </a:solidFill>
                <a:latin typeface="Segoe UI Semibold"/>
              </a:rPr>
              <a:t>05 / 19</a:t>
            </a:r>
          </a:p>
        </p:txBody>
      </p:sp>
      <p:sp>
        <p:nvSpPr>
          <p:cNvPr id="8" name="Rounded Rectangle 7"/>
          <p:cNvSpPr/>
          <p:nvPr/>
        </p:nvSpPr>
        <p:spPr>
          <a:xfrm>
            <a:off x="566928" y="1810512"/>
            <a:ext cx="3547872" cy="1298448"/>
          </a:xfrm>
          <a:prstGeom prst="roundRect">
            <a:avLst>
              <a:gd name="adj" fmla="val 11267"/>
            </a:avLst>
          </a:prstGeom>
          <a:solidFill>
            <a:srgbClr val="F7F0E7">
              <a:alpha val="3500"/>
            </a:srgbClr>
          </a:solidFill>
          <a:ln w="9525">
            <a:solidFill>
              <a:srgbClr val="F7F0E7">
                <a:alpha val="11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95528" y="1993392"/>
            <a:ext cx="3108960" cy="365760"/>
          </a:xfrm>
          <a:prstGeom prst="rect">
            <a:avLst/>
          </a:prstGeom>
          <a:noFill/>
        </p:spPr>
        <p:txBody>
          <a:bodyPr wrap="square" lIns="0" rIns="0" tIns="0" bIns="0" anchor="t">
            <a:spAutoFit/>
          </a:bodyPr>
          <a:lstStyle/>
          <a:p>
            <a:pPr algn="l">
              <a:lnSpc>
                <a:spcPct val="112000"/>
              </a:lnSpc>
            </a:pPr>
            <a:r>
              <a:rPr sz="1350" b="0" i="0">
                <a:solidFill>
                  <a:srgbClr val="F7F0E7"/>
                </a:solidFill>
                <a:latin typeface="Segoe UI Semibold"/>
              </a:rPr>
              <a:t>Policy-grounded job drafting</a:t>
            </a:r>
          </a:p>
        </p:txBody>
      </p:sp>
      <p:sp>
        <p:nvSpPr>
          <p:cNvPr id="10" name="TextBox 9"/>
          <p:cNvSpPr txBox="1"/>
          <p:nvPr/>
        </p:nvSpPr>
        <p:spPr>
          <a:xfrm>
            <a:off x="795528" y="2377440"/>
            <a:ext cx="3108960" cy="685800"/>
          </a:xfrm>
          <a:prstGeom prst="rect">
            <a:avLst/>
          </a:prstGeom>
          <a:noFill/>
        </p:spPr>
        <p:txBody>
          <a:bodyPr wrap="square" lIns="0" rIns="0" tIns="0" bIns="0" anchor="t">
            <a:spAutoFit/>
          </a:bodyPr>
          <a:lstStyle/>
          <a:p>
            <a:pPr algn="l">
              <a:lnSpc>
                <a:spcPct val="120000"/>
              </a:lnSpc>
            </a:pPr>
            <a:r>
              <a:rPr sz="1100" b="0" i="0">
                <a:solidFill>
                  <a:srgbClr val="C4B2AE"/>
                </a:solidFill>
                <a:latin typeface="Segoe UI"/>
              </a:rPr>
              <a:t>The copilot writes the brief and ten checklist questions from indexed policy.</a:t>
            </a:r>
          </a:p>
        </p:txBody>
      </p:sp>
      <p:sp>
        <p:nvSpPr>
          <p:cNvPr id="11" name="Rounded Rectangle 10"/>
          <p:cNvSpPr/>
          <p:nvPr/>
        </p:nvSpPr>
        <p:spPr>
          <a:xfrm>
            <a:off x="4251960" y="1810512"/>
            <a:ext cx="3547872" cy="1298448"/>
          </a:xfrm>
          <a:prstGeom prst="roundRect">
            <a:avLst>
              <a:gd name="adj" fmla="val 11267"/>
            </a:avLst>
          </a:prstGeom>
          <a:solidFill>
            <a:srgbClr val="F7F0E7">
              <a:alpha val="3500"/>
            </a:srgbClr>
          </a:solidFill>
          <a:ln w="9525">
            <a:solidFill>
              <a:srgbClr val="F7F0E7">
                <a:alpha val="11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480560" y="1993392"/>
            <a:ext cx="3108960" cy="365760"/>
          </a:xfrm>
          <a:prstGeom prst="rect">
            <a:avLst/>
          </a:prstGeom>
          <a:noFill/>
        </p:spPr>
        <p:txBody>
          <a:bodyPr wrap="square" lIns="0" rIns="0" tIns="0" bIns="0" anchor="t">
            <a:spAutoFit/>
          </a:bodyPr>
          <a:lstStyle/>
          <a:p>
            <a:pPr algn="l">
              <a:lnSpc>
                <a:spcPct val="112000"/>
              </a:lnSpc>
            </a:pPr>
            <a:r>
              <a:rPr sz="1350" b="0" i="0">
                <a:solidFill>
                  <a:srgbClr val="F7F0E7"/>
                </a:solidFill>
                <a:latin typeface="Segoe UI Semibold"/>
              </a:rPr>
              <a:t>CV intake by upload or email</a:t>
            </a:r>
          </a:p>
        </p:txBody>
      </p:sp>
      <p:sp>
        <p:nvSpPr>
          <p:cNvPr id="13" name="TextBox 12"/>
          <p:cNvSpPr txBox="1"/>
          <p:nvPr/>
        </p:nvSpPr>
        <p:spPr>
          <a:xfrm>
            <a:off x="4480560" y="2377440"/>
            <a:ext cx="3108960" cy="685800"/>
          </a:xfrm>
          <a:prstGeom prst="rect">
            <a:avLst/>
          </a:prstGeom>
          <a:noFill/>
        </p:spPr>
        <p:txBody>
          <a:bodyPr wrap="square" lIns="0" rIns="0" tIns="0" bIns="0" anchor="t">
            <a:spAutoFit/>
          </a:bodyPr>
          <a:lstStyle/>
          <a:p>
            <a:pPr algn="l">
              <a:lnSpc>
                <a:spcPct val="120000"/>
              </a:lnSpc>
            </a:pPr>
            <a:r>
              <a:rPr sz="1100" b="0" i="0">
                <a:solidFill>
                  <a:srgbClr val="C4B2AE"/>
                </a:solidFill>
                <a:latin typeface="Segoe UI"/>
              </a:rPr>
              <a:t>PDF or DOCX from the desk or a Gmail inbox, with OCR when text is missing.</a:t>
            </a:r>
          </a:p>
        </p:txBody>
      </p:sp>
      <p:sp>
        <p:nvSpPr>
          <p:cNvPr id="14" name="Rounded Rectangle 13"/>
          <p:cNvSpPr/>
          <p:nvPr/>
        </p:nvSpPr>
        <p:spPr>
          <a:xfrm>
            <a:off x="7936992" y="1810512"/>
            <a:ext cx="3547872" cy="1298448"/>
          </a:xfrm>
          <a:prstGeom prst="roundRect">
            <a:avLst>
              <a:gd name="adj" fmla="val 11267"/>
            </a:avLst>
          </a:prstGeom>
          <a:solidFill>
            <a:srgbClr val="F7F0E7">
              <a:alpha val="3500"/>
            </a:srgbClr>
          </a:solidFill>
          <a:ln w="9525">
            <a:solidFill>
              <a:srgbClr val="F7F0E7">
                <a:alpha val="11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165592" y="1993392"/>
            <a:ext cx="3108960" cy="365760"/>
          </a:xfrm>
          <a:prstGeom prst="rect">
            <a:avLst/>
          </a:prstGeom>
          <a:noFill/>
        </p:spPr>
        <p:txBody>
          <a:bodyPr wrap="square" lIns="0" rIns="0" tIns="0" bIns="0" anchor="t">
            <a:spAutoFit/>
          </a:bodyPr>
          <a:lstStyle/>
          <a:p>
            <a:pPr algn="l">
              <a:lnSpc>
                <a:spcPct val="112000"/>
              </a:lnSpc>
            </a:pPr>
            <a:r>
              <a:rPr sz="1350" b="0" i="0">
                <a:solidFill>
                  <a:srgbClr val="F7F0E7"/>
                </a:solidFill>
                <a:latin typeface="Segoe UI Semibold"/>
              </a:rPr>
              <a:t>Evidence-based scoring</a:t>
            </a:r>
          </a:p>
        </p:txBody>
      </p:sp>
      <p:sp>
        <p:nvSpPr>
          <p:cNvPr id="16" name="TextBox 15"/>
          <p:cNvSpPr txBox="1"/>
          <p:nvPr/>
        </p:nvSpPr>
        <p:spPr>
          <a:xfrm>
            <a:off x="8165592" y="2377440"/>
            <a:ext cx="3108960" cy="685800"/>
          </a:xfrm>
          <a:prstGeom prst="rect">
            <a:avLst/>
          </a:prstGeom>
          <a:noFill/>
        </p:spPr>
        <p:txBody>
          <a:bodyPr wrap="square" lIns="0" rIns="0" tIns="0" bIns="0" anchor="t">
            <a:spAutoFit/>
          </a:bodyPr>
          <a:lstStyle/>
          <a:p>
            <a:pPr algn="l">
              <a:lnSpc>
                <a:spcPct val="120000"/>
              </a:lnSpc>
            </a:pPr>
            <a:r>
              <a:rPr sz="1100" b="0" i="0">
                <a:solidFill>
                  <a:srgbClr val="C4B2AE"/>
                </a:solidFill>
                <a:latin typeface="Segoe UI"/>
              </a:rPr>
              <a:t>Each checklist item marked met, partial, or missing, with the CV line quoted.</a:t>
            </a:r>
          </a:p>
        </p:txBody>
      </p:sp>
      <p:sp>
        <p:nvSpPr>
          <p:cNvPr id="17" name="Rounded Rectangle 16"/>
          <p:cNvSpPr/>
          <p:nvPr/>
        </p:nvSpPr>
        <p:spPr>
          <a:xfrm>
            <a:off x="566928" y="3273552"/>
            <a:ext cx="3547872" cy="1298448"/>
          </a:xfrm>
          <a:prstGeom prst="roundRect">
            <a:avLst>
              <a:gd name="adj" fmla="val 11267"/>
            </a:avLst>
          </a:prstGeom>
          <a:solidFill>
            <a:srgbClr val="F7F0E7">
              <a:alpha val="3500"/>
            </a:srgbClr>
          </a:solidFill>
          <a:ln w="9525">
            <a:solidFill>
              <a:srgbClr val="F7F0E7">
                <a:alpha val="11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95528" y="3456432"/>
            <a:ext cx="3108960" cy="365760"/>
          </a:xfrm>
          <a:prstGeom prst="rect">
            <a:avLst/>
          </a:prstGeom>
          <a:noFill/>
        </p:spPr>
        <p:txBody>
          <a:bodyPr wrap="square" lIns="0" rIns="0" tIns="0" bIns="0" anchor="t">
            <a:spAutoFit/>
          </a:bodyPr>
          <a:lstStyle/>
          <a:p>
            <a:pPr algn="l">
              <a:lnSpc>
                <a:spcPct val="112000"/>
              </a:lnSpc>
            </a:pPr>
            <a:r>
              <a:rPr sz="1350" b="0" i="0">
                <a:solidFill>
                  <a:srgbClr val="F7F0E7"/>
                </a:solidFill>
                <a:latin typeface="Segoe UI Semibold"/>
              </a:rPr>
              <a:t>Calendar-aware invitations</a:t>
            </a:r>
          </a:p>
        </p:txBody>
      </p:sp>
      <p:sp>
        <p:nvSpPr>
          <p:cNvPr id="19" name="TextBox 18"/>
          <p:cNvSpPr txBox="1"/>
          <p:nvPr/>
        </p:nvSpPr>
        <p:spPr>
          <a:xfrm>
            <a:off x="795528" y="3840480"/>
            <a:ext cx="3108960" cy="685800"/>
          </a:xfrm>
          <a:prstGeom prst="rect">
            <a:avLst/>
          </a:prstGeom>
          <a:noFill/>
        </p:spPr>
        <p:txBody>
          <a:bodyPr wrap="square" lIns="0" rIns="0" tIns="0" bIns="0" anchor="t">
            <a:spAutoFit/>
          </a:bodyPr>
          <a:lstStyle/>
          <a:p>
            <a:pPr algn="l">
              <a:lnSpc>
                <a:spcPct val="120000"/>
              </a:lnSpc>
            </a:pPr>
            <a:r>
              <a:rPr sz="1100" b="0" i="0">
                <a:solidFill>
                  <a:srgbClr val="C4B2AE"/>
                </a:solidFill>
                <a:latin typeface="Segoe UI"/>
              </a:rPr>
              <a:t>Top candidates get a private link and a free interview slot.</a:t>
            </a:r>
          </a:p>
        </p:txBody>
      </p:sp>
      <p:sp>
        <p:nvSpPr>
          <p:cNvPr id="20" name="Rounded Rectangle 19"/>
          <p:cNvSpPr/>
          <p:nvPr/>
        </p:nvSpPr>
        <p:spPr>
          <a:xfrm>
            <a:off x="4251960" y="3273552"/>
            <a:ext cx="3547872" cy="1298448"/>
          </a:xfrm>
          <a:prstGeom prst="roundRect">
            <a:avLst>
              <a:gd name="adj" fmla="val 11267"/>
            </a:avLst>
          </a:prstGeom>
          <a:solidFill>
            <a:srgbClr val="9678EB">
              <a:alpha val="13000"/>
            </a:srgbClr>
          </a:solidFill>
          <a:ln w="15875">
            <a:solidFill>
              <a:srgbClr val="9678EB">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583680" y="3429000"/>
            <a:ext cx="1051560" cy="329184"/>
          </a:xfrm>
          <a:prstGeom prst="roundRect">
            <a:avLst>
              <a:gd name="adj" fmla="val 50000"/>
            </a:avLst>
          </a:prstGeom>
          <a:solidFill>
            <a:srgbClr val="9678EB">
              <a:alpha val="14000"/>
            </a:srgbClr>
          </a:solidFill>
          <a:ln w="9525">
            <a:solidFill>
              <a:srgbClr val="9678EB">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83680" y="3429000"/>
            <a:ext cx="1051560" cy="329184"/>
          </a:xfrm>
          <a:prstGeom prst="rect">
            <a:avLst/>
          </a:prstGeom>
          <a:noFill/>
        </p:spPr>
        <p:txBody>
          <a:bodyPr wrap="square" lIns="0" rIns="0" tIns="0" bIns="0" anchor="ctr">
            <a:spAutoFit/>
          </a:bodyPr>
          <a:lstStyle/>
          <a:p>
            <a:pPr algn="ctr">
              <a:lnSpc>
                <a:spcPct val="112000"/>
              </a:lnSpc>
            </a:pPr>
            <a:r>
              <a:rPr sz="800" b="0" i="0">
                <a:solidFill>
                  <a:srgbClr val="9678EB"/>
                </a:solidFill>
                <a:latin typeface="Segoe UI Semibold"/>
              </a:rPr>
              <a:t>INNOVATION</a:t>
            </a:r>
          </a:p>
        </p:txBody>
      </p:sp>
      <p:sp>
        <p:nvSpPr>
          <p:cNvPr id="23" name="TextBox 22"/>
          <p:cNvSpPr txBox="1"/>
          <p:nvPr/>
        </p:nvSpPr>
        <p:spPr>
          <a:xfrm>
            <a:off x="4480560" y="3456432"/>
            <a:ext cx="2377440" cy="365760"/>
          </a:xfrm>
          <a:prstGeom prst="rect">
            <a:avLst/>
          </a:prstGeom>
          <a:noFill/>
        </p:spPr>
        <p:txBody>
          <a:bodyPr wrap="square" lIns="0" rIns="0" tIns="0" bIns="0" anchor="t">
            <a:spAutoFit/>
          </a:bodyPr>
          <a:lstStyle/>
          <a:p>
            <a:pPr algn="l">
              <a:lnSpc>
                <a:spcPct val="112000"/>
              </a:lnSpc>
            </a:pPr>
            <a:r>
              <a:rPr sz="1350" b="0" i="0">
                <a:solidFill>
                  <a:srgbClr val="F7F0E7"/>
                </a:solidFill>
                <a:latin typeface="Segoe UI Semibold"/>
              </a:rPr>
              <a:t>AI voice interviewer</a:t>
            </a:r>
          </a:p>
        </p:txBody>
      </p:sp>
      <p:sp>
        <p:nvSpPr>
          <p:cNvPr id="24" name="TextBox 23"/>
          <p:cNvSpPr txBox="1"/>
          <p:nvPr/>
        </p:nvSpPr>
        <p:spPr>
          <a:xfrm>
            <a:off x="4480560" y="3840480"/>
            <a:ext cx="3108960" cy="685800"/>
          </a:xfrm>
          <a:prstGeom prst="rect">
            <a:avLst/>
          </a:prstGeom>
          <a:noFill/>
        </p:spPr>
        <p:txBody>
          <a:bodyPr wrap="square" lIns="0" rIns="0" tIns="0" bIns="0" anchor="t">
            <a:spAutoFit/>
          </a:bodyPr>
          <a:lstStyle/>
          <a:p>
            <a:pPr algn="l">
              <a:lnSpc>
                <a:spcPct val="120000"/>
              </a:lnSpc>
            </a:pPr>
            <a:r>
              <a:rPr sz="1100" b="0" i="0">
                <a:solidFill>
                  <a:srgbClr val="C4B2AE"/>
                </a:solidFill>
                <a:latin typeface="Segoe UI"/>
              </a:rPr>
              <a:t>Runs the whole call by voice, then writes the reports.</a:t>
            </a:r>
          </a:p>
        </p:txBody>
      </p:sp>
      <p:sp>
        <p:nvSpPr>
          <p:cNvPr id="25" name="Rounded Rectangle 24"/>
          <p:cNvSpPr/>
          <p:nvPr/>
        </p:nvSpPr>
        <p:spPr>
          <a:xfrm>
            <a:off x="7936992" y="3273552"/>
            <a:ext cx="3547872" cy="1298448"/>
          </a:xfrm>
          <a:prstGeom prst="roundRect">
            <a:avLst>
              <a:gd name="adj" fmla="val 11267"/>
            </a:avLst>
          </a:prstGeom>
          <a:solidFill>
            <a:srgbClr val="F3A85C">
              <a:alpha val="13000"/>
            </a:srgbClr>
          </a:solidFill>
          <a:ln w="15875">
            <a:solidFill>
              <a:srgbClr val="F3A85C">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10268712" y="3429000"/>
            <a:ext cx="1051560" cy="329184"/>
          </a:xfrm>
          <a:prstGeom prst="roundRect">
            <a:avLst>
              <a:gd name="adj" fmla="val 50000"/>
            </a:avLst>
          </a:prstGeom>
          <a:solidFill>
            <a:srgbClr val="F3A85C">
              <a:alpha val="14000"/>
            </a:srgbClr>
          </a:solidFill>
          <a:ln w="9525">
            <a:solidFill>
              <a:srgbClr val="F3A85C">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268712" y="3429000"/>
            <a:ext cx="1051560" cy="329184"/>
          </a:xfrm>
          <a:prstGeom prst="rect">
            <a:avLst/>
          </a:prstGeom>
          <a:noFill/>
        </p:spPr>
        <p:txBody>
          <a:bodyPr wrap="square" lIns="0" rIns="0" tIns="0" bIns="0" anchor="ctr">
            <a:spAutoFit/>
          </a:bodyPr>
          <a:lstStyle/>
          <a:p>
            <a:pPr algn="ctr">
              <a:lnSpc>
                <a:spcPct val="112000"/>
              </a:lnSpc>
            </a:pPr>
            <a:r>
              <a:rPr sz="800" b="0" i="0">
                <a:solidFill>
                  <a:srgbClr val="F3A85C"/>
                </a:solidFill>
                <a:latin typeface="Segoe UI Semibold"/>
              </a:rPr>
              <a:t>INNOVATION</a:t>
            </a:r>
          </a:p>
        </p:txBody>
      </p:sp>
      <p:sp>
        <p:nvSpPr>
          <p:cNvPr id="28" name="TextBox 27"/>
          <p:cNvSpPr txBox="1"/>
          <p:nvPr/>
        </p:nvSpPr>
        <p:spPr>
          <a:xfrm>
            <a:off x="8165592" y="3456432"/>
            <a:ext cx="2377440" cy="365760"/>
          </a:xfrm>
          <a:prstGeom prst="rect">
            <a:avLst/>
          </a:prstGeom>
          <a:noFill/>
        </p:spPr>
        <p:txBody>
          <a:bodyPr wrap="square" lIns="0" rIns="0" tIns="0" bIns="0" anchor="t">
            <a:spAutoFit/>
          </a:bodyPr>
          <a:lstStyle/>
          <a:p>
            <a:pPr algn="l">
              <a:lnSpc>
                <a:spcPct val="112000"/>
              </a:lnSpc>
            </a:pPr>
            <a:r>
              <a:rPr sz="1350" b="0" i="0">
                <a:solidFill>
                  <a:srgbClr val="F7F0E7"/>
                </a:solidFill>
                <a:latin typeface="Segoe UI Semibold"/>
              </a:rPr>
              <a:t>Face identity check</a:t>
            </a:r>
          </a:p>
        </p:txBody>
      </p:sp>
      <p:sp>
        <p:nvSpPr>
          <p:cNvPr id="29" name="TextBox 28"/>
          <p:cNvSpPr txBox="1"/>
          <p:nvPr/>
        </p:nvSpPr>
        <p:spPr>
          <a:xfrm>
            <a:off x="8165592" y="3840480"/>
            <a:ext cx="3108960" cy="685800"/>
          </a:xfrm>
          <a:prstGeom prst="rect">
            <a:avLst/>
          </a:prstGeom>
          <a:noFill/>
        </p:spPr>
        <p:txBody>
          <a:bodyPr wrap="square" lIns="0" rIns="0" tIns="0" bIns="0" anchor="t">
            <a:spAutoFit/>
          </a:bodyPr>
          <a:lstStyle/>
          <a:p>
            <a:pPr algn="l">
              <a:lnSpc>
                <a:spcPct val="120000"/>
              </a:lnSpc>
            </a:pPr>
            <a:r>
              <a:rPr sz="1100" b="0" i="0">
                <a:solidFill>
                  <a:srgbClr val="C4B2AE"/>
                </a:solidFill>
                <a:latin typeface="Segoe UI"/>
              </a:rPr>
              <a:t>Consented match of the live camera against the CV photo.</a:t>
            </a:r>
          </a:p>
        </p:txBody>
      </p:sp>
      <p:sp>
        <p:nvSpPr>
          <p:cNvPr id="30" name="Rounded Rectangle 29"/>
          <p:cNvSpPr/>
          <p:nvPr/>
        </p:nvSpPr>
        <p:spPr>
          <a:xfrm>
            <a:off x="566928" y="4736592"/>
            <a:ext cx="3547872" cy="1298448"/>
          </a:xfrm>
          <a:prstGeom prst="roundRect">
            <a:avLst>
              <a:gd name="adj" fmla="val 11267"/>
            </a:avLst>
          </a:prstGeom>
          <a:solidFill>
            <a:srgbClr val="F7F0E7">
              <a:alpha val="3500"/>
            </a:srgbClr>
          </a:solidFill>
          <a:ln w="9525">
            <a:solidFill>
              <a:srgbClr val="F7F0E7">
                <a:alpha val="11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95528" y="4919472"/>
            <a:ext cx="3108960" cy="365760"/>
          </a:xfrm>
          <a:prstGeom prst="rect">
            <a:avLst/>
          </a:prstGeom>
          <a:noFill/>
        </p:spPr>
        <p:txBody>
          <a:bodyPr wrap="square" lIns="0" rIns="0" tIns="0" bIns="0" anchor="t">
            <a:spAutoFit/>
          </a:bodyPr>
          <a:lstStyle/>
          <a:p>
            <a:pPr algn="l">
              <a:lnSpc>
                <a:spcPct val="112000"/>
              </a:lnSpc>
            </a:pPr>
            <a:r>
              <a:rPr sz="1350" b="0" i="0">
                <a:solidFill>
                  <a:srgbClr val="F7F0E7"/>
                </a:solidFill>
                <a:latin typeface="Segoe UI Semibold"/>
              </a:rPr>
              <a:t>Live transcript &amp; copilot</a:t>
            </a:r>
          </a:p>
        </p:txBody>
      </p:sp>
      <p:sp>
        <p:nvSpPr>
          <p:cNvPr id="32" name="TextBox 31"/>
          <p:cNvSpPr txBox="1"/>
          <p:nvPr/>
        </p:nvSpPr>
        <p:spPr>
          <a:xfrm>
            <a:off x="795528" y="5303520"/>
            <a:ext cx="3108960" cy="685800"/>
          </a:xfrm>
          <a:prstGeom prst="rect">
            <a:avLst/>
          </a:prstGeom>
          <a:noFill/>
        </p:spPr>
        <p:txBody>
          <a:bodyPr wrap="square" lIns="0" rIns="0" tIns="0" bIns="0" anchor="t">
            <a:spAutoFit/>
          </a:bodyPr>
          <a:lstStyle/>
          <a:p>
            <a:pPr algn="l">
              <a:lnSpc>
                <a:spcPct val="120000"/>
              </a:lnSpc>
            </a:pPr>
            <a:r>
              <a:rPr sz="1100" b="0" i="0">
                <a:solidFill>
                  <a:srgbClr val="C4B2AE"/>
                </a:solidFill>
                <a:latin typeface="Segoe UI"/>
              </a:rPr>
              <a:t>Messenger-style transcript, coverage gaps, and a suggested next question.</a:t>
            </a:r>
          </a:p>
        </p:txBody>
      </p:sp>
      <p:sp>
        <p:nvSpPr>
          <p:cNvPr id="33" name="Rounded Rectangle 32"/>
          <p:cNvSpPr/>
          <p:nvPr/>
        </p:nvSpPr>
        <p:spPr>
          <a:xfrm>
            <a:off x="4251960" y="4736592"/>
            <a:ext cx="3547872" cy="1298448"/>
          </a:xfrm>
          <a:prstGeom prst="roundRect">
            <a:avLst>
              <a:gd name="adj" fmla="val 11267"/>
            </a:avLst>
          </a:prstGeom>
          <a:solidFill>
            <a:srgbClr val="F7F0E7">
              <a:alpha val="3500"/>
            </a:srgbClr>
          </a:solidFill>
          <a:ln w="9525">
            <a:solidFill>
              <a:srgbClr val="F7F0E7">
                <a:alpha val="11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4480560" y="4919472"/>
            <a:ext cx="3108960" cy="365760"/>
          </a:xfrm>
          <a:prstGeom prst="rect">
            <a:avLst/>
          </a:prstGeom>
          <a:noFill/>
        </p:spPr>
        <p:txBody>
          <a:bodyPr wrap="square" lIns="0" rIns="0" tIns="0" bIns="0" anchor="t">
            <a:spAutoFit/>
          </a:bodyPr>
          <a:lstStyle/>
          <a:p>
            <a:pPr algn="l">
              <a:lnSpc>
                <a:spcPct val="112000"/>
              </a:lnSpc>
            </a:pPr>
            <a:r>
              <a:rPr sz="1350" b="0" i="0">
                <a:solidFill>
                  <a:srgbClr val="F7F0E7"/>
                </a:solidFill>
                <a:latin typeface="Segoe UI Semibold"/>
              </a:rPr>
              <a:t>Skill quiz &amp; five reports</a:t>
            </a:r>
          </a:p>
        </p:txBody>
      </p:sp>
      <p:sp>
        <p:nvSpPr>
          <p:cNvPr id="35" name="TextBox 34"/>
          <p:cNvSpPr txBox="1"/>
          <p:nvPr/>
        </p:nvSpPr>
        <p:spPr>
          <a:xfrm>
            <a:off x="4480560" y="5303520"/>
            <a:ext cx="3108960" cy="685800"/>
          </a:xfrm>
          <a:prstGeom prst="rect">
            <a:avLst/>
          </a:prstGeom>
          <a:noFill/>
        </p:spPr>
        <p:txBody>
          <a:bodyPr wrap="square" lIns="0" rIns="0" tIns="0" bIns="0" anchor="t">
            <a:spAutoFit/>
          </a:bodyPr>
          <a:lstStyle/>
          <a:p>
            <a:pPr algn="l">
              <a:lnSpc>
                <a:spcPct val="120000"/>
              </a:lnSpc>
            </a:pPr>
            <a:r>
              <a:rPr sz="1100" b="0" i="0">
                <a:solidFill>
                  <a:srgbClr val="C4B2AE"/>
                </a:solidFill>
                <a:latin typeface="Segoe UI"/>
              </a:rPr>
              <a:t>Q&amp;A, CV claims, interview score, quality, and a master assessment.</a:t>
            </a:r>
          </a:p>
        </p:txBody>
      </p:sp>
      <p:sp>
        <p:nvSpPr>
          <p:cNvPr id="36" name="Rounded Rectangle 35"/>
          <p:cNvSpPr/>
          <p:nvPr/>
        </p:nvSpPr>
        <p:spPr>
          <a:xfrm>
            <a:off x="7936992" y="4736592"/>
            <a:ext cx="3547872" cy="1298448"/>
          </a:xfrm>
          <a:prstGeom prst="roundRect">
            <a:avLst>
              <a:gd name="adj" fmla="val 11267"/>
            </a:avLst>
          </a:prstGeom>
          <a:solidFill>
            <a:srgbClr val="F7F0E7">
              <a:alpha val="3500"/>
            </a:srgbClr>
          </a:solidFill>
          <a:ln w="9525">
            <a:solidFill>
              <a:srgbClr val="F7F0E7">
                <a:alpha val="11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165592" y="4919472"/>
            <a:ext cx="3108960" cy="365760"/>
          </a:xfrm>
          <a:prstGeom prst="rect">
            <a:avLst/>
          </a:prstGeom>
          <a:noFill/>
        </p:spPr>
        <p:txBody>
          <a:bodyPr wrap="square" lIns="0" rIns="0" tIns="0" bIns="0" anchor="t">
            <a:spAutoFit/>
          </a:bodyPr>
          <a:lstStyle/>
          <a:p>
            <a:pPr algn="l">
              <a:lnSpc>
                <a:spcPct val="112000"/>
              </a:lnSpc>
            </a:pPr>
            <a:r>
              <a:rPr sz="1350" b="0" i="0">
                <a:solidFill>
                  <a:srgbClr val="F7F0E7"/>
                </a:solidFill>
                <a:latin typeface="Segoe UI Semibold"/>
              </a:rPr>
              <a:t>Recruiter copilot</a:t>
            </a:r>
          </a:p>
        </p:txBody>
      </p:sp>
      <p:sp>
        <p:nvSpPr>
          <p:cNvPr id="38" name="TextBox 37"/>
          <p:cNvSpPr txBox="1"/>
          <p:nvPr/>
        </p:nvSpPr>
        <p:spPr>
          <a:xfrm>
            <a:off x="8165592" y="5303520"/>
            <a:ext cx="3108960" cy="685800"/>
          </a:xfrm>
          <a:prstGeom prst="rect">
            <a:avLst/>
          </a:prstGeom>
          <a:noFill/>
        </p:spPr>
        <p:txBody>
          <a:bodyPr wrap="square" lIns="0" rIns="0" tIns="0" bIns="0" anchor="t">
            <a:spAutoFit/>
          </a:bodyPr>
          <a:lstStyle/>
          <a:p>
            <a:pPr algn="l">
              <a:lnSpc>
                <a:spcPct val="120000"/>
              </a:lnSpc>
            </a:pPr>
            <a:r>
              <a:rPr sz="1100" b="0" i="0">
                <a:solidFill>
                  <a:srgbClr val="C4B2AE"/>
                </a:solidFill>
                <a:latin typeface="Segoe UI"/>
              </a:rPr>
              <a:t>Ask in plain words: rank, compare, open a candidate, or draft a role.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viole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6419088"/>
            <a:ext cx="2743200" cy="228600"/>
          </a:xfrm>
          <a:prstGeom prst="rect">
            <a:avLst/>
          </a:prstGeom>
          <a:noFill/>
        </p:spPr>
        <p:txBody>
          <a:bodyPr wrap="square" lIns="0" rIns="0" tIns="0" bIns="0" anchor="t">
            <a:spAutoFit/>
          </a:bodyPr>
          <a:lstStyle/>
          <a:p>
            <a:pPr algn="l">
              <a:lnSpc>
                <a:spcPct val="112000"/>
              </a:lnSpc>
            </a:pPr>
            <a:r>
              <a:rPr sz="900" b="0" i="0" spc="400">
                <a:solidFill>
                  <a:srgbClr val="8C7A78"/>
                </a:solidFill>
                <a:latin typeface="Segoe UI Semibold"/>
              </a:rPr>
              <a:t>SIFT</a:t>
            </a:r>
          </a:p>
        </p:txBody>
      </p:sp>
      <p:sp>
        <p:nvSpPr>
          <p:cNvPr id="4" name="TextBox 3"/>
          <p:cNvSpPr txBox="1"/>
          <p:nvPr/>
        </p:nvSpPr>
        <p:spPr>
          <a:xfrm>
            <a:off x="9784080" y="6419088"/>
            <a:ext cx="1856231" cy="228600"/>
          </a:xfrm>
          <a:prstGeom prst="rect">
            <a:avLst/>
          </a:prstGeom>
          <a:noFill/>
        </p:spPr>
        <p:txBody>
          <a:bodyPr wrap="square" lIns="0" rIns="0" tIns="0" bIns="0" anchor="t">
            <a:spAutoFit/>
          </a:bodyPr>
          <a:lstStyle/>
          <a:p>
            <a:pPr algn="r">
              <a:lnSpc>
                <a:spcPct val="112000"/>
              </a:lnSpc>
            </a:pPr>
            <a:r>
              <a:rPr sz="900" b="0" i="0" spc="200">
                <a:solidFill>
                  <a:srgbClr val="8C7A78"/>
                </a:solidFill>
                <a:latin typeface="Segoe UI Semibold"/>
              </a:rPr>
              <a:t>06 / 19</a:t>
            </a:r>
          </a:p>
        </p:txBody>
      </p:sp>
      <p:pic>
        <p:nvPicPr>
          <p:cNvPr id="5" name="Picture 4" descr="fade_spot_avatar.png"/>
          <p:cNvPicPr>
            <a:picLocks noChangeAspect="1"/>
          </p:cNvPicPr>
          <p:nvPr/>
        </p:nvPicPr>
        <p:blipFill>
          <a:blip r:embed="rId3"/>
          <a:stretch>
            <a:fillRect/>
          </a:stretch>
        </p:blipFill>
        <p:spPr>
          <a:xfrm>
            <a:off x="3749039" y="1143000"/>
            <a:ext cx="8778240" cy="4481779"/>
          </a:xfrm>
          <a:prstGeom prst="rect">
            <a:avLst/>
          </a:prstGeom>
        </p:spPr>
      </p:pic>
      <p:sp>
        <p:nvSpPr>
          <p:cNvPr id="6" name="Rectangle 5"/>
          <p:cNvSpPr/>
          <p:nvPr/>
        </p:nvSpPr>
        <p:spPr>
          <a:xfrm>
            <a:off x="566928" y="566928"/>
            <a:ext cx="292608" cy="41148"/>
          </a:xfrm>
          <a:prstGeom prst="rect">
            <a:avLst/>
          </a:prstGeom>
          <a:solidFill>
            <a:srgbClr val="967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9264" y="457200"/>
            <a:ext cx="8229600" cy="274320"/>
          </a:xfrm>
          <a:prstGeom prst="rect">
            <a:avLst/>
          </a:prstGeom>
          <a:noFill/>
        </p:spPr>
        <p:txBody>
          <a:bodyPr wrap="square" lIns="0" rIns="0" tIns="0" bIns="0" anchor="t">
            <a:spAutoFit/>
          </a:bodyPr>
          <a:lstStyle/>
          <a:p>
            <a:pPr algn="l">
              <a:lnSpc>
                <a:spcPct val="112000"/>
              </a:lnSpc>
            </a:pPr>
            <a:r>
              <a:rPr sz="1100" b="0" i="0" spc="320">
                <a:solidFill>
                  <a:srgbClr val="9678EB"/>
                </a:solidFill>
                <a:latin typeface="Segoe UI Semibold"/>
              </a:rPr>
              <a:t>INNOVATION  ·  THE AI INTERVIEWER</a:t>
            </a:r>
          </a:p>
        </p:txBody>
      </p:sp>
      <p:sp>
        <p:nvSpPr>
          <p:cNvPr id="8" name="TextBox 7"/>
          <p:cNvSpPr txBox="1"/>
          <p:nvPr/>
        </p:nvSpPr>
        <p:spPr>
          <a:xfrm>
            <a:off x="548640" y="786384"/>
            <a:ext cx="6583680" cy="1463040"/>
          </a:xfrm>
          <a:prstGeom prst="rect">
            <a:avLst/>
          </a:prstGeom>
          <a:noFill/>
        </p:spPr>
        <p:txBody>
          <a:bodyPr wrap="square" lIns="0" rIns="0" tIns="0" bIns="0" anchor="t">
            <a:spAutoFit/>
          </a:bodyPr>
          <a:lstStyle/>
          <a:p>
            <a:pPr algn="l">
              <a:lnSpc>
                <a:spcPct val="102000"/>
              </a:lnSpc>
            </a:pPr>
            <a:r>
              <a:rPr sz="3800" b="0" i="0">
                <a:solidFill>
                  <a:srgbClr val="F7F0E7"/>
                </a:solidFill>
                <a:latin typeface="Georgia"/>
              </a:rPr>
              <a:t>An interviewer that</a:t>
            </a:r>
          </a:p>
          <a:p>
            <a:pPr algn="l">
              <a:lnSpc>
                <a:spcPct val="102000"/>
              </a:lnSpc>
            </a:pPr>
            <a:r>
              <a:rPr sz="3800" b="0" i="0">
                <a:solidFill>
                  <a:srgbClr val="F7F0E7"/>
                </a:solidFill>
                <a:latin typeface="Georgia"/>
              </a:rPr>
              <a:t>runs the call on its own</a:t>
            </a:r>
          </a:p>
        </p:txBody>
      </p:sp>
      <p:sp>
        <p:nvSpPr>
          <p:cNvPr id="9" name="Oval 8"/>
          <p:cNvSpPr/>
          <p:nvPr/>
        </p:nvSpPr>
        <p:spPr>
          <a:xfrm>
            <a:off x="603504" y="2350008"/>
            <a:ext cx="91440" cy="91440"/>
          </a:xfrm>
          <a:prstGeom prst="ellipse">
            <a:avLst/>
          </a:prstGeom>
          <a:solidFill>
            <a:srgbClr val="967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2267712"/>
            <a:ext cx="4846320" cy="640080"/>
          </a:xfrm>
          <a:prstGeom prst="rect">
            <a:avLst/>
          </a:prstGeom>
          <a:noFill/>
        </p:spPr>
        <p:txBody>
          <a:bodyPr wrap="square" lIns="0" rIns="0" tIns="0" bIns="0" anchor="t">
            <a:spAutoFit/>
          </a:bodyPr>
          <a:lstStyle/>
          <a:p>
            <a:pPr algn="l">
              <a:lnSpc>
                <a:spcPct val="120000"/>
              </a:lnSpc>
              <a:spcAft>
                <a:spcPts val="0"/>
              </a:spcAft>
            </a:pPr>
            <a:r>
              <a:rPr sz="1300" b="0" i="0">
                <a:solidFill>
                  <a:srgbClr val="F7F0E7"/>
                </a:solidFill>
                <a:latin typeface="Segoe UI Semibold"/>
              </a:rPr>
              <a:t>Talks in real time  </a:t>
            </a:r>
            <a:r>
              <a:rPr sz="1200" b="0" i="0">
                <a:solidFill>
                  <a:srgbClr val="C4B2AE"/>
                </a:solidFill>
                <a:latin typeface="Segoe UI"/>
              </a:rPr>
              <a:t>Joins the candidate’s video room as a voice with a living neural avatar.</a:t>
            </a:r>
          </a:p>
        </p:txBody>
      </p:sp>
      <p:sp>
        <p:nvSpPr>
          <p:cNvPr id="11" name="Oval 10"/>
          <p:cNvSpPr/>
          <p:nvPr/>
        </p:nvSpPr>
        <p:spPr>
          <a:xfrm>
            <a:off x="603504" y="3026663"/>
            <a:ext cx="91440" cy="91440"/>
          </a:xfrm>
          <a:prstGeom prst="ellipse">
            <a:avLst/>
          </a:prstGeom>
          <a:solidFill>
            <a:srgbClr val="967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2944368"/>
            <a:ext cx="4846320" cy="640080"/>
          </a:xfrm>
          <a:prstGeom prst="rect">
            <a:avLst/>
          </a:prstGeom>
          <a:noFill/>
        </p:spPr>
        <p:txBody>
          <a:bodyPr wrap="square" lIns="0" rIns="0" tIns="0" bIns="0" anchor="t">
            <a:spAutoFit/>
          </a:bodyPr>
          <a:lstStyle/>
          <a:p>
            <a:pPr algn="l">
              <a:lnSpc>
                <a:spcPct val="120000"/>
              </a:lnSpc>
              <a:spcAft>
                <a:spcPts val="0"/>
              </a:spcAft>
            </a:pPr>
            <a:r>
              <a:rPr sz="1300" b="0" i="0">
                <a:solidFill>
                  <a:srgbClr val="F7F0E7"/>
                </a:solidFill>
                <a:latin typeface="Segoe UI Semibold"/>
              </a:rPr>
              <a:t>Asks what the role needs  </a:t>
            </a:r>
            <a:r>
              <a:rPr sz="1200" b="0" i="0">
                <a:solidFill>
                  <a:srgbClr val="C4B2AE"/>
                </a:solidFill>
                <a:latin typeface="Segoe UI"/>
              </a:rPr>
              <a:t>Questions come from the locked checklist and the recruiter’s question bank.</a:t>
            </a:r>
          </a:p>
        </p:txBody>
      </p:sp>
      <p:sp>
        <p:nvSpPr>
          <p:cNvPr id="13" name="Oval 12"/>
          <p:cNvSpPr/>
          <p:nvPr/>
        </p:nvSpPr>
        <p:spPr>
          <a:xfrm>
            <a:off x="603504" y="3703320"/>
            <a:ext cx="91440" cy="91440"/>
          </a:xfrm>
          <a:prstGeom prst="ellipse">
            <a:avLst/>
          </a:prstGeom>
          <a:solidFill>
            <a:srgbClr val="967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68680" y="3621024"/>
            <a:ext cx="4846320" cy="640080"/>
          </a:xfrm>
          <a:prstGeom prst="rect">
            <a:avLst/>
          </a:prstGeom>
          <a:noFill/>
        </p:spPr>
        <p:txBody>
          <a:bodyPr wrap="square" lIns="0" rIns="0" tIns="0" bIns="0" anchor="t">
            <a:spAutoFit/>
          </a:bodyPr>
          <a:lstStyle/>
          <a:p>
            <a:pPr algn="l">
              <a:lnSpc>
                <a:spcPct val="120000"/>
              </a:lnSpc>
              <a:spcAft>
                <a:spcPts val="0"/>
              </a:spcAft>
            </a:pPr>
            <a:r>
              <a:rPr sz="1300" b="0" i="0">
                <a:solidFill>
                  <a:srgbClr val="F7F0E7"/>
                </a:solidFill>
                <a:latin typeface="Segoe UI Semibold"/>
              </a:rPr>
              <a:t>Listens like a person  </a:t>
            </a:r>
            <a:r>
              <a:rPr sz="1200" b="0" i="0">
                <a:solidFill>
                  <a:srgbClr val="C4B2AE"/>
                </a:solidFill>
                <a:latin typeface="Segoe UI"/>
              </a:rPr>
              <a:t>Waits for real silence, follows up once on a thin answer, answers “can you hear me?”</a:t>
            </a:r>
          </a:p>
        </p:txBody>
      </p:sp>
      <p:sp>
        <p:nvSpPr>
          <p:cNvPr id="15" name="Oval 14"/>
          <p:cNvSpPr/>
          <p:nvPr/>
        </p:nvSpPr>
        <p:spPr>
          <a:xfrm>
            <a:off x="603504" y="4379975"/>
            <a:ext cx="91440" cy="91440"/>
          </a:xfrm>
          <a:prstGeom prst="ellipse">
            <a:avLst/>
          </a:prstGeom>
          <a:solidFill>
            <a:srgbClr val="967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68680" y="4297679"/>
            <a:ext cx="4846320" cy="640080"/>
          </a:xfrm>
          <a:prstGeom prst="rect">
            <a:avLst/>
          </a:prstGeom>
          <a:noFill/>
        </p:spPr>
        <p:txBody>
          <a:bodyPr wrap="square" lIns="0" rIns="0" tIns="0" bIns="0" anchor="t">
            <a:spAutoFit/>
          </a:bodyPr>
          <a:lstStyle/>
          <a:p>
            <a:pPr algn="l">
              <a:lnSpc>
                <a:spcPct val="120000"/>
              </a:lnSpc>
              <a:spcAft>
                <a:spcPts val="0"/>
              </a:spcAft>
            </a:pPr>
            <a:r>
              <a:rPr sz="1300" b="0" i="0">
                <a:solidFill>
                  <a:srgbClr val="F7F0E7"/>
                </a:solidFill>
                <a:latin typeface="Segoe UI Semibold"/>
              </a:rPr>
              <a:t>Never stalls  </a:t>
            </a:r>
            <a:r>
              <a:rPr sz="1200" b="0" i="0">
                <a:solidFill>
                  <a:srgbClr val="C4B2AE"/>
                </a:solidFill>
                <a:latin typeface="Segoe UI"/>
              </a:rPr>
              <a:t>If the language model is slow, it continues from the checklist instead of going quiet.</a:t>
            </a:r>
          </a:p>
        </p:txBody>
      </p:sp>
      <p:sp>
        <p:nvSpPr>
          <p:cNvPr id="17" name="Oval 16"/>
          <p:cNvSpPr/>
          <p:nvPr/>
        </p:nvSpPr>
        <p:spPr>
          <a:xfrm>
            <a:off x="603504" y="5056631"/>
            <a:ext cx="91440" cy="91440"/>
          </a:xfrm>
          <a:prstGeom prst="ellipse">
            <a:avLst/>
          </a:prstGeom>
          <a:solidFill>
            <a:srgbClr val="967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8680" y="4974336"/>
            <a:ext cx="4846320" cy="640080"/>
          </a:xfrm>
          <a:prstGeom prst="rect">
            <a:avLst/>
          </a:prstGeom>
          <a:noFill/>
        </p:spPr>
        <p:txBody>
          <a:bodyPr wrap="square" lIns="0" rIns="0" tIns="0" bIns="0" anchor="t">
            <a:spAutoFit/>
          </a:bodyPr>
          <a:lstStyle/>
          <a:p>
            <a:pPr algn="l">
              <a:lnSpc>
                <a:spcPct val="120000"/>
              </a:lnSpc>
              <a:spcAft>
                <a:spcPts val="0"/>
              </a:spcAft>
            </a:pPr>
            <a:r>
              <a:rPr sz="1300" b="0" i="0">
                <a:solidFill>
                  <a:srgbClr val="F7F0E7"/>
                </a:solidFill>
                <a:latin typeface="Segoe UI Semibold"/>
              </a:rPr>
              <a:t>Finishes the job  </a:t>
            </a:r>
            <a:r>
              <a:rPr sz="1200" b="0" i="0">
                <a:solidFill>
                  <a:srgbClr val="C4B2AE"/>
                </a:solidFill>
                <a:latin typeface="Segoe UI"/>
              </a:rPr>
              <a:t>Hands over to the skill quiz, closes the call, and writes all five reports.</a:t>
            </a:r>
          </a:p>
        </p:txBody>
      </p:sp>
      <p:sp>
        <p:nvSpPr>
          <p:cNvPr id="19" name="Rounded Rectangle 18"/>
          <p:cNvSpPr/>
          <p:nvPr/>
        </p:nvSpPr>
        <p:spPr>
          <a:xfrm>
            <a:off x="566928" y="5779008"/>
            <a:ext cx="1806448" cy="329184"/>
          </a:xfrm>
          <a:prstGeom prst="roundRect">
            <a:avLst>
              <a:gd name="adj" fmla="val 50000"/>
            </a:avLst>
          </a:prstGeom>
          <a:solidFill>
            <a:srgbClr val="98D0AC">
              <a:alpha val="14000"/>
            </a:srgbClr>
          </a:solidFill>
          <a:ln w="9525">
            <a:solidFill>
              <a:srgbClr val="98D0AC">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5779008"/>
            <a:ext cx="1806448" cy="329184"/>
          </a:xfrm>
          <a:prstGeom prst="rect">
            <a:avLst/>
          </a:prstGeom>
          <a:noFill/>
        </p:spPr>
        <p:txBody>
          <a:bodyPr wrap="square" lIns="0" rIns="0" tIns="0" bIns="0" anchor="ctr">
            <a:spAutoFit/>
          </a:bodyPr>
          <a:lstStyle/>
          <a:p>
            <a:pPr algn="ctr">
              <a:lnSpc>
                <a:spcPct val="112000"/>
              </a:lnSpc>
            </a:pPr>
            <a:r>
              <a:rPr sz="1000" b="0" i="0">
                <a:solidFill>
                  <a:srgbClr val="98D0AC"/>
                </a:solidFill>
                <a:latin typeface="Segoe UI Semibold"/>
              </a:rPr>
              <a:t>Groq Whisper · hears</a:t>
            </a:r>
          </a:p>
        </p:txBody>
      </p:sp>
      <p:cxnSp>
        <p:nvCxnSpPr>
          <p:cNvPr id="21" name="Connector 20"/>
          <p:cNvCxnSpPr/>
          <p:nvPr/>
        </p:nvCxnSpPr>
        <p:spPr>
          <a:xfrm>
            <a:off x="2419096" y="5943600"/>
            <a:ext cx="228600" cy="0"/>
          </a:xfrm>
          <a:prstGeom prst="line">
            <a:avLst/>
          </a:prstGeom>
          <a:ln w="15875">
            <a:solidFill>
              <a:srgbClr val="C4B2AE">
                <a:alpha val="60000"/>
              </a:srgbClr>
            </a:solidFill>
            <a:tailEnd type="triangle" w="med" h="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2693416" y="5779008"/>
            <a:ext cx="1450848" cy="329184"/>
          </a:xfrm>
          <a:prstGeom prst="roundRect">
            <a:avLst>
              <a:gd name="adj" fmla="val 50000"/>
            </a:avLst>
          </a:prstGeom>
          <a:solidFill>
            <a:srgbClr val="F3A85C">
              <a:alpha val="14000"/>
            </a:srgbClr>
          </a:solidFill>
          <a:ln w="9525">
            <a:solidFill>
              <a:srgbClr val="F3A85C">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693416" y="5779008"/>
            <a:ext cx="1450848" cy="329184"/>
          </a:xfrm>
          <a:prstGeom prst="rect">
            <a:avLst/>
          </a:prstGeom>
          <a:noFill/>
        </p:spPr>
        <p:txBody>
          <a:bodyPr wrap="square" lIns="0" rIns="0" tIns="0" bIns="0" anchor="ctr">
            <a:spAutoFit/>
          </a:bodyPr>
          <a:lstStyle/>
          <a:p>
            <a:pPr algn="ctr">
              <a:lnSpc>
                <a:spcPct val="112000"/>
              </a:lnSpc>
            </a:pPr>
            <a:r>
              <a:rPr sz="1000" b="0" i="0">
                <a:solidFill>
                  <a:srgbClr val="F3A85C"/>
                </a:solidFill>
                <a:latin typeface="Segoe UI Semibold"/>
              </a:rPr>
              <a:t>Gemini · thinks</a:t>
            </a:r>
          </a:p>
        </p:txBody>
      </p:sp>
      <p:cxnSp>
        <p:nvCxnSpPr>
          <p:cNvPr id="24" name="Connector 23"/>
          <p:cNvCxnSpPr/>
          <p:nvPr/>
        </p:nvCxnSpPr>
        <p:spPr>
          <a:xfrm>
            <a:off x="4189984" y="5943600"/>
            <a:ext cx="228600" cy="0"/>
          </a:xfrm>
          <a:prstGeom prst="line">
            <a:avLst/>
          </a:prstGeom>
          <a:ln w="15875">
            <a:solidFill>
              <a:srgbClr val="C4B2AE">
                <a:alpha val="60000"/>
              </a:srgbClr>
            </a:solidFill>
            <a:tailEnd type="triangle" w="med" h="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464304" y="5779008"/>
            <a:ext cx="1521968" cy="329184"/>
          </a:xfrm>
          <a:prstGeom prst="roundRect">
            <a:avLst>
              <a:gd name="adj" fmla="val 50000"/>
            </a:avLst>
          </a:prstGeom>
          <a:solidFill>
            <a:srgbClr val="9678EB">
              <a:alpha val="14000"/>
            </a:srgbClr>
          </a:solidFill>
          <a:ln w="9525">
            <a:solidFill>
              <a:srgbClr val="9678EB">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64304" y="5779008"/>
            <a:ext cx="1521968" cy="329184"/>
          </a:xfrm>
          <a:prstGeom prst="rect">
            <a:avLst/>
          </a:prstGeom>
          <a:noFill/>
        </p:spPr>
        <p:txBody>
          <a:bodyPr wrap="square" lIns="0" rIns="0" tIns="0" bIns="0" anchor="ctr">
            <a:spAutoFit/>
          </a:bodyPr>
          <a:lstStyle/>
          <a:p>
            <a:pPr algn="ctr">
              <a:lnSpc>
                <a:spcPct val="112000"/>
              </a:lnSpc>
            </a:pPr>
            <a:r>
              <a:rPr sz="1000" b="0" i="0">
                <a:solidFill>
                  <a:srgbClr val="9678EB"/>
                </a:solidFill>
                <a:latin typeface="Segoe UI Semibold"/>
              </a:rPr>
              <a:t>Orpheus · speaks</a:t>
            </a:r>
          </a:p>
        </p:txBody>
      </p:sp>
      <p:sp>
        <p:nvSpPr>
          <p:cNvPr id="27" name="TextBox 26"/>
          <p:cNvSpPr txBox="1"/>
          <p:nvPr/>
        </p:nvSpPr>
        <p:spPr>
          <a:xfrm>
            <a:off x="7315200" y="6053328"/>
            <a:ext cx="4325112" cy="274320"/>
          </a:xfrm>
          <a:prstGeom prst="rect">
            <a:avLst/>
          </a:prstGeom>
          <a:noFill/>
        </p:spPr>
        <p:txBody>
          <a:bodyPr wrap="square" lIns="0" rIns="0" tIns="0" bIns="0" anchor="t">
            <a:spAutoFit/>
          </a:bodyPr>
          <a:lstStyle/>
          <a:p>
            <a:pPr algn="r">
              <a:lnSpc>
                <a:spcPct val="112000"/>
              </a:lnSpc>
            </a:pPr>
            <a:r>
              <a:rPr sz="1000" b="0" i="0">
                <a:solidFill>
                  <a:srgbClr val="8C7A78"/>
                </a:solidFill>
                <a:latin typeface="Segoe UI"/>
              </a:rPr>
              <a:t>Live AI interviewer room  ·  the avatar reacts as it speaks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ros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6419088"/>
            <a:ext cx="2743200" cy="228600"/>
          </a:xfrm>
          <a:prstGeom prst="rect">
            <a:avLst/>
          </a:prstGeom>
          <a:noFill/>
        </p:spPr>
        <p:txBody>
          <a:bodyPr wrap="square" lIns="0" rIns="0" tIns="0" bIns="0" anchor="t">
            <a:spAutoFit/>
          </a:bodyPr>
          <a:lstStyle/>
          <a:p>
            <a:pPr algn="l">
              <a:lnSpc>
                <a:spcPct val="112000"/>
              </a:lnSpc>
            </a:pPr>
            <a:r>
              <a:rPr sz="900" b="0" i="0" spc="400">
                <a:solidFill>
                  <a:srgbClr val="8C7A78"/>
                </a:solidFill>
                <a:latin typeface="Segoe UI Semibold"/>
              </a:rPr>
              <a:t>SIFT</a:t>
            </a:r>
          </a:p>
        </p:txBody>
      </p:sp>
      <p:sp>
        <p:nvSpPr>
          <p:cNvPr id="4" name="TextBox 3"/>
          <p:cNvSpPr txBox="1"/>
          <p:nvPr/>
        </p:nvSpPr>
        <p:spPr>
          <a:xfrm>
            <a:off x="9784080" y="6419088"/>
            <a:ext cx="1856231" cy="228600"/>
          </a:xfrm>
          <a:prstGeom prst="rect">
            <a:avLst/>
          </a:prstGeom>
          <a:noFill/>
        </p:spPr>
        <p:txBody>
          <a:bodyPr wrap="square" lIns="0" rIns="0" tIns="0" bIns="0" anchor="t">
            <a:spAutoFit/>
          </a:bodyPr>
          <a:lstStyle/>
          <a:p>
            <a:pPr algn="r">
              <a:lnSpc>
                <a:spcPct val="112000"/>
              </a:lnSpc>
            </a:pPr>
            <a:r>
              <a:rPr sz="900" b="0" i="0" spc="200">
                <a:solidFill>
                  <a:srgbClr val="8C7A78"/>
                </a:solidFill>
                <a:latin typeface="Segoe UI Semibold"/>
              </a:rPr>
              <a:t>07 / 19</a:t>
            </a:r>
          </a:p>
        </p:txBody>
      </p:sp>
      <p:sp>
        <p:nvSpPr>
          <p:cNvPr id="5" name="Rectangle 4"/>
          <p:cNvSpPr/>
          <p:nvPr/>
        </p:nvSpPr>
        <p:spPr>
          <a:xfrm>
            <a:off x="566928" y="566928"/>
            <a:ext cx="292608" cy="41148"/>
          </a:xfrm>
          <a:prstGeom prst="rect">
            <a:avLst/>
          </a:prstGeom>
          <a:solidFill>
            <a:srgbClr val="DB84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69264" y="457200"/>
            <a:ext cx="8229600" cy="274320"/>
          </a:xfrm>
          <a:prstGeom prst="rect">
            <a:avLst/>
          </a:prstGeom>
          <a:noFill/>
        </p:spPr>
        <p:txBody>
          <a:bodyPr wrap="square" lIns="0" rIns="0" tIns="0" bIns="0" anchor="t">
            <a:spAutoFit/>
          </a:bodyPr>
          <a:lstStyle/>
          <a:p>
            <a:pPr algn="l">
              <a:lnSpc>
                <a:spcPct val="112000"/>
              </a:lnSpc>
            </a:pPr>
            <a:r>
              <a:rPr sz="1100" b="0" i="0" spc="320">
                <a:solidFill>
                  <a:srgbClr val="DB8492"/>
                </a:solidFill>
                <a:latin typeface="Segoe UI Semibold"/>
              </a:rPr>
              <a:t>INNOVATION  ·  THE TRUST LAYER</a:t>
            </a:r>
          </a:p>
        </p:txBody>
      </p:sp>
      <p:sp>
        <p:nvSpPr>
          <p:cNvPr id="7" name="TextBox 6"/>
          <p:cNvSpPr txBox="1"/>
          <p:nvPr/>
        </p:nvSpPr>
        <p:spPr>
          <a:xfrm>
            <a:off x="548640" y="786384"/>
            <a:ext cx="6035040" cy="1463040"/>
          </a:xfrm>
          <a:prstGeom prst="rect">
            <a:avLst/>
          </a:prstGeom>
          <a:noFill/>
        </p:spPr>
        <p:txBody>
          <a:bodyPr wrap="square" lIns="0" rIns="0" tIns="0" bIns="0" anchor="t">
            <a:spAutoFit/>
          </a:bodyPr>
          <a:lstStyle/>
          <a:p>
            <a:pPr algn="l">
              <a:lnSpc>
                <a:spcPct val="102000"/>
              </a:lnSpc>
            </a:pPr>
            <a:r>
              <a:rPr sz="3800" b="0" i="0">
                <a:solidFill>
                  <a:srgbClr val="F7F0E7"/>
                </a:solidFill>
                <a:latin typeface="Georgia"/>
              </a:rPr>
              <a:t>Is this the right person,</a:t>
            </a:r>
          </a:p>
          <a:p>
            <a:pPr algn="l">
              <a:lnSpc>
                <a:spcPct val="102000"/>
              </a:lnSpc>
            </a:pPr>
            <a:r>
              <a:rPr sz="3800" b="0" i="0">
                <a:solidFill>
                  <a:srgbClr val="F7F0E7"/>
                </a:solidFill>
                <a:latin typeface="Georgia"/>
              </a:rPr>
              <a:t>and is it true?</a:t>
            </a:r>
          </a:p>
        </p:txBody>
      </p:sp>
      <p:sp>
        <p:nvSpPr>
          <p:cNvPr id="8" name="Rounded Rectangle 7"/>
          <p:cNvSpPr/>
          <p:nvPr/>
        </p:nvSpPr>
        <p:spPr>
          <a:xfrm>
            <a:off x="566928" y="2286000"/>
            <a:ext cx="5486400" cy="1051560"/>
          </a:xfrm>
          <a:prstGeom prst="roundRect">
            <a:avLst>
              <a:gd name="adj" fmla="val 13913"/>
            </a:avLst>
          </a:prstGeom>
          <a:solidFill>
            <a:srgbClr val="F3A85C">
              <a:alpha val="7000"/>
            </a:srgbClr>
          </a:solidFill>
          <a:ln w="9525">
            <a:solidFill>
              <a:srgbClr val="F3A85C">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60" y="2432304"/>
            <a:ext cx="5029200" cy="365760"/>
          </a:xfrm>
          <a:prstGeom prst="rect">
            <a:avLst/>
          </a:prstGeom>
          <a:noFill/>
        </p:spPr>
        <p:txBody>
          <a:bodyPr wrap="square" lIns="0" rIns="0" tIns="0" bIns="0" anchor="t">
            <a:spAutoFit/>
          </a:bodyPr>
          <a:lstStyle/>
          <a:p>
            <a:pPr algn="l">
              <a:lnSpc>
                <a:spcPct val="112000"/>
              </a:lnSpc>
            </a:pPr>
            <a:r>
              <a:rPr sz="1450" b="0" i="0">
                <a:solidFill>
                  <a:srgbClr val="F3A85C"/>
                </a:solidFill>
                <a:latin typeface="Segoe UI Semibold"/>
              </a:rPr>
              <a:t>Face identity check</a:t>
            </a:r>
          </a:p>
        </p:txBody>
      </p:sp>
      <p:sp>
        <p:nvSpPr>
          <p:cNvPr id="10" name="TextBox 9"/>
          <p:cNvSpPr txBox="1"/>
          <p:nvPr/>
        </p:nvSpPr>
        <p:spPr>
          <a:xfrm>
            <a:off x="822960" y="2761488"/>
            <a:ext cx="5029200" cy="548640"/>
          </a:xfrm>
          <a:prstGeom prst="rect">
            <a:avLst/>
          </a:prstGeom>
          <a:noFill/>
        </p:spPr>
        <p:txBody>
          <a:bodyPr wrap="square" lIns="0" rIns="0" tIns="0" bIns="0" anchor="t">
            <a:spAutoFit/>
          </a:bodyPr>
          <a:lstStyle/>
          <a:p>
            <a:pPr algn="l">
              <a:lnSpc>
                <a:spcPct val="120000"/>
              </a:lnSpc>
            </a:pPr>
            <a:r>
              <a:rPr sz="1150" b="0" i="0">
                <a:solidFill>
                  <a:srgbClr val="C4B2AE"/>
                </a:solidFill>
                <a:latin typeface="Segoe UI"/>
              </a:rPr>
              <a:t>After the candidate agrees, three camera frames are matched against the photo on their CV. A recruiter can still let them in.</a:t>
            </a:r>
          </a:p>
        </p:txBody>
      </p:sp>
      <p:sp>
        <p:nvSpPr>
          <p:cNvPr id="11" name="Rounded Rectangle 10"/>
          <p:cNvSpPr/>
          <p:nvPr/>
        </p:nvSpPr>
        <p:spPr>
          <a:xfrm>
            <a:off x="566928" y="3493008"/>
            <a:ext cx="5486400" cy="1051560"/>
          </a:xfrm>
          <a:prstGeom prst="roundRect">
            <a:avLst>
              <a:gd name="adj" fmla="val 13913"/>
            </a:avLst>
          </a:prstGeom>
          <a:solidFill>
            <a:srgbClr val="DB8492">
              <a:alpha val="7000"/>
            </a:srgbClr>
          </a:solidFill>
          <a:ln w="9525">
            <a:solidFill>
              <a:srgbClr val="DB8492">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60" y="3639312"/>
            <a:ext cx="5029200" cy="365760"/>
          </a:xfrm>
          <a:prstGeom prst="rect">
            <a:avLst/>
          </a:prstGeom>
          <a:noFill/>
        </p:spPr>
        <p:txBody>
          <a:bodyPr wrap="square" lIns="0" rIns="0" tIns="0" bIns="0" anchor="t">
            <a:spAutoFit/>
          </a:bodyPr>
          <a:lstStyle/>
          <a:p>
            <a:pPr algn="l">
              <a:lnSpc>
                <a:spcPct val="112000"/>
              </a:lnSpc>
            </a:pPr>
            <a:r>
              <a:rPr sz="1450" b="0" i="0">
                <a:solidFill>
                  <a:srgbClr val="DB8492"/>
                </a:solidFill>
                <a:latin typeface="Segoe UI Semibold"/>
              </a:rPr>
              <a:t>Claims cross-check</a:t>
            </a:r>
          </a:p>
        </p:txBody>
      </p:sp>
      <p:sp>
        <p:nvSpPr>
          <p:cNvPr id="13" name="TextBox 12"/>
          <p:cNvSpPr txBox="1"/>
          <p:nvPr/>
        </p:nvSpPr>
        <p:spPr>
          <a:xfrm>
            <a:off x="822960" y="3968496"/>
            <a:ext cx="5029200" cy="548640"/>
          </a:xfrm>
          <a:prstGeom prst="rect">
            <a:avLst/>
          </a:prstGeom>
          <a:noFill/>
        </p:spPr>
        <p:txBody>
          <a:bodyPr wrap="square" lIns="0" rIns="0" tIns="0" bIns="0" anchor="t">
            <a:spAutoFit/>
          </a:bodyPr>
          <a:lstStyle/>
          <a:p>
            <a:pPr algn="l">
              <a:lnSpc>
                <a:spcPct val="120000"/>
              </a:lnSpc>
            </a:pPr>
            <a:r>
              <a:rPr sz="1150" b="0" i="0">
                <a:solidFill>
                  <a:srgbClr val="C4B2AE"/>
                </a:solidFill>
                <a:latin typeface="Segoe UI"/>
              </a:rPr>
              <a:t>Every spoken answer is compared with what the CV claims. Contradictions are flagged with the checklist item they touch.</a:t>
            </a:r>
          </a:p>
        </p:txBody>
      </p:sp>
      <p:sp>
        <p:nvSpPr>
          <p:cNvPr id="14" name="Rounded Rectangle 13"/>
          <p:cNvSpPr/>
          <p:nvPr/>
        </p:nvSpPr>
        <p:spPr>
          <a:xfrm>
            <a:off x="566928" y="4700016"/>
            <a:ext cx="5486400" cy="1051560"/>
          </a:xfrm>
          <a:prstGeom prst="roundRect">
            <a:avLst>
              <a:gd name="adj" fmla="val 13913"/>
            </a:avLst>
          </a:prstGeom>
          <a:solidFill>
            <a:srgbClr val="98D0AC">
              <a:alpha val="7000"/>
            </a:srgbClr>
          </a:solidFill>
          <a:ln w="9525">
            <a:solidFill>
              <a:srgbClr val="98D0AC">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60" y="4846320"/>
            <a:ext cx="5029200" cy="365760"/>
          </a:xfrm>
          <a:prstGeom prst="rect">
            <a:avLst/>
          </a:prstGeom>
          <a:noFill/>
        </p:spPr>
        <p:txBody>
          <a:bodyPr wrap="square" lIns="0" rIns="0" tIns="0" bIns="0" anchor="t">
            <a:spAutoFit/>
          </a:bodyPr>
          <a:lstStyle/>
          <a:p>
            <a:pPr algn="l">
              <a:lnSpc>
                <a:spcPct val="112000"/>
              </a:lnSpc>
            </a:pPr>
            <a:r>
              <a:rPr sz="1450" b="0" i="0">
                <a:solidFill>
                  <a:srgbClr val="98D0AC"/>
                </a:solidFill>
                <a:latin typeface="Segoe UI Semibold"/>
              </a:rPr>
              <a:t>Messenger-style transcript</a:t>
            </a:r>
          </a:p>
        </p:txBody>
      </p:sp>
      <p:sp>
        <p:nvSpPr>
          <p:cNvPr id="16" name="TextBox 15"/>
          <p:cNvSpPr txBox="1"/>
          <p:nvPr/>
        </p:nvSpPr>
        <p:spPr>
          <a:xfrm>
            <a:off x="822960" y="5175504"/>
            <a:ext cx="5029200" cy="548640"/>
          </a:xfrm>
          <a:prstGeom prst="rect">
            <a:avLst/>
          </a:prstGeom>
          <a:noFill/>
        </p:spPr>
        <p:txBody>
          <a:bodyPr wrap="square" lIns="0" rIns="0" tIns="0" bIns="0" anchor="t">
            <a:spAutoFit/>
          </a:bodyPr>
          <a:lstStyle/>
          <a:p>
            <a:pPr algn="l">
              <a:lnSpc>
                <a:spcPct val="120000"/>
              </a:lnSpc>
            </a:pPr>
            <a:r>
              <a:rPr sz="1150" b="0" i="0">
                <a:solidFill>
                  <a:srgbClr val="C4B2AE"/>
                </a:solidFill>
                <a:latin typeface="Segoe UI"/>
              </a:rPr>
              <a:t>Recruiter on the right, candidate on the left, saved line by line for every report.</a:t>
            </a:r>
          </a:p>
        </p:txBody>
      </p:sp>
      <p:pic>
        <p:nvPicPr>
          <p:cNvPr id="17" name="Picture 16" descr="frame_trust.png"/>
          <p:cNvPicPr>
            <a:picLocks noChangeAspect="1"/>
          </p:cNvPicPr>
          <p:nvPr/>
        </p:nvPicPr>
        <p:blipFill>
          <a:blip r:embed="rId3"/>
          <a:stretch>
            <a:fillRect/>
          </a:stretch>
        </p:blipFill>
        <p:spPr>
          <a:xfrm>
            <a:off x="6373368" y="841247"/>
            <a:ext cx="5495544" cy="5177715"/>
          </a:xfrm>
          <a:prstGeom prst="rect">
            <a:avLst/>
          </a:prstGeom>
        </p:spPr>
      </p:pic>
      <p:sp>
        <p:nvSpPr>
          <p:cNvPr id="18" name="Rounded Rectangle 17"/>
          <p:cNvSpPr/>
          <p:nvPr/>
        </p:nvSpPr>
        <p:spPr>
          <a:xfrm>
            <a:off x="8778240" y="5989320"/>
            <a:ext cx="2834640" cy="347472"/>
          </a:xfrm>
          <a:prstGeom prst="roundRect">
            <a:avLst>
              <a:gd name="adj" fmla="val 50000"/>
            </a:avLst>
          </a:prstGeom>
          <a:solidFill>
            <a:srgbClr val="F3A85C">
              <a:alpha val="14000"/>
            </a:srgbClr>
          </a:solidFill>
          <a:ln w="9525">
            <a:solidFill>
              <a:srgbClr val="F3A85C">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78240" y="5989320"/>
            <a:ext cx="2834640" cy="347472"/>
          </a:xfrm>
          <a:prstGeom prst="rect">
            <a:avLst/>
          </a:prstGeom>
          <a:noFill/>
        </p:spPr>
        <p:txBody>
          <a:bodyPr wrap="square" lIns="0" rIns="0" tIns="0" bIns="0" anchor="ctr">
            <a:spAutoFit/>
          </a:bodyPr>
          <a:lstStyle/>
          <a:p>
            <a:pPr algn="ctr">
              <a:lnSpc>
                <a:spcPct val="112000"/>
              </a:lnSpc>
            </a:pPr>
            <a:r>
              <a:rPr sz="1050" b="0" i="0">
                <a:solidFill>
                  <a:srgbClr val="F3A85C"/>
                </a:solidFill>
                <a:latin typeface="Segoe UI Semibold"/>
              </a:rPr>
              <a:t>Likeness 62%  ·  they can join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566928"/>
            <a:ext cx="292608" cy="41148"/>
          </a:xfrm>
          <a:prstGeom prst="rect">
            <a:avLst/>
          </a:prstGeom>
          <a:solidFill>
            <a:srgbClr val="F3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457200"/>
            <a:ext cx="8229600" cy="274320"/>
          </a:xfrm>
          <a:prstGeom prst="rect">
            <a:avLst/>
          </a:prstGeom>
          <a:noFill/>
        </p:spPr>
        <p:txBody>
          <a:bodyPr wrap="square" lIns="0" rIns="0" tIns="0" bIns="0" anchor="t">
            <a:spAutoFit/>
          </a:bodyPr>
          <a:lstStyle/>
          <a:p>
            <a:pPr algn="l">
              <a:lnSpc>
                <a:spcPct val="112000"/>
              </a:lnSpc>
            </a:pPr>
            <a:r>
              <a:rPr sz="1100" b="0" i="0" spc="320">
                <a:solidFill>
                  <a:srgbClr val="F3A85C"/>
                </a:solidFill>
                <a:latin typeface="Segoe UI Semibold"/>
              </a:rPr>
              <a:t>06  ·  SYSTEM ARCHITECTURE</a:t>
            </a:r>
          </a:p>
        </p:txBody>
      </p:sp>
      <p:sp>
        <p:nvSpPr>
          <p:cNvPr id="5" name="TextBox 4"/>
          <p:cNvSpPr txBox="1"/>
          <p:nvPr/>
        </p:nvSpPr>
        <p:spPr>
          <a:xfrm>
            <a:off x="566928" y="6419088"/>
            <a:ext cx="2743200" cy="228600"/>
          </a:xfrm>
          <a:prstGeom prst="rect">
            <a:avLst/>
          </a:prstGeom>
          <a:noFill/>
        </p:spPr>
        <p:txBody>
          <a:bodyPr wrap="square" lIns="0" rIns="0" tIns="0" bIns="0" anchor="t">
            <a:spAutoFit/>
          </a:bodyPr>
          <a:lstStyle/>
          <a:p>
            <a:pPr algn="l">
              <a:lnSpc>
                <a:spcPct val="112000"/>
              </a:lnSpc>
            </a:pPr>
            <a:r>
              <a:rPr sz="900" b="0" i="0" spc="400">
                <a:solidFill>
                  <a:srgbClr val="8C7A78"/>
                </a:solidFill>
                <a:latin typeface="Segoe UI Semibold"/>
              </a:rPr>
              <a:t>SIFT</a:t>
            </a:r>
          </a:p>
        </p:txBody>
      </p:sp>
      <p:sp>
        <p:nvSpPr>
          <p:cNvPr id="6" name="TextBox 5"/>
          <p:cNvSpPr txBox="1"/>
          <p:nvPr/>
        </p:nvSpPr>
        <p:spPr>
          <a:xfrm>
            <a:off x="9784080" y="6419088"/>
            <a:ext cx="1856231" cy="228600"/>
          </a:xfrm>
          <a:prstGeom prst="rect">
            <a:avLst/>
          </a:prstGeom>
          <a:noFill/>
        </p:spPr>
        <p:txBody>
          <a:bodyPr wrap="square" lIns="0" rIns="0" tIns="0" bIns="0" anchor="t">
            <a:spAutoFit/>
          </a:bodyPr>
          <a:lstStyle/>
          <a:p>
            <a:pPr algn="r">
              <a:lnSpc>
                <a:spcPct val="112000"/>
              </a:lnSpc>
            </a:pPr>
            <a:r>
              <a:rPr sz="900" b="0" i="0" spc="200">
                <a:solidFill>
                  <a:srgbClr val="8C7A78"/>
                </a:solidFill>
                <a:latin typeface="Segoe UI Semibold"/>
              </a:rPr>
              <a:t>08 / 19</a:t>
            </a:r>
          </a:p>
        </p:txBody>
      </p:sp>
      <p:sp>
        <p:nvSpPr>
          <p:cNvPr id="7" name="TextBox 6"/>
          <p:cNvSpPr txBox="1"/>
          <p:nvPr/>
        </p:nvSpPr>
        <p:spPr>
          <a:xfrm>
            <a:off x="548640" y="786384"/>
            <a:ext cx="5303520" cy="914400"/>
          </a:xfrm>
          <a:prstGeom prst="rect">
            <a:avLst/>
          </a:prstGeom>
          <a:noFill/>
        </p:spPr>
        <p:txBody>
          <a:bodyPr wrap="square" lIns="0" rIns="0" tIns="0" bIns="0" anchor="t">
            <a:spAutoFit/>
          </a:bodyPr>
          <a:lstStyle/>
          <a:p>
            <a:pPr algn="l">
              <a:lnSpc>
                <a:spcPct val="112000"/>
              </a:lnSpc>
            </a:pPr>
            <a:r>
              <a:rPr sz="3800" b="0" i="0">
                <a:solidFill>
                  <a:srgbClr val="F7F0E7"/>
                </a:solidFill>
                <a:latin typeface="Georgia"/>
              </a:rPr>
              <a:t>The big picture</a:t>
            </a:r>
          </a:p>
        </p:txBody>
      </p:sp>
      <p:pic>
        <p:nvPicPr>
          <p:cNvPr id="8" name="Picture 7" descr="frame_arch_high_level.png"/>
          <p:cNvPicPr>
            <a:picLocks noChangeAspect="1"/>
          </p:cNvPicPr>
          <p:nvPr/>
        </p:nvPicPr>
        <p:blipFill>
          <a:blip r:embed="rId3"/>
          <a:stretch>
            <a:fillRect/>
          </a:stretch>
        </p:blipFill>
        <p:spPr>
          <a:xfrm>
            <a:off x="5852159" y="310896"/>
            <a:ext cx="6044183" cy="6104856"/>
          </a:xfrm>
          <a:prstGeom prst="rect">
            <a:avLst/>
          </a:prstGeom>
        </p:spPr>
      </p:pic>
      <p:sp>
        <p:nvSpPr>
          <p:cNvPr id="9" name="TextBox 8"/>
          <p:cNvSpPr txBox="1"/>
          <p:nvPr/>
        </p:nvSpPr>
        <p:spPr>
          <a:xfrm>
            <a:off x="566928" y="1828800"/>
            <a:ext cx="5074920" cy="1005840"/>
          </a:xfrm>
          <a:prstGeom prst="rect">
            <a:avLst/>
          </a:prstGeom>
          <a:noFill/>
        </p:spPr>
        <p:txBody>
          <a:bodyPr wrap="square" lIns="0" rIns="0" tIns="0" bIns="0" anchor="t">
            <a:spAutoFit/>
          </a:bodyPr>
          <a:lstStyle/>
          <a:p>
            <a:pPr algn="l">
              <a:lnSpc>
                <a:spcPct val="130000"/>
              </a:lnSpc>
            </a:pPr>
            <a:r>
              <a:rPr sz="1500" b="0" i="0">
                <a:solidFill>
                  <a:srgbClr val="F7F0E7"/>
                </a:solidFill>
                <a:latin typeface="Segoe UI"/>
              </a:rPr>
              <a:t>Two people, one web app, and one backend that carries every candidate through three stages.</a:t>
            </a:r>
          </a:p>
        </p:txBody>
      </p:sp>
      <p:sp>
        <p:nvSpPr>
          <p:cNvPr id="10" name="Oval 9"/>
          <p:cNvSpPr/>
          <p:nvPr/>
        </p:nvSpPr>
        <p:spPr>
          <a:xfrm>
            <a:off x="566928" y="3054096"/>
            <a:ext cx="402336" cy="402336"/>
          </a:xfrm>
          <a:prstGeom prst="ellipse">
            <a:avLst/>
          </a:prstGeom>
          <a:solidFill>
            <a:srgbClr val="F3A85C">
              <a:alpha val="16000"/>
            </a:srgbClr>
          </a:solidFill>
          <a:ln w="9525">
            <a:solidFill>
              <a:srgbClr val="F3A85C">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6928" y="3054096"/>
            <a:ext cx="402336" cy="402336"/>
          </a:xfrm>
          <a:prstGeom prst="rect">
            <a:avLst/>
          </a:prstGeom>
          <a:noFill/>
        </p:spPr>
        <p:txBody>
          <a:bodyPr wrap="square" lIns="0" rIns="0" tIns="0" bIns="0" anchor="ctr">
            <a:spAutoFit/>
          </a:bodyPr>
          <a:lstStyle/>
          <a:p>
            <a:pPr algn="ctr">
              <a:lnSpc>
                <a:spcPct val="112000"/>
              </a:lnSpc>
            </a:pPr>
            <a:r>
              <a:rPr sz="1300" b="0" i="0">
                <a:solidFill>
                  <a:srgbClr val="F3A85C"/>
                </a:solidFill>
                <a:latin typeface="Segoe UI Semibold"/>
              </a:rPr>
              <a:t>1</a:t>
            </a:r>
          </a:p>
        </p:txBody>
      </p:sp>
      <p:sp>
        <p:nvSpPr>
          <p:cNvPr id="12" name="TextBox 11"/>
          <p:cNvSpPr txBox="1"/>
          <p:nvPr/>
        </p:nvSpPr>
        <p:spPr>
          <a:xfrm>
            <a:off x="1188720" y="3017520"/>
            <a:ext cx="4480560" cy="320040"/>
          </a:xfrm>
          <a:prstGeom prst="rect">
            <a:avLst/>
          </a:prstGeom>
          <a:noFill/>
        </p:spPr>
        <p:txBody>
          <a:bodyPr wrap="square" lIns="0" rIns="0" tIns="0" bIns="0" anchor="t">
            <a:spAutoFit/>
          </a:bodyPr>
          <a:lstStyle/>
          <a:p>
            <a:pPr algn="l">
              <a:lnSpc>
                <a:spcPct val="112000"/>
              </a:lnSpc>
            </a:pPr>
            <a:r>
              <a:rPr sz="1400" b="0" i="0">
                <a:solidFill>
                  <a:srgbClr val="F7F0E7"/>
                </a:solidFill>
                <a:latin typeface="Segoe UI Semibold"/>
              </a:rPr>
              <a:t>Pre-interview</a:t>
            </a:r>
          </a:p>
        </p:txBody>
      </p:sp>
      <p:sp>
        <p:nvSpPr>
          <p:cNvPr id="13" name="TextBox 12"/>
          <p:cNvSpPr txBox="1"/>
          <p:nvPr/>
        </p:nvSpPr>
        <p:spPr>
          <a:xfrm>
            <a:off x="1188720" y="3346703"/>
            <a:ext cx="4480560" cy="502920"/>
          </a:xfrm>
          <a:prstGeom prst="rect">
            <a:avLst/>
          </a:prstGeom>
          <a:noFill/>
        </p:spPr>
        <p:txBody>
          <a:bodyPr wrap="square" lIns="0" rIns="0" tIns="0" bIns="0" anchor="t">
            <a:spAutoFit/>
          </a:bodyPr>
          <a:lstStyle/>
          <a:p>
            <a:pPr algn="l">
              <a:lnSpc>
                <a:spcPct val="120000"/>
              </a:lnSpc>
            </a:pPr>
            <a:r>
              <a:rPr sz="1100" b="0" i="0">
                <a:solidFill>
                  <a:srgbClr val="C4B2AE"/>
                </a:solidFill>
                <a:latin typeface="Segoe UI"/>
              </a:rPr>
              <a:t>Policy, job post, and CV intake, then checklist scoring, ranking, and the shortlist.</a:t>
            </a:r>
          </a:p>
        </p:txBody>
      </p:sp>
      <p:sp>
        <p:nvSpPr>
          <p:cNvPr id="14" name="Oval 13"/>
          <p:cNvSpPr/>
          <p:nvPr/>
        </p:nvSpPr>
        <p:spPr>
          <a:xfrm>
            <a:off x="566928" y="3922776"/>
            <a:ext cx="402336" cy="402336"/>
          </a:xfrm>
          <a:prstGeom prst="ellipse">
            <a:avLst/>
          </a:prstGeom>
          <a:solidFill>
            <a:srgbClr val="9678EB">
              <a:alpha val="16000"/>
            </a:srgbClr>
          </a:solidFill>
          <a:ln w="9525">
            <a:solidFill>
              <a:srgbClr val="9678E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3922776"/>
            <a:ext cx="402336" cy="402336"/>
          </a:xfrm>
          <a:prstGeom prst="rect">
            <a:avLst/>
          </a:prstGeom>
          <a:noFill/>
        </p:spPr>
        <p:txBody>
          <a:bodyPr wrap="square" lIns="0" rIns="0" tIns="0" bIns="0" anchor="ctr">
            <a:spAutoFit/>
          </a:bodyPr>
          <a:lstStyle/>
          <a:p>
            <a:pPr algn="ctr">
              <a:lnSpc>
                <a:spcPct val="112000"/>
              </a:lnSpc>
            </a:pPr>
            <a:r>
              <a:rPr sz="1300" b="0" i="0">
                <a:solidFill>
                  <a:srgbClr val="9678EB"/>
                </a:solidFill>
                <a:latin typeface="Segoe UI Semibold"/>
              </a:rPr>
              <a:t>2</a:t>
            </a:r>
          </a:p>
        </p:txBody>
      </p:sp>
      <p:sp>
        <p:nvSpPr>
          <p:cNvPr id="16" name="TextBox 15"/>
          <p:cNvSpPr txBox="1"/>
          <p:nvPr/>
        </p:nvSpPr>
        <p:spPr>
          <a:xfrm>
            <a:off x="1188720" y="3886200"/>
            <a:ext cx="4480560" cy="320040"/>
          </a:xfrm>
          <a:prstGeom prst="rect">
            <a:avLst/>
          </a:prstGeom>
          <a:noFill/>
        </p:spPr>
        <p:txBody>
          <a:bodyPr wrap="square" lIns="0" rIns="0" tIns="0" bIns="0" anchor="t">
            <a:spAutoFit/>
          </a:bodyPr>
          <a:lstStyle/>
          <a:p>
            <a:pPr algn="l">
              <a:lnSpc>
                <a:spcPct val="112000"/>
              </a:lnSpc>
            </a:pPr>
            <a:r>
              <a:rPr sz="1400" b="0" i="0">
                <a:solidFill>
                  <a:srgbClr val="F7F0E7"/>
                </a:solidFill>
                <a:latin typeface="Segoe UI Semibold"/>
              </a:rPr>
              <a:t>Live interview</a:t>
            </a:r>
          </a:p>
        </p:txBody>
      </p:sp>
      <p:sp>
        <p:nvSpPr>
          <p:cNvPr id="17" name="TextBox 16"/>
          <p:cNvSpPr txBox="1"/>
          <p:nvPr/>
        </p:nvSpPr>
        <p:spPr>
          <a:xfrm>
            <a:off x="1188720" y="4215384"/>
            <a:ext cx="4480560" cy="502920"/>
          </a:xfrm>
          <a:prstGeom prst="rect">
            <a:avLst/>
          </a:prstGeom>
          <a:noFill/>
        </p:spPr>
        <p:txBody>
          <a:bodyPr wrap="square" lIns="0" rIns="0" tIns="0" bIns="0" anchor="t">
            <a:spAutoFit/>
          </a:bodyPr>
          <a:lstStyle/>
          <a:p>
            <a:pPr algn="l">
              <a:lnSpc>
                <a:spcPct val="120000"/>
              </a:lnSpc>
            </a:pPr>
            <a:r>
              <a:rPr sz="1100" b="0" i="0">
                <a:solidFill>
                  <a:srgbClr val="C4B2AE"/>
                </a:solidFill>
                <a:latin typeface="Segoe UI"/>
              </a:rPr>
              <a:t>Invitation, face check, and admission, then the AI video interview, transcript, and quiz.</a:t>
            </a:r>
          </a:p>
        </p:txBody>
      </p:sp>
      <p:sp>
        <p:nvSpPr>
          <p:cNvPr id="18" name="Oval 17"/>
          <p:cNvSpPr/>
          <p:nvPr/>
        </p:nvSpPr>
        <p:spPr>
          <a:xfrm>
            <a:off x="566928" y="4791455"/>
            <a:ext cx="402336" cy="402336"/>
          </a:xfrm>
          <a:prstGeom prst="ellipse">
            <a:avLst/>
          </a:prstGeom>
          <a:solidFill>
            <a:srgbClr val="98D0AC">
              <a:alpha val="16000"/>
            </a:srgbClr>
          </a:solidFill>
          <a:ln w="9525">
            <a:solidFill>
              <a:srgbClr val="98D0AC">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4791455"/>
            <a:ext cx="402336" cy="402336"/>
          </a:xfrm>
          <a:prstGeom prst="rect">
            <a:avLst/>
          </a:prstGeom>
          <a:noFill/>
        </p:spPr>
        <p:txBody>
          <a:bodyPr wrap="square" lIns="0" rIns="0" tIns="0" bIns="0" anchor="ctr">
            <a:spAutoFit/>
          </a:bodyPr>
          <a:lstStyle/>
          <a:p>
            <a:pPr algn="ctr">
              <a:lnSpc>
                <a:spcPct val="112000"/>
              </a:lnSpc>
            </a:pPr>
            <a:r>
              <a:rPr sz="1300" b="0" i="0">
                <a:solidFill>
                  <a:srgbClr val="98D0AC"/>
                </a:solidFill>
                <a:latin typeface="Segoe UI Semibold"/>
              </a:rPr>
              <a:t>3</a:t>
            </a:r>
          </a:p>
        </p:txBody>
      </p:sp>
      <p:sp>
        <p:nvSpPr>
          <p:cNvPr id="20" name="TextBox 19"/>
          <p:cNvSpPr txBox="1"/>
          <p:nvPr/>
        </p:nvSpPr>
        <p:spPr>
          <a:xfrm>
            <a:off x="1188720" y="4754879"/>
            <a:ext cx="4480560" cy="320040"/>
          </a:xfrm>
          <a:prstGeom prst="rect">
            <a:avLst/>
          </a:prstGeom>
          <a:noFill/>
        </p:spPr>
        <p:txBody>
          <a:bodyPr wrap="square" lIns="0" rIns="0" tIns="0" bIns="0" anchor="t">
            <a:spAutoFit/>
          </a:bodyPr>
          <a:lstStyle/>
          <a:p>
            <a:pPr algn="l">
              <a:lnSpc>
                <a:spcPct val="112000"/>
              </a:lnSpc>
            </a:pPr>
            <a:r>
              <a:rPr sz="1400" b="0" i="0">
                <a:solidFill>
                  <a:srgbClr val="F7F0E7"/>
                </a:solidFill>
                <a:latin typeface="Segoe UI Semibold"/>
              </a:rPr>
              <a:t>Post-interview</a:t>
            </a:r>
          </a:p>
        </p:txBody>
      </p:sp>
      <p:sp>
        <p:nvSpPr>
          <p:cNvPr id="21" name="TextBox 20"/>
          <p:cNvSpPr txBox="1"/>
          <p:nvPr/>
        </p:nvSpPr>
        <p:spPr>
          <a:xfrm>
            <a:off x="1188720" y="5084064"/>
            <a:ext cx="4480560" cy="502920"/>
          </a:xfrm>
          <a:prstGeom prst="rect">
            <a:avLst/>
          </a:prstGeom>
          <a:noFill/>
        </p:spPr>
        <p:txBody>
          <a:bodyPr wrap="square" lIns="0" rIns="0" tIns="0" bIns="0" anchor="t">
            <a:spAutoFit/>
          </a:bodyPr>
          <a:lstStyle/>
          <a:p>
            <a:pPr algn="l">
              <a:lnSpc>
                <a:spcPct val="120000"/>
              </a:lnSpc>
            </a:pPr>
            <a:r>
              <a:rPr sz="1100" b="0" i="0">
                <a:solidFill>
                  <a:srgbClr val="C4B2AE"/>
                </a:solidFill>
                <a:latin typeface="Segoe UI"/>
              </a:rPr>
              <a:t>Q&amp;A analysis and CV claim checks, then the interview score, quality, and final assessment.</a:t>
            </a:r>
          </a:p>
        </p:txBody>
      </p:sp>
      <p:sp>
        <p:nvSpPr>
          <p:cNvPr id="22" name="TextBox 21"/>
          <p:cNvSpPr txBox="1"/>
          <p:nvPr/>
        </p:nvSpPr>
        <p:spPr>
          <a:xfrm>
            <a:off x="566928" y="5669280"/>
            <a:ext cx="5074920" cy="548640"/>
          </a:xfrm>
          <a:prstGeom prst="rect">
            <a:avLst/>
          </a:prstGeom>
          <a:noFill/>
        </p:spPr>
        <p:txBody>
          <a:bodyPr wrap="square" lIns="0" rIns="0" tIns="0" bIns="0" anchor="t">
            <a:spAutoFit/>
          </a:bodyPr>
          <a:lstStyle/>
          <a:p>
            <a:pPr algn="l">
              <a:lnSpc>
                <a:spcPct val="120000"/>
              </a:lnSpc>
              <a:spcAft>
                <a:spcPts val="0"/>
              </a:spcAft>
            </a:pPr>
            <a:r>
              <a:rPr sz="1100" b="0" i="0">
                <a:solidFill>
                  <a:srgbClr val="F3A85C"/>
                </a:solidFill>
                <a:latin typeface="Segoe UI Semibold"/>
              </a:rPr>
              <a:t>Shared by every stage  </a:t>
            </a:r>
            <a:r>
              <a:rPr sz="1100" b="0" i="0">
                <a:solidFill>
                  <a:srgbClr val="C4B2AE"/>
                </a:solidFill>
                <a:latin typeface="Segoe UI"/>
              </a:rPr>
              <a:t>one AI layer (language models, speech, face match, policy search) and one Postgres 16 + pgvector store.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moss.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566928"/>
            <a:ext cx="292608" cy="41148"/>
          </a:xfrm>
          <a:prstGeom prst="rect">
            <a:avLst/>
          </a:prstGeom>
          <a:solidFill>
            <a:srgbClr val="F3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457200"/>
            <a:ext cx="8229600" cy="274320"/>
          </a:xfrm>
          <a:prstGeom prst="rect">
            <a:avLst/>
          </a:prstGeom>
          <a:noFill/>
        </p:spPr>
        <p:txBody>
          <a:bodyPr wrap="square" lIns="0" rIns="0" tIns="0" bIns="0" anchor="t">
            <a:spAutoFit/>
          </a:bodyPr>
          <a:lstStyle/>
          <a:p>
            <a:pPr algn="l">
              <a:lnSpc>
                <a:spcPct val="112000"/>
              </a:lnSpc>
            </a:pPr>
            <a:r>
              <a:rPr sz="1100" b="0" i="0" spc="320">
                <a:solidFill>
                  <a:srgbClr val="F3A85C"/>
                </a:solidFill>
                <a:latin typeface="Segoe UI Semibold"/>
              </a:rPr>
              <a:t>06  ·  SYSTEM ARCHITECTURE</a:t>
            </a:r>
          </a:p>
        </p:txBody>
      </p:sp>
      <p:sp>
        <p:nvSpPr>
          <p:cNvPr id="5" name="TextBox 4"/>
          <p:cNvSpPr txBox="1"/>
          <p:nvPr/>
        </p:nvSpPr>
        <p:spPr>
          <a:xfrm>
            <a:off x="548640" y="786384"/>
            <a:ext cx="11064240" cy="914400"/>
          </a:xfrm>
          <a:prstGeom prst="rect">
            <a:avLst/>
          </a:prstGeom>
          <a:noFill/>
        </p:spPr>
        <p:txBody>
          <a:bodyPr wrap="square" lIns="0" rIns="0" tIns="0" bIns="0" anchor="t">
            <a:spAutoFit/>
          </a:bodyPr>
          <a:lstStyle/>
          <a:p>
            <a:pPr algn="l">
              <a:lnSpc>
                <a:spcPct val="112000"/>
              </a:lnSpc>
            </a:pPr>
            <a:r>
              <a:rPr sz="3800" b="0" i="0">
                <a:solidFill>
                  <a:srgbClr val="F7F0E7"/>
                </a:solidFill>
                <a:latin typeface="Georgia"/>
              </a:rPr>
              <a:t>How the pieces fit</a:t>
            </a:r>
          </a:p>
        </p:txBody>
      </p:sp>
      <p:sp>
        <p:nvSpPr>
          <p:cNvPr id="6" name="TextBox 5"/>
          <p:cNvSpPr txBox="1"/>
          <p:nvPr/>
        </p:nvSpPr>
        <p:spPr>
          <a:xfrm>
            <a:off x="566928" y="6419088"/>
            <a:ext cx="2743200" cy="228600"/>
          </a:xfrm>
          <a:prstGeom prst="rect">
            <a:avLst/>
          </a:prstGeom>
          <a:noFill/>
        </p:spPr>
        <p:txBody>
          <a:bodyPr wrap="square" lIns="0" rIns="0" tIns="0" bIns="0" anchor="t">
            <a:spAutoFit/>
          </a:bodyPr>
          <a:lstStyle/>
          <a:p>
            <a:pPr algn="l">
              <a:lnSpc>
                <a:spcPct val="112000"/>
              </a:lnSpc>
            </a:pPr>
            <a:r>
              <a:rPr sz="900" b="0" i="0" spc="400">
                <a:solidFill>
                  <a:srgbClr val="8C7A78"/>
                </a:solidFill>
                <a:latin typeface="Segoe UI Semibold"/>
              </a:rPr>
              <a:t>SIFT</a:t>
            </a:r>
          </a:p>
        </p:txBody>
      </p:sp>
      <p:sp>
        <p:nvSpPr>
          <p:cNvPr id="7" name="TextBox 6"/>
          <p:cNvSpPr txBox="1"/>
          <p:nvPr/>
        </p:nvSpPr>
        <p:spPr>
          <a:xfrm>
            <a:off x="9784080" y="6419088"/>
            <a:ext cx="1856231" cy="228600"/>
          </a:xfrm>
          <a:prstGeom prst="rect">
            <a:avLst/>
          </a:prstGeom>
          <a:noFill/>
        </p:spPr>
        <p:txBody>
          <a:bodyPr wrap="square" lIns="0" rIns="0" tIns="0" bIns="0" anchor="t">
            <a:spAutoFit/>
          </a:bodyPr>
          <a:lstStyle/>
          <a:p>
            <a:pPr algn="r">
              <a:lnSpc>
                <a:spcPct val="112000"/>
              </a:lnSpc>
            </a:pPr>
            <a:r>
              <a:rPr sz="900" b="0" i="0" spc="200">
                <a:solidFill>
                  <a:srgbClr val="8C7A78"/>
                </a:solidFill>
                <a:latin typeface="Segoe UI Semibold"/>
              </a:rPr>
              <a:t>09 / 19</a:t>
            </a:r>
          </a:p>
        </p:txBody>
      </p:sp>
      <p:sp>
        <p:nvSpPr>
          <p:cNvPr id="8" name="Rounded Rectangle 7"/>
          <p:cNvSpPr/>
          <p:nvPr/>
        </p:nvSpPr>
        <p:spPr>
          <a:xfrm>
            <a:off x="566928" y="1783080"/>
            <a:ext cx="1828800" cy="960120"/>
          </a:xfrm>
          <a:prstGeom prst="roundRect">
            <a:avLst>
              <a:gd name="adj" fmla="val 13333"/>
            </a:avLst>
          </a:prstGeom>
          <a:solidFill>
            <a:srgbClr val="DB8492">
              <a:alpha val="8000"/>
            </a:srgbClr>
          </a:solidFill>
          <a:ln w="9525">
            <a:solidFill>
              <a:srgbClr val="DB8492">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1911095"/>
            <a:ext cx="1554480" cy="320040"/>
          </a:xfrm>
          <a:prstGeom prst="rect">
            <a:avLst/>
          </a:prstGeom>
          <a:noFill/>
        </p:spPr>
        <p:txBody>
          <a:bodyPr wrap="square" lIns="0" rIns="0" tIns="0" bIns="0" anchor="t">
            <a:spAutoFit/>
          </a:bodyPr>
          <a:lstStyle/>
          <a:p>
            <a:pPr algn="l">
              <a:lnSpc>
                <a:spcPct val="112000"/>
              </a:lnSpc>
            </a:pPr>
            <a:r>
              <a:rPr sz="1250" b="0" i="0">
                <a:solidFill>
                  <a:srgbClr val="DB8492"/>
                </a:solidFill>
                <a:latin typeface="Segoe UI Semibold"/>
              </a:rPr>
              <a:t>Recruiter</a:t>
            </a:r>
          </a:p>
        </p:txBody>
      </p:sp>
      <p:sp>
        <p:nvSpPr>
          <p:cNvPr id="10" name="TextBox 9"/>
          <p:cNvSpPr txBox="1"/>
          <p:nvPr/>
        </p:nvSpPr>
        <p:spPr>
          <a:xfrm>
            <a:off x="731520" y="2240280"/>
            <a:ext cx="1554480" cy="457200"/>
          </a:xfrm>
          <a:prstGeom prst="rect">
            <a:avLst/>
          </a:prstGeom>
          <a:noFill/>
        </p:spPr>
        <p:txBody>
          <a:bodyPr wrap="square" lIns="0" rIns="0" tIns="0" bIns="0" anchor="t">
            <a:spAutoFit/>
          </a:bodyPr>
          <a:lstStyle/>
          <a:p>
            <a:pPr algn="l">
              <a:lnSpc>
                <a:spcPct val="125000"/>
              </a:lnSpc>
            </a:pPr>
            <a:r>
              <a:rPr sz="1000" b="0" i="0">
                <a:solidFill>
                  <a:srgbClr val="C4B2AE"/>
                </a:solidFill>
                <a:latin typeface="Segoe UI"/>
              </a:rPr>
              <a:t>Browser desk, signed in</a:t>
            </a:r>
          </a:p>
        </p:txBody>
      </p:sp>
      <p:sp>
        <p:nvSpPr>
          <p:cNvPr id="11" name="Rounded Rectangle 10"/>
          <p:cNvSpPr/>
          <p:nvPr/>
        </p:nvSpPr>
        <p:spPr>
          <a:xfrm>
            <a:off x="566928" y="2880360"/>
            <a:ext cx="1828800" cy="960120"/>
          </a:xfrm>
          <a:prstGeom prst="roundRect">
            <a:avLst>
              <a:gd name="adj" fmla="val 13333"/>
            </a:avLst>
          </a:prstGeom>
          <a:solidFill>
            <a:srgbClr val="DB8492">
              <a:alpha val="8000"/>
            </a:srgbClr>
          </a:solidFill>
          <a:ln w="9525">
            <a:solidFill>
              <a:srgbClr val="DB8492">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1520" y="3008376"/>
            <a:ext cx="1554480" cy="320040"/>
          </a:xfrm>
          <a:prstGeom prst="rect">
            <a:avLst/>
          </a:prstGeom>
          <a:noFill/>
        </p:spPr>
        <p:txBody>
          <a:bodyPr wrap="square" lIns="0" rIns="0" tIns="0" bIns="0" anchor="t">
            <a:spAutoFit/>
          </a:bodyPr>
          <a:lstStyle/>
          <a:p>
            <a:pPr algn="l">
              <a:lnSpc>
                <a:spcPct val="112000"/>
              </a:lnSpc>
            </a:pPr>
            <a:r>
              <a:rPr sz="1250" b="0" i="0">
                <a:solidFill>
                  <a:srgbClr val="DB8492"/>
                </a:solidFill>
                <a:latin typeface="Segoe UI Semibold"/>
              </a:rPr>
              <a:t>Candidate</a:t>
            </a:r>
          </a:p>
        </p:txBody>
      </p:sp>
      <p:sp>
        <p:nvSpPr>
          <p:cNvPr id="13" name="TextBox 12"/>
          <p:cNvSpPr txBox="1"/>
          <p:nvPr/>
        </p:nvSpPr>
        <p:spPr>
          <a:xfrm>
            <a:off x="731520" y="3337560"/>
            <a:ext cx="1554480" cy="457200"/>
          </a:xfrm>
          <a:prstGeom prst="rect">
            <a:avLst/>
          </a:prstGeom>
          <a:noFill/>
        </p:spPr>
        <p:txBody>
          <a:bodyPr wrap="square" lIns="0" rIns="0" tIns="0" bIns="0" anchor="t">
            <a:spAutoFit/>
          </a:bodyPr>
          <a:lstStyle/>
          <a:p>
            <a:pPr algn="l">
              <a:lnSpc>
                <a:spcPct val="125000"/>
              </a:lnSpc>
            </a:pPr>
            <a:r>
              <a:rPr sz="1000" b="0" i="0">
                <a:solidFill>
                  <a:srgbClr val="C4B2AE"/>
                </a:solidFill>
                <a:latin typeface="Segoe UI"/>
              </a:rPr>
              <a:t>Private invite link</a:t>
            </a:r>
          </a:p>
        </p:txBody>
      </p:sp>
      <p:sp>
        <p:nvSpPr>
          <p:cNvPr id="14" name="Rounded Rectangle 13"/>
          <p:cNvSpPr/>
          <p:nvPr/>
        </p:nvSpPr>
        <p:spPr>
          <a:xfrm>
            <a:off x="566928" y="3977639"/>
            <a:ext cx="1828800" cy="1097280"/>
          </a:xfrm>
          <a:prstGeom prst="roundRect">
            <a:avLst>
              <a:gd name="adj" fmla="val 11666"/>
            </a:avLst>
          </a:prstGeom>
          <a:solidFill>
            <a:srgbClr val="C4B2AE">
              <a:alpha val="8000"/>
            </a:srgbClr>
          </a:solidFill>
          <a:ln w="9525">
            <a:solidFill>
              <a:srgbClr val="C4B2A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31520" y="4105655"/>
            <a:ext cx="1554480" cy="320040"/>
          </a:xfrm>
          <a:prstGeom prst="rect">
            <a:avLst/>
          </a:prstGeom>
          <a:noFill/>
        </p:spPr>
        <p:txBody>
          <a:bodyPr wrap="square" lIns="0" rIns="0" tIns="0" bIns="0" anchor="t">
            <a:spAutoFit/>
          </a:bodyPr>
          <a:lstStyle/>
          <a:p>
            <a:pPr algn="l">
              <a:lnSpc>
                <a:spcPct val="112000"/>
              </a:lnSpc>
            </a:pPr>
            <a:r>
              <a:rPr sz="1250" b="0" i="0">
                <a:solidFill>
                  <a:srgbClr val="C4B2AE"/>
                </a:solidFill>
                <a:latin typeface="Segoe UI Semibold"/>
              </a:rPr>
              <a:t>Tailscale Funnel</a:t>
            </a:r>
          </a:p>
        </p:txBody>
      </p:sp>
      <p:sp>
        <p:nvSpPr>
          <p:cNvPr id="16" name="TextBox 15"/>
          <p:cNvSpPr txBox="1"/>
          <p:nvPr/>
        </p:nvSpPr>
        <p:spPr>
          <a:xfrm>
            <a:off x="731520" y="4434840"/>
            <a:ext cx="1554480" cy="594359"/>
          </a:xfrm>
          <a:prstGeom prst="rect">
            <a:avLst/>
          </a:prstGeom>
          <a:noFill/>
        </p:spPr>
        <p:txBody>
          <a:bodyPr wrap="square" lIns="0" rIns="0" tIns="0" bIns="0" anchor="t">
            <a:spAutoFit/>
          </a:bodyPr>
          <a:lstStyle/>
          <a:p>
            <a:pPr algn="l">
              <a:lnSpc>
                <a:spcPct val="125000"/>
              </a:lnSpc>
            </a:pPr>
            <a:r>
              <a:rPr sz="1000" b="0" i="0">
                <a:solidFill>
                  <a:srgbClr val="C4B2AE"/>
                </a:solidFill>
                <a:latin typeface="Segoe UI"/>
              </a:rPr>
              <a:t>Public HTTPS into</a:t>
            </a:r>
          </a:p>
          <a:p>
            <a:pPr algn="l">
              <a:lnSpc>
                <a:spcPct val="125000"/>
              </a:lnSpc>
            </a:pPr>
            <a:r>
              <a:rPr sz="1000" b="0" i="0">
                <a:solidFill>
                  <a:srgbClr val="C4B2AE"/>
                </a:solidFill>
                <a:latin typeface="Segoe UI"/>
              </a:rPr>
              <a:t>the app and API</a:t>
            </a:r>
          </a:p>
        </p:txBody>
      </p:sp>
      <p:sp>
        <p:nvSpPr>
          <p:cNvPr id="17" name="Rounded Rectangle 16"/>
          <p:cNvSpPr/>
          <p:nvPr/>
        </p:nvSpPr>
        <p:spPr>
          <a:xfrm>
            <a:off x="2743200" y="1783080"/>
            <a:ext cx="2286000" cy="3291840"/>
          </a:xfrm>
          <a:prstGeom prst="roundRect">
            <a:avLst>
              <a:gd name="adj" fmla="val 5600"/>
            </a:avLst>
          </a:prstGeom>
          <a:solidFill>
            <a:srgbClr val="F3A85C">
              <a:alpha val="8000"/>
            </a:srgbClr>
          </a:solidFill>
          <a:ln w="9525">
            <a:solidFill>
              <a:srgbClr val="F3A85C">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907792" y="1911095"/>
            <a:ext cx="2011680" cy="320040"/>
          </a:xfrm>
          <a:prstGeom prst="rect">
            <a:avLst/>
          </a:prstGeom>
          <a:noFill/>
        </p:spPr>
        <p:txBody>
          <a:bodyPr wrap="square" lIns="0" rIns="0" tIns="0" bIns="0" anchor="t">
            <a:spAutoFit/>
          </a:bodyPr>
          <a:lstStyle/>
          <a:p>
            <a:pPr algn="l">
              <a:lnSpc>
                <a:spcPct val="112000"/>
              </a:lnSpc>
            </a:pPr>
            <a:r>
              <a:rPr sz="1250" b="0" i="0">
                <a:solidFill>
                  <a:srgbClr val="F3A85C"/>
                </a:solidFill>
                <a:latin typeface="Segoe UI Semibold"/>
              </a:rPr>
              <a:t>Frontend</a:t>
            </a:r>
          </a:p>
        </p:txBody>
      </p:sp>
      <p:sp>
        <p:nvSpPr>
          <p:cNvPr id="19" name="TextBox 18"/>
          <p:cNvSpPr txBox="1"/>
          <p:nvPr/>
        </p:nvSpPr>
        <p:spPr>
          <a:xfrm>
            <a:off x="2907792" y="2240280"/>
            <a:ext cx="2011680" cy="2788920"/>
          </a:xfrm>
          <a:prstGeom prst="rect">
            <a:avLst/>
          </a:prstGeom>
          <a:noFill/>
        </p:spPr>
        <p:txBody>
          <a:bodyPr wrap="square" lIns="0" rIns="0" tIns="0" bIns="0" anchor="t">
            <a:spAutoFit/>
          </a:bodyPr>
          <a:lstStyle/>
          <a:p>
            <a:pPr algn="l">
              <a:lnSpc>
                <a:spcPct val="125000"/>
              </a:lnSpc>
            </a:pPr>
            <a:r>
              <a:rPr sz="1000" b="0" i="0">
                <a:solidFill>
                  <a:srgbClr val="C4B2AE"/>
                </a:solidFill>
                <a:latin typeface="Segoe UI"/>
              </a:rPr>
              <a:t>Next.js 14 · React</a:t>
            </a:r>
          </a:p>
          <a:p>
            <a:pPr algn="l">
              <a:lnSpc>
                <a:spcPct val="125000"/>
              </a:lnSpc>
            </a:pPr>
            <a:r>
              <a:rPr sz="1000" b="0" i="0">
                <a:solidFill>
                  <a:srgbClr val="C4B2AE"/>
                </a:solidFill>
                <a:latin typeface="Segoe UI"/>
              </a:rPr>
              <a:t>TypeScript · Tailwind</a:t>
            </a:r>
          </a:p>
          <a:p>
            <a:pPr algn="l">
              <a:lnSpc>
                <a:spcPct val="125000"/>
              </a:lnSpc>
            </a:pPr>
            <a:r>
              <a:rPr sz="1000" b="0" i="0">
                <a:solidFill>
                  <a:srgbClr val="C4B2AE"/>
                </a:solidFill>
                <a:latin typeface="Segoe UI"/>
              </a:rPr>
              <a:t/>
            </a:r>
          </a:p>
          <a:p>
            <a:pPr algn="l">
              <a:lnSpc>
                <a:spcPct val="125000"/>
              </a:lnSpc>
            </a:pPr>
            <a:r>
              <a:rPr sz="1000" b="0" i="0">
                <a:solidFill>
                  <a:srgbClr val="C4B2AE"/>
                </a:solidFill>
                <a:latin typeface="Segoe UI"/>
              </a:rPr>
              <a:t>LiveKit client</a:t>
            </a:r>
          </a:p>
          <a:p>
            <a:pPr algn="l">
              <a:lnSpc>
                <a:spcPct val="125000"/>
              </a:lnSpc>
            </a:pPr>
            <a:r>
              <a:rPr sz="1000" b="0" i="0">
                <a:solidFill>
                  <a:srgbClr val="C4B2AE"/>
                </a:solidFill>
                <a:latin typeface="Segoe UI"/>
              </a:rPr>
              <a:t>for video and audio</a:t>
            </a:r>
          </a:p>
          <a:p>
            <a:pPr algn="l">
              <a:lnSpc>
                <a:spcPct val="125000"/>
              </a:lnSpc>
            </a:pPr>
            <a:r>
              <a:rPr sz="1000" b="0" i="0">
                <a:solidFill>
                  <a:srgbClr val="C4B2AE"/>
                </a:solidFill>
                <a:latin typeface="Segoe UI"/>
              </a:rPr>
              <a:t/>
            </a:r>
          </a:p>
          <a:p>
            <a:pPr algn="l">
              <a:lnSpc>
                <a:spcPct val="125000"/>
              </a:lnSpc>
            </a:pPr>
            <a:r>
              <a:rPr sz="1000" b="0" i="0">
                <a:solidFill>
                  <a:srgbClr val="C4B2AE"/>
                </a:solidFill>
                <a:latin typeface="Segoe UI"/>
              </a:rPr>
              <a:t>Three.js neural avatar</a:t>
            </a:r>
          </a:p>
        </p:txBody>
      </p:sp>
      <p:sp>
        <p:nvSpPr>
          <p:cNvPr id="20" name="Rounded Rectangle 19"/>
          <p:cNvSpPr/>
          <p:nvPr/>
        </p:nvSpPr>
        <p:spPr>
          <a:xfrm>
            <a:off x="5394960" y="1783080"/>
            <a:ext cx="2743200" cy="1554480"/>
          </a:xfrm>
          <a:prstGeom prst="roundRect">
            <a:avLst>
              <a:gd name="adj" fmla="val 8235"/>
            </a:avLst>
          </a:prstGeom>
          <a:solidFill>
            <a:srgbClr val="98D0AC">
              <a:alpha val="8000"/>
            </a:srgbClr>
          </a:solidFill>
          <a:ln w="9525">
            <a:solidFill>
              <a:srgbClr val="98D0AC">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559552" y="1911095"/>
            <a:ext cx="2468880" cy="320040"/>
          </a:xfrm>
          <a:prstGeom prst="rect">
            <a:avLst/>
          </a:prstGeom>
          <a:noFill/>
        </p:spPr>
        <p:txBody>
          <a:bodyPr wrap="square" lIns="0" rIns="0" tIns="0" bIns="0" anchor="t">
            <a:spAutoFit/>
          </a:bodyPr>
          <a:lstStyle/>
          <a:p>
            <a:pPr algn="l">
              <a:lnSpc>
                <a:spcPct val="112000"/>
              </a:lnSpc>
            </a:pPr>
            <a:r>
              <a:rPr sz="1250" b="0" i="0">
                <a:solidFill>
                  <a:srgbClr val="98D0AC"/>
                </a:solidFill>
                <a:latin typeface="Segoe UI Semibold"/>
              </a:rPr>
              <a:t>Backend API</a:t>
            </a:r>
          </a:p>
        </p:txBody>
      </p:sp>
      <p:sp>
        <p:nvSpPr>
          <p:cNvPr id="22" name="TextBox 21"/>
          <p:cNvSpPr txBox="1"/>
          <p:nvPr/>
        </p:nvSpPr>
        <p:spPr>
          <a:xfrm>
            <a:off x="5559552" y="2240280"/>
            <a:ext cx="2468880" cy="1051560"/>
          </a:xfrm>
          <a:prstGeom prst="rect">
            <a:avLst/>
          </a:prstGeom>
          <a:noFill/>
        </p:spPr>
        <p:txBody>
          <a:bodyPr wrap="square" lIns="0" rIns="0" tIns="0" bIns="0" anchor="t">
            <a:spAutoFit/>
          </a:bodyPr>
          <a:lstStyle/>
          <a:p>
            <a:pPr algn="l">
              <a:lnSpc>
                <a:spcPct val="125000"/>
              </a:lnSpc>
            </a:pPr>
            <a:r>
              <a:rPr sz="1000" b="0" i="0">
                <a:solidFill>
                  <a:srgbClr val="C4B2AE"/>
                </a:solidFill>
                <a:latin typeface="Segoe UI"/>
              </a:rPr>
              <a:t>FastAPI · /api/v1</a:t>
            </a:r>
          </a:p>
          <a:p>
            <a:pPr algn="l">
              <a:lnSpc>
                <a:spcPct val="125000"/>
              </a:lnSpc>
            </a:pPr>
            <a:r>
              <a:rPr sz="1000" b="0" i="0">
                <a:solidFill>
                  <a:srgbClr val="C4B2AE"/>
                </a:solidFill>
                <a:latin typeface="Segoe UI"/>
              </a:rPr>
              <a:t>JWT sessions · Pydantic v2</a:t>
            </a:r>
          </a:p>
          <a:p>
            <a:pPr algn="l">
              <a:lnSpc>
                <a:spcPct val="125000"/>
              </a:lnSpc>
            </a:pPr>
            <a:r>
              <a:rPr sz="1000" b="0" i="0">
                <a:solidFill>
                  <a:srgbClr val="C4B2AE"/>
                </a:solidFill>
                <a:latin typeface="Segoe UI"/>
              </a:rPr>
              <a:t>LangGraph job drafting</a:t>
            </a:r>
          </a:p>
        </p:txBody>
      </p:sp>
      <p:sp>
        <p:nvSpPr>
          <p:cNvPr id="23" name="Rounded Rectangle 22"/>
          <p:cNvSpPr/>
          <p:nvPr/>
        </p:nvSpPr>
        <p:spPr>
          <a:xfrm>
            <a:off x="5394960" y="3520440"/>
            <a:ext cx="2743200" cy="1554480"/>
          </a:xfrm>
          <a:prstGeom prst="roundRect">
            <a:avLst>
              <a:gd name="adj" fmla="val 8235"/>
            </a:avLst>
          </a:prstGeom>
          <a:solidFill>
            <a:srgbClr val="98D0AC">
              <a:alpha val="8000"/>
            </a:srgbClr>
          </a:solidFill>
          <a:ln w="9525">
            <a:solidFill>
              <a:srgbClr val="98D0AC">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559552" y="3648456"/>
            <a:ext cx="2468880" cy="320040"/>
          </a:xfrm>
          <a:prstGeom prst="rect">
            <a:avLst/>
          </a:prstGeom>
          <a:noFill/>
        </p:spPr>
        <p:txBody>
          <a:bodyPr wrap="square" lIns="0" rIns="0" tIns="0" bIns="0" anchor="t">
            <a:spAutoFit/>
          </a:bodyPr>
          <a:lstStyle/>
          <a:p>
            <a:pPr algn="l">
              <a:lnSpc>
                <a:spcPct val="112000"/>
              </a:lnSpc>
            </a:pPr>
            <a:r>
              <a:rPr sz="1250" b="0" i="0">
                <a:solidFill>
                  <a:srgbClr val="98D0AC"/>
                </a:solidFill>
                <a:latin typeface="Segoe UI Semibold"/>
              </a:rPr>
              <a:t>Workers</a:t>
            </a:r>
          </a:p>
        </p:txBody>
      </p:sp>
      <p:sp>
        <p:nvSpPr>
          <p:cNvPr id="25" name="TextBox 24"/>
          <p:cNvSpPr txBox="1"/>
          <p:nvPr/>
        </p:nvSpPr>
        <p:spPr>
          <a:xfrm>
            <a:off x="5559552" y="3977639"/>
            <a:ext cx="2468880" cy="1051560"/>
          </a:xfrm>
          <a:prstGeom prst="rect">
            <a:avLst/>
          </a:prstGeom>
          <a:noFill/>
        </p:spPr>
        <p:txBody>
          <a:bodyPr wrap="square" lIns="0" rIns="0" tIns="0" bIns="0" anchor="t">
            <a:spAutoFit/>
          </a:bodyPr>
          <a:lstStyle/>
          <a:p>
            <a:pPr algn="l">
              <a:lnSpc>
                <a:spcPct val="125000"/>
              </a:lnSpc>
            </a:pPr>
            <a:r>
              <a:rPr sz="1000" b="0" i="0">
                <a:solidFill>
                  <a:srgbClr val="C4B2AE"/>
                </a:solidFill>
                <a:latin typeface="Segoe UI"/>
              </a:rPr>
              <a:t>AI interviewer agent</a:t>
            </a:r>
          </a:p>
          <a:p>
            <a:pPr algn="l">
              <a:lnSpc>
                <a:spcPct val="125000"/>
              </a:lnSpc>
            </a:pPr>
            <a:r>
              <a:rPr sz="1000" b="0" i="0">
                <a:solidFill>
                  <a:srgbClr val="C4B2AE"/>
                </a:solidFill>
                <a:latin typeface="Segoe UI"/>
              </a:rPr>
              <a:t>Live transcriber agent</a:t>
            </a:r>
          </a:p>
          <a:p>
            <a:pPr algn="l">
              <a:lnSpc>
                <a:spcPct val="125000"/>
              </a:lnSpc>
            </a:pPr>
            <a:r>
              <a:rPr sz="1000" b="0" i="0">
                <a:solidFill>
                  <a:srgbClr val="C4B2AE"/>
                </a:solidFill>
                <a:latin typeface="Segoe UI"/>
              </a:rPr>
              <a:t>Inbox worker · MCP publisher</a:t>
            </a:r>
          </a:p>
        </p:txBody>
      </p:sp>
      <p:sp>
        <p:nvSpPr>
          <p:cNvPr id="26" name="Rounded Rectangle 25"/>
          <p:cNvSpPr/>
          <p:nvPr/>
        </p:nvSpPr>
        <p:spPr>
          <a:xfrm>
            <a:off x="8503920" y="1783080"/>
            <a:ext cx="3127248" cy="1645920"/>
          </a:xfrm>
          <a:prstGeom prst="roundRect">
            <a:avLst>
              <a:gd name="adj" fmla="val 7777"/>
            </a:avLst>
          </a:prstGeom>
          <a:solidFill>
            <a:srgbClr val="9678EB">
              <a:alpha val="8000"/>
            </a:srgbClr>
          </a:solidFill>
          <a:ln w="9525">
            <a:solidFill>
              <a:srgbClr val="9678E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68512" y="1911095"/>
            <a:ext cx="2852928" cy="320040"/>
          </a:xfrm>
          <a:prstGeom prst="rect">
            <a:avLst/>
          </a:prstGeom>
          <a:noFill/>
        </p:spPr>
        <p:txBody>
          <a:bodyPr wrap="square" lIns="0" rIns="0" tIns="0" bIns="0" anchor="t">
            <a:spAutoFit/>
          </a:bodyPr>
          <a:lstStyle/>
          <a:p>
            <a:pPr algn="l">
              <a:lnSpc>
                <a:spcPct val="112000"/>
              </a:lnSpc>
            </a:pPr>
            <a:r>
              <a:rPr sz="1250" b="0" i="0">
                <a:solidFill>
                  <a:srgbClr val="9678EB"/>
                </a:solidFill>
                <a:latin typeface="Segoe UI Semibold"/>
              </a:rPr>
              <a:t>AI components</a:t>
            </a:r>
          </a:p>
        </p:txBody>
      </p:sp>
      <p:sp>
        <p:nvSpPr>
          <p:cNvPr id="28" name="TextBox 27"/>
          <p:cNvSpPr txBox="1"/>
          <p:nvPr/>
        </p:nvSpPr>
        <p:spPr>
          <a:xfrm>
            <a:off x="8668512" y="2240280"/>
            <a:ext cx="2852928" cy="1143000"/>
          </a:xfrm>
          <a:prstGeom prst="rect">
            <a:avLst/>
          </a:prstGeom>
          <a:noFill/>
        </p:spPr>
        <p:txBody>
          <a:bodyPr wrap="square" lIns="0" rIns="0" tIns="0" bIns="0" anchor="t">
            <a:spAutoFit/>
          </a:bodyPr>
          <a:lstStyle/>
          <a:p>
            <a:pPr algn="l">
              <a:lnSpc>
                <a:spcPct val="125000"/>
              </a:lnSpc>
            </a:pPr>
            <a:r>
              <a:rPr sz="1000" b="0" i="0">
                <a:solidFill>
                  <a:srgbClr val="C4B2AE"/>
                </a:solidFill>
                <a:latin typeface="Segoe UI"/>
              </a:rPr>
              <a:t>LLM router: Claude → Gemini → Ollama</a:t>
            </a:r>
          </a:p>
          <a:p>
            <a:pPr algn="l">
              <a:lnSpc>
                <a:spcPct val="125000"/>
              </a:lnSpc>
            </a:pPr>
            <a:r>
              <a:rPr sz="1000" b="0" i="0">
                <a:solidFill>
                  <a:srgbClr val="C4B2AE"/>
                </a:solidFill>
                <a:latin typeface="Segoe UI"/>
              </a:rPr>
              <a:t>Groq Whisper · Orpheus voice</a:t>
            </a:r>
          </a:p>
          <a:p>
            <a:pPr algn="l">
              <a:lnSpc>
                <a:spcPct val="125000"/>
              </a:lnSpc>
            </a:pPr>
            <a:r>
              <a:rPr sz="1000" b="0" i="0">
                <a:solidFill>
                  <a:srgbClr val="C4B2AE"/>
                </a:solidFill>
                <a:latin typeface="Segoe UI"/>
              </a:rPr>
              <a:t>InsightFace face match</a:t>
            </a:r>
          </a:p>
          <a:p>
            <a:pPr algn="l">
              <a:lnSpc>
                <a:spcPct val="125000"/>
              </a:lnSpc>
            </a:pPr>
            <a:r>
              <a:rPr sz="1000" b="0" i="0">
                <a:solidFill>
                  <a:srgbClr val="C4B2AE"/>
                </a:solidFill>
                <a:latin typeface="Segoe UI"/>
              </a:rPr>
              <a:t>FastEmbed + pgvector policy RAG</a:t>
            </a:r>
          </a:p>
        </p:txBody>
      </p:sp>
      <p:sp>
        <p:nvSpPr>
          <p:cNvPr id="29" name="Rounded Rectangle 28"/>
          <p:cNvSpPr/>
          <p:nvPr/>
        </p:nvSpPr>
        <p:spPr>
          <a:xfrm>
            <a:off x="8503920" y="3566160"/>
            <a:ext cx="3127248" cy="713232"/>
          </a:xfrm>
          <a:prstGeom prst="roundRect">
            <a:avLst>
              <a:gd name="adj" fmla="val 17948"/>
            </a:avLst>
          </a:prstGeom>
          <a:solidFill>
            <a:srgbClr val="F3A85C">
              <a:alpha val="8000"/>
            </a:srgbClr>
          </a:solidFill>
          <a:ln w="9525">
            <a:solidFill>
              <a:srgbClr val="F3A85C">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668512" y="3694176"/>
            <a:ext cx="2852928" cy="320040"/>
          </a:xfrm>
          <a:prstGeom prst="rect">
            <a:avLst/>
          </a:prstGeom>
          <a:noFill/>
        </p:spPr>
        <p:txBody>
          <a:bodyPr wrap="square" lIns="0" rIns="0" tIns="0" bIns="0" anchor="t">
            <a:spAutoFit/>
          </a:bodyPr>
          <a:lstStyle/>
          <a:p>
            <a:pPr algn="l">
              <a:lnSpc>
                <a:spcPct val="112000"/>
              </a:lnSpc>
            </a:pPr>
            <a:r>
              <a:rPr sz="1250" b="0" i="0">
                <a:solidFill>
                  <a:srgbClr val="F3A85C"/>
                </a:solidFill>
                <a:latin typeface="Segoe UI Semibold"/>
              </a:rPr>
              <a:t>Data</a:t>
            </a:r>
          </a:p>
        </p:txBody>
      </p:sp>
      <p:sp>
        <p:nvSpPr>
          <p:cNvPr id="31" name="TextBox 30"/>
          <p:cNvSpPr txBox="1"/>
          <p:nvPr/>
        </p:nvSpPr>
        <p:spPr>
          <a:xfrm>
            <a:off x="8668512" y="4023360"/>
            <a:ext cx="2852928" cy="210311"/>
          </a:xfrm>
          <a:prstGeom prst="rect">
            <a:avLst/>
          </a:prstGeom>
          <a:noFill/>
        </p:spPr>
        <p:txBody>
          <a:bodyPr wrap="square" lIns="0" rIns="0" tIns="0" bIns="0" anchor="t">
            <a:spAutoFit/>
          </a:bodyPr>
          <a:lstStyle/>
          <a:p>
            <a:pPr algn="l">
              <a:lnSpc>
                <a:spcPct val="125000"/>
              </a:lnSpc>
            </a:pPr>
            <a:r>
              <a:rPr sz="1000" b="0" i="0">
                <a:solidFill>
                  <a:srgbClr val="C4B2AE"/>
                </a:solidFill>
                <a:latin typeface="Segoe UI"/>
              </a:rPr>
              <a:t>PostgreSQL 16 + pgvector · Redis</a:t>
            </a:r>
          </a:p>
        </p:txBody>
      </p:sp>
      <p:sp>
        <p:nvSpPr>
          <p:cNvPr id="32" name="Rounded Rectangle 31"/>
          <p:cNvSpPr/>
          <p:nvPr/>
        </p:nvSpPr>
        <p:spPr>
          <a:xfrm>
            <a:off x="8503920" y="4416552"/>
            <a:ext cx="3127248" cy="658368"/>
          </a:xfrm>
          <a:prstGeom prst="roundRect">
            <a:avLst>
              <a:gd name="adj" fmla="val 19444"/>
            </a:avLst>
          </a:prstGeom>
          <a:solidFill>
            <a:srgbClr val="C4B2AE">
              <a:alpha val="8000"/>
            </a:srgbClr>
          </a:solidFill>
          <a:ln w="9525">
            <a:solidFill>
              <a:srgbClr val="C4B2A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668512" y="4544568"/>
            <a:ext cx="2852928" cy="320040"/>
          </a:xfrm>
          <a:prstGeom prst="rect">
            <a:avLst/>
          </a:prstGeom>
          <a:noFill/>
        </p:spPr>
        <p:txBody>
          <a:bodyPr wrap="square" lIns="0" rIns="0" tIns="0" bIns="0" anchor="t">
            <a:spAutoFit/>
          </a:bodyPr>
          <a:lstStyle/>
          <a:p>
            <a:pPr algn="l">
              <a:lnSpc>
                <a:spcPct val="112000"/>
              </a:lnSpc>
            </a:pPr>
            <a:r>
              <a:rPr sz="1250" b="0" i="0">
                <a:solidFill>
                  <a:srgbClr val="C4B2AE"/>
                </a:solidFill>
                <a:latin typeface="Segoe UI Semibold"/>
              </a:rPr>
              <a:t>External services</a:t>
            </a:r>
          </a:p>
        </p:txBody>
      </p:sp>
      <p:sp>
        <p:nvSpPr>
          <p:cNvPr id="34" name="TextBox 33"/>
          <p:cNvSpPr txBox="1"/>
          <p:nvPr/>
        </p:nvSpPr>
        <p:spPr>
          <a:xfrm>
            <a:off x="8668512" y="4873752"/>
            <a:ext cx="2852928" cy="155447"/>
          </a:xfrm>
          <a:prstGeom prst="rect">
            <a:avLst/>
          </a:prstGeom>
          <a:noFill/>
        </p:spPr>
        <p:txBody>
          <a:bodyPr wrap="square" lIns="0" rIns="0" tIns="0" bIns="0" anchor="t">
            <a:spAutoFit/>
          </a:bodyPr>
          <a:lstStyle/>
          <a:p>
            <a:pPr algn="l">
              <a:lnSpc>
                <a:spcPct val="125000"/>
              </a:lnSpc>
            </a:pPr>
            <a:r>
              <a:rPr sz="1000" b="0" i="0">
                <a:solidFill>
                  <a:srgbClr val="C4B2AE"/>
                </a:solidFill>
                <a:latin typeface="Segoe UI"/>
              </a:rPr>
              <a:t>Gmail · Calendar · Mailpit · Telegram</a:t>
            </a:r>
          </a:p>
        </p:txBody>
      </p:sp>
      <p:sp>
        <p:nvSpPr>
          <p:cNvPr id="35" name="Rounded Rectangle 34"/>
          <p:cNvSpPr/>
          <p:nvPr/>
        </p:nvSpPr>
        <p:spPr>
          <a:xfrm>
            <a:off x="566928" y="5349240"/>
            <a:ext cx="11064240" cy="731520"/>
          </a:xfrm>
          <a:prstGeom prst="roundRect">
            <a:avLst>
              <a:gd name="adj" fmla="val 17500"/>
            </a:avLst>
          </a:prstGeom>
          <a:solidFill>
            <a:srgbClr val="DB8492">
              <a:alpha val="8000"/>
            </a:srgbClr>
          </a:solidFill>
          <a:ln w="9525">
            <a:solidFill>
              <a:srgbClr val="DB8492">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31520" y="5477255"/>
            <a:ext cx="10789919" cy="320040"/>
          </a:xfrm>
          <a:prstGeom prst="rect">
            <a:avLst/>
          </a:prstGeom>
          <a:noFill/>
        </p:spPr>
        <p:txBody>
          <a:bodyPr wrap="square" lIns="0" rIns="0" tIns="0" bIns="0" anchor="t">
            <a:spAutoFit/>
          </a:bodyPr>
          <a:lstStyle/>
          <a:p>
            <a:pPr algn="l">
              <a:lnSpc>
                <a:spcPct val="112000"/>
              </a:lnSpc>
            </a:pPr>
            <a:r>
              <a:rPr sz="1250" b="0" i="0">
                <a:solidFill>
                  <a:srgbClr val="DB8492"/>
                </a:solidFill>
                <a:latin typeface="Segoe UI Semibold"/>
              </a:rPr>
              <a:t>LiveKit Cloud</a:t>
            </a:r>
          </a:p>
        </p:txBody>
      </p:sp>
      <p:sp>
        <p:nvSpPr>
          <p:cNvPr id="37" name="TextBox 36"/>
          <p:cNvSpPr txBox="1"/>
          <p:nvPr/>
        </p:nvSpPr>
        <p:spPr>
          <a:xfrm>
            <a:off x="731520" y="5806440"/>
            <a:ext cx="10789919" cy="228600"/>
          </a:xfrm>
          <a:prstGeom prst="rect">
            <a:avLst/>
          </a:prstGeom>
          <a:noFill/>
        </p:spPr>
        <p:txBody>
          <a:bodyPr wrap="square" lIns="0" rIns="0" tIns="0" bIns="0" anchor="t">
            <a:spAutoFit/>
          </a:bodyPr>
          <a:lstStyle/>
          <a:p>
            <a:pPr algn="l">
              <a:lnSpc>
                <a:spcPct val="125000"/>
              </a:lnSpc>
            </a:pPr>
            <a:r>
              <a:rPr sz="1000" b="0" i="0">
                <a:solidFill>
                  <a:srgbClr val="C4B2AE"/>
                </a:solidFill>
                <a:latin typeface="Segoe UI"/>
              </a:rPr>
              <a:t>WebRTC media for every interview room. The AI interviewer and the transcriber join the room as participants. coturn relays media through firewalls.</a:t>
            </a:r>
          </a:p>
        </p:txBody>
      </p:sp>
      <p:cxnSp>
        <p:nvCxnSpPr>
          <p:cNvPr id="38" name="Connector 37"/>
          <p:cNvCxnSpPr/>
          <p:nvPr/>
        </p:nvCxnSpPr>
        <p:spPr>
          <a:xfrm>
            <a:off x="2395728" y="2258568"/>
            <a:ext cx="347472" cy="0"/>
          </a:xfrm>
          <a:prstGeom prst="line">
            <a:avLst/>
          </a:prstGeom>
          <a:ln w="15875">
            <a:solidFill>
              <a:srgbClr val="C4B2AE">
                <a:alpha val="70000"/>
              </a:srgbClr>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395728" y="3355848"/>
            <a:ext cx="347472" cy="0"/>
          </a:xfrm>
          <a:prstGeom prst="line">
            <a:avLst/>
          </a:prstGeom>
          <a:ln w="15875">
            <a:solidFill>
              <a:srgbClr val="C4B2AE">
                <a:alpha val="70000"/>
              </a:srgbClr>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029200" y="2560320"/>
            <a:ext cx="365760" cy="0"/>
          </a:xfrm>
          <a:prstGeom prst="line">
            <a:avLst/>
          </a:prstGeom>
          <a:ln w="15875">
            <a:solidFill>
              <a:srgbClr val="C4B2AE">
                <a:alpha val="70000"/>
              </a:srgbClr>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766560" y="3337560"/>
            <a:ext cx="0" cy="182880"/>
          </a:xfrm>
          <a:prstGeom prst="line">
            <a:avLst/>
          </a:prstGeom>
          <a:ln w="15875">
            <a:solidFill>
              <a:srgbClr val="C4B2AE">
                <a:alpha val="70000"/>
              </a:srgbClr>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138160" y="2560320"/>
            <a:ext cx="365760" cy="0"/>
          </a:xfrm>
          <a:prstGeom prst="line">
            <a:avLst/>
          </a:prstGeom>
          <a:ln w="15875">
            <a:solidFill>
              <a:srgbClr val="C4B2AE">
                <a:alpha val="70000"/>
              </a:srgbClr>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138160" y="3922776"/>
            <a:ext cx="365760" cy="0"/>
          </a:xfrm>
          <a:prstGeom prst="line">
            <a:avLst/>
          </a:prstGeom>
          <a:ln w="15875">
            <a:solidFill>
              <a:srgbClr val="C4B2AE">
                <a:alpha val="70000"/>
              </a:srgbClr>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138160" y="4745736"/>
            <a:ext cx="365760" cy="0"/>
          </a:xfrm>
          <a:prstGeom prst="line">
            <a:avLst/>
          </a:prstGeom>
          <a:ln w="15875">
            <a:solidFill>
              <a:srgbClr val="C4B2AE">
                <a:alpha val="70000"/>
              </a:srgbClr>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3886200" y="5074920"/>
            <a:ext cx="0" cy="274320"/>
          </a:xfrm>
          <a:prstGeom prst="line">
            <a:avLst/>
          </a:prstGeom>
          <a:ln w="15875">
            <a:solidFill>
              <a:srgbClr val="DB8492">
                <a:alpha val="70000"/>
              </a:srgbClr>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766560" y="5074920"/>
            <a:ext cx="0" cy="274320"/>
          </a:xfrm>
          <a:prstGeom prst="line">
            <a:avLst/>
          </a:prstGeom>
          <a:ln w="15875">
            <a:solidFill>
              <a:srgbClr val="DB8492">
                <a:alpha val="70000"/>
              </a:srgbClr>
            </a:solidFill>
            <a:tailEnd type="triangle" w="med" h="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wine.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566928"/>
            <a:ext cx="292608" cy="41148"/>
          </a:xfrm>
          <a:prstGeom prst="rect">
            <a:avLst/>
          </a:prstGeom>
          <a:solidFill>
            <a:srgbClr val="F3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457200"/>
            <a:ext cx="8229600" cy="274320"/>
          </a:xfrm>
          <a:prstGeom prst="rect">
            <a:avLst/>
          </a:prstGeom>
          <a:noFill/>
        </p:spPr>
        <p:txBody>
          <a:bodyPr wrap="square" lIns="0" rIns="0" tIns="0" bIns="0" anchor="t">
            <a:spAutoFit/>
          </a:bodyPr>
          <a:lstStyle/>
          <a:p>
            <a:pPr algn="l">
              <a:lnSpc>
                <a:spcPct val="112000"/>
              </a:lnSpc>
            </a:pPr>
            <a:r>
              <a:rPr sz="1100" b="0" i="0" spc="320">
                <a:solidFill>
                  <a:srgbClr val="F3A85C"/>
                </a:solidFill>
                <a:latin typeface="Segoe UI Semibold"/>
              </a:rPr>
              <a:t>06  ·  SYSTEM ARCHITECTURE</a:t>
            </a:r>
          </a:p>
        </p:txBody>
      </p:sp>
      <p:sp>
        <p:nvSpPr>
          <p:cNvPr id="5" name="TextBox 4"/>
          <p:cNvSpPr txBox="1"/>
          <p:nvPr/>
        </p:nvSpPr>
        <p:spPr>
          <a:xfrm>
            <a:off x="566928" y="6419088"/>
            <a:ext cx="2743200" cy="228600"/>
          </a:xfrm>
          <a:prstGeom prst="rect">
            <a:avLst/>
          </a:prstGeom>
          <a:noFill/>
        </p:spPr>
        <p:txBody>
          <a:bodyPr wrap="square" lIns="0" rIns="0" tIns="0" bIns="0" anchor="t">
            <a:spAutoFit/>
          </a:bodyPr>
          <a:lstStyle/>
          <a:p>
            <a:pPr algn="l">
              <a:lnSpc>
                <a:spcPct val="112000"/>
              </a:lnSpc>
            </a:pPr>
            <a:r>
              <a:rPr sz="900" b="0" i="0" spc="400">
                <a:solidFill>
                  <a:srgbClr val="8C7A78"/>
                </a:solidFill>
                <a:latin typeface="Segoe UI Semibold"/>
              </a:rPr>
              <a:t>SIFT</a:t>
            </a:r>
          </a:p>
        </p:txBody>
      </p:sp>
      <p:sp>
        <p:nvSpPr>
          <p:cNvPr id="6" name="TextBox 5"/>
          <p:cNvSpPr txBox="1"/>
          <p:nvPr/>
        </p:nvSpPr>
        <p:spPr>
          <a:xfrm>
            <a:off x="9784080" y="6419088"/>
            <a:ext cx="1856231" cy="228600"/>
          </a:xfrm>
          <a:prstGeom prst="rect">
            <a:avLst/>
          </a:prstGeom>
          <a:noFill/>
        </p:spPr>
        <p:txBody>
          <a:bodyPr wrap="square" lIns="0" rIns="0" tIns="0" bIns="0" anchor="t">
            <a:spAutoFit/>
          </a:bodyPr>
          <a:lstStyle/>
          <a:p>
            <a:pPr algn="r">
              <a:lnSpc>
                <a:spcPct val="112000"/>
              </a:lnSpc>
            </a:pPr>
            <a:r>
              <a:rPr sz="900" b="0" i="0" spc="200">
                <a:solidFill>
                  <a:srgbClr val="8C7A78"/>
                </a:solidFill>
                <a:latin typeface="Segoe UI Semibold"/>
              </a:rPr>
              <a:t>10 / 19</a:t>
            </a:r>
          </a:p>
        </p:txBody>
      </p:sp>
      <p:sp>
        <p:nvSpPr>
          <p:cNvPr id="7" name="TextBox 6"/>
          <p:cNvSpPr txBox="1"/>
          <p:nvPr/>
        </p:nvSpPr>
        <p:spPr>
          <a:xfrm>
            <a:off x="548640" y="786384"/>
            <a:ext cx="3291840" cy="1463040"/>
          </a:xfrm>
          <a:prstGeom prst="rect">
            <a:avLst/>
          </a:prstGeom>
          <a:noFill/>
        </p:spPr>
        <p:txBody>
          <a:bodyPr wrap="square" lIns="0" rIns="0" tIns="0" bIns="0" anchor="t">
            <a:spAutoFit/>
          </a:bodyPr>
          <a:lstStyle/>
          <a:p>
            <a:pPr algn="l">
              <a:lnSpc>
                <a:spcPct val="102000"/>
              </a:lnSpc>
            </a:pPr>
            <a:r>
              <a:rPr sz="3600" b="0" i="0">
                <a:solidFill>
                  <a:srgbClr val="F7F0E7"/>
                </a:solidFill>
                <a:latin typeface="Georgia"/>
              </a:rPr>
              <a:t>Every step,</a:t>
            </a:r>
          </a:p>
          <a:p>
            <a:pPr algn="l">
              <a:lnSpc>
                <a:spcPct val="102000"/>
              </a:lnSpc>
            </a:pPr>
            <a:r>
              <a:rPr sz="3600" b="0" i="0">
                <a:solidFill>
                  <a:srgbClr val="F7F0E7"/>
                </a:solidFill>
                <a:latin typeface="Georgia"/>
              </a:rPr>
              <a:t>end to end</a:t>
            </a:r>
          </a:p>
        </p:txBody>
      </p:sp>
      <p:pic>
        <p:nvPicPr>
          <p:cNvPr id="8" name="Picture 7" descr="frame_arch_system.png"/>
          <p:cNvPicPr>
            <a:picLocks noChangeAspect="1"/>
          </p:cNvPicPr>
          <p:nvPr/>
        </p:nvPicPr>
        <p:blipFill>
          <a:blip r:embed="rId3"/>
          <a:stretch>
            <a:fillRect/>
          </a:stretch>
        </p:blipFill>
        <p:spPr>
          <a:xfrm>
            <a:off x="3813048" y="310896"/>
            <a:ext cx="8083296" cy="5966449"/>
          </a:xfrm>
          <a:prstGeom prst="rect">
            <a:avLst/>
          </a:prstGeom>
        </p:spPr>
      </p:pic>
      <p:sp>
        <p:nvSpPr>
          <p:cNvPr id="9" name="TextBox 8"/>
          <p:cNvSpPr txBox="1"/>
          <p:nvPr/>
        </p:nvSpPr>
        <p:spPr>
          <a:xfrm>
            <a:off x="566928" y="2240280"/>
            <a:ext cx="822960" cy="548640"/>
          </a:xfrm>
          <a:prstGeom prst="rect">
            <a:avLst/>
          </a:prstGeom>
          <a:noFill/>
        </p:spPr>
        <p:txBody>
          <a:bodyPr wrap="square" lIns="0" rIns="0" tIns="0" bIns="0" anchor="t">
            <a:spAutoFit/>
          </a:bodyPr>
          <a:lstStyle/>
          <a:p>
            <a:pPr algn="l">
              <a:lnSpc>
                <a:spcPct val="112000"/>
              </a:lnSpc>
            </a:pPr>
            <a:r>
              <a:rPr sz="2800" b="0" i="0">
                <a:solidFill>
                  <a:srgbClr val="F3A85C"/>
                </a:solidFill>
                <a:latin typeface="Georgia"/>
              </a:rPr>
              <a:t>18</a:t>
            </a:r>
          </a:p>
        </p:txBody>
      </p:sp>
      <p:sp>
        <p:nvSpPr>
          <p:cNvPr id="10" name="TextBox 9"/>
          <p:cNvSpPr txBox="1"/>
          <p:nvPr/>
        </p:nvSpPr>
        <p:spPr>
          <a:xfrm>
            <a:off x="1371600" y="2295144"/>
            <a:ext cx="2468880" cy="274320"/>
          </a:xfrm>
          <a:prstGeom prst="rect">
            <a:avLst/>
          </a:prstGeom>
          <a:noFill/>
        </p:spPr>
        <p:txBody>
          <a:bodyPr wrap="square" lIns="0" rIns="0" tIns="0" bIns="0" anchor="t">
            <a:spAutoFit/>
          </a:bodyPr>
          <a:lstStyle/>
          <a:p>
            <a:pPr algn="l">
              <a:lnSpc>
                <a:spcPct val="112000"/>
              </a:lnSpc>
            </a:pPr>
            <a:r>
              <a:rPr sz="950" b="0" i="0" spc="200">
                <a:solidFill>
                  <a:srgbClr val="F7F0E7"/>
                </a:solidFill>
                <a:latin typeface="Segoe UI Semibold"/>
              </a:rPr>
              <a:t>STEPS</a:t>
            </a:r>
          </a:p>
        </p:txBody>
      </p:sp>
      <p:sp>
        <p:nvSpPr>
          <p:cNvPr id="11" name="TextBox 10"/>
          <p:cNvSpPr txBox="1"/>
          <p:nvPr/>
        </p:nvSpPr>
        <p:spPr>
          <a:xfrm>
            <a:off x="1371600" y="2551176"/>
            <a:ext cx="2468880" cy="548640"/>
          </a:xfrm>
          <a:prstGeom prst="rect">
            <a:avLst/>
          </a:prstGeom>
          <a:noFill/>
        </p:spPr>
        <p:txBody>
          <a:bodyPr wrap="square" lIns="0" rIns="0" tIns="0" bIns="0" anchor="t">
            <a:spAutoFit/>
          </a:bodyPr>
          <a:lstStyle/>
          <a:p>
            <a:pPr algn="l">
              <a:lnSpc>
                <a:spcPct val="120000"/>
              </a:lnSpc>
            </a:pPr>
            <a:r>
              <a:rPr sz="1050" b="0" i="0">
                <a:solidFill>
                  <a:srgbClr val="C4B2AE"/>
                </a:solidFill>
                <a:latin typeface="Segoe UI"/>
              </a:rPr>
              <a:t>numbered in the order of the demo</a:t>
            </a:r>
          </a:p>
        </p:txBody>
      </p:sp>
      <p:sp>
        <p:nvSpPr>
          <p:cNvPr id="12" name="TextBox 11"/>
          <p:cNvSpPr txBox="1"/>
          <p:nvPr/>
        </p:nvSpPr>
        <p:spPr>
          <a:xfrm>
            <a:off x="566928" y="3136392"/>
            <a:ext cx="822960" cy="548640"/>
          </a:xfrm>
          <a:prstGeom prst="rect">
            <a:avLst/>
          </a:prstGeom>
          <a:noFill/>
        </p:spPr>
        <p:txBody>
          <a:bodyPr wrap="square" lIns="0" rIns="0" tIns="0" bIns="0" anchor="t">
            <a:spAutoFit/>
          </a:bodyPr>
          <a:lstStyle/>
          <a:p>
            <a:pPr algn="l">
              <a:lnSpc>
                <a:spcPct val="112000"/>
              </a:lnSpc>
            </a:pPr>
            <a:r>
              <a:rPr sz="2800" b="0" i="0">
                <a:solidFill>
                  <a:srgbClr val="F3A85C"/>
                </a:solidFill>
                <a:latin typeface="Georgia"/>
              </a:rPr>
              <a:t>3</a:t>
            </a:r>
          </a:p>
        </p:txBody>
      </p:sp>
      <p:sp>
        <p:nvSpPr>
          <p:cNvPr id="13" name="TextBox 12"/>
          <p:cNvSpPr txBox="1"/>
          <p:nvPr/>
        </p:nvSpPr>
        <p:spPr>
          <a:xfrm>
            <a:off x="1371600" y="3191256"/>
            <a:ext cx="2468880" cy="274320"/>
          </a:xfrm>
          <a:prstGeom prst="rect">
            <a:avLst/>
          </a:prstGeom>
          <a:noFill/>
        </p:spPr>
        <p:txBody>
          <a:bodyPr wrap="square" lIns="0" rIns="0" tIns="0" bIns="0" anchor="t">
            <a:spAutoFit/>
          </a:bodyPr>
          <a:lstStyle/>
          <a:p>
            <a:pPr algn="l">
              <a:lnSpc>
                <a:spcPct val="112000"/>
              </a:lnSpc>
            </a:pPr>
            <a:r>
              <a:rPr sz="950" b="0" i="0" spc="200">
                <a:solidFill>
                  <a:srgbClr val="F7F0E7"/>
                </a:solidFill>
                <a:latin typeface="Segoe UI Semibold"/>
              </a:rPr>
              <a:t>STAGES</a:t>
            </a:r>
          </a:p>
        </p:txBody>
      </p:sp>
      <p:sp>
        <p:nvSpPr>
          <p:cNvPr id="14" name="TextBox 13"/>
          <p:cNvSpPr txBox="1"/>
          <p:nvPr/>
        </p:nvSpPr>
        <p:spPr>
          <a:xfrm>
            <a:off x="1371600" y="3447288"/>
            <a:ext cx="2468880" cy="548640"/>
          </a:xfrm>
          <a:prstGeom prst="rect">
            <a:avLst/>
          </a:prstGeom>
          <a:noFill/>
        </p:spPr>
        <p:txBody>
          <a:bodyPr wrap="square" lIns="0" rIns="0" tIns="0" bIns="0" anchor="t">
            <a:spAutoFit/>
          </a:bodyPr>
          <a:lstStyle/>
          <a:p>
            <a:pPr algn="l">
              <a:lnSpc>
                <a:spcPct val="120000"/>
              </a:lnSpc>
            </a:pPr>
            <a:r>
              <a:rPr sz="1050" b="0" i="0">
                <a:solidFill>
                  <a:srgbClr val="C4B2AE"/>
                </a:solidFill>
                <a:latin typeface="Segoe UI"/>
              </a:rPr>
              <a:t>pre-interview, live, post-interview</a:t>
            </a:r>
          </a:p>
        </p:txBody>
      </p:sp>
      <p:sp>
        <p:nvSpPr>
          <p:cNvPr id="15" name="TextBox 14"/>
          <p:cNvSpPr txBox="1"/>
          <p:nvPr/>
        </p:nvSpPr>
        <p:spPr>
          <a:xfrm>
            <a:off x="566928" y="4032504"/>
            <a:ext cx="822960" cy="548640"/>
          </a:xfrm>
          <a:prstGeom prst="rect">
            <a:avLst/>
          </a:prstGeom>
          <a:noFill/>
        </p:spPr>
        <p:txBody>
          <a:bodyPr wrap="square" lIns="0" rIns="0" tIns="0" bIns="0" anchor="t">
            <a:spAutoFit/>
          </a:bodyPr>
          <a:lstStyle/>
          <a:p>
            <a:pPr algn="l">
              <a:lnSpc>
                <a:spcPct val="112000"/>
              </a:lnSpc>
            </a:pPr>
            <a:r>
              <a:rPr sz="2800" b="0" i="0">
                <a:solidFill>
                  <a:srgbClr val="F3A85C"/>
                </a:solidFill>
                <a:latin typeface="Georgia"/>
              </a:rPr>
              <a:t>4</a:t>
            </a:r>
          </a:p>
        </p:txBody>
      </p:sp>
      <p:sp>
        <p:nvSpPr>
          <p:cNvPr id="16" name="TextBox 15"/>
          <p:cNvSpPr txBox="1"/>
          <p:nvPr/>
        </p:nvSpPr>
        <p:spPr>
          <a:xfrm>
            <a:off x="1371600" y="4087368"/>
            <a:ext cx="2468880" cy="274320"/>
          </a:xfrm>
          <a:prstGeom prst="rect">
            <a:avLst/>
          </a:prstGeom>
          <a:noFill/>
        </p:spPr>
        <p:txBody>
          <a:bodyPr wrap="square" lIns="0" rIns="0" tIns="0" bIns="0" anchor="t">
            <a:spAutoFit/>
          </a:bodyPr>
          <a:lstStyle/>
          <a:p>
            <a:pPr algn="l">
              <a:lnSpc>
                <a:spcPct val="112000"/>
              </a:lnSpc>
            </a:pPr>
            <a:r>
              <a:rPr sz="950" b="0" i="0" spc="200">
                <a:solidFill>
                  <a:srgbClr val="F7F0E7"/>
                </a:solidFill>
                <a:latin typeface="Segoe UI Semibold"/>
              </a:rPr>
              <a:t>LANGGRAPH WORKFLOWS</a:t>
            </a:r>
          </a:p>
        </p:txBody>
      </p:sp>
      <p:sp>
        <p:nvSpPr>
          <p:cNvPr id="17" name="TextBox 16"/>
          <p:cNvSpPr txBox="1"/>
          <p:nvPr/>
        </p:nvSpPr>
        <p:spPr>
          <a:xfrm>
            <a:off x="1371600" y="4343400"/>
            <a:ext cx="2468880" cy="548640"/>
          </a:xfrm>
          <a:prstGeom prst="rect">
            <a:avLst/>
          </a:prstGeom>
          <a:noFill/>
        </p:spPr>
        <p:txBody>
          <a:bodyPr wrap="square" lIns="0" rIns="0" tIns="0" bIns="0" anchor="t">
            <a:spAutoFit/>
          </a:bodyPr>
          <a:lstStyle/>
          <a:p>
            <a:pPr algn="l">
              <a:lnSpc>
                <a:spcPct val="120000"/>
              </a:lnSpc>
            </a:pPr>
            <a:r>
              <a:rPr sz="1050" b="0" i="0">
                <a:solidFill>
                  <a:srgbClr val="C4B2AE"/>
                </a:solidFill>
                <a:latin typeface="Segoe UI"/>
              </a:rPr>
              <a:t>job creation, CV screening, Q&amp;A analysis, master assessment</a:t>
            </a:r>
          </a:p>
        </p:txBody>
      </p:sp>
      <p:sp>
        <p:nvSpPr>
          <p:cNvPr id="18" name="TextBox 17"/>
          <p:cNvSpPr txBox="1"/>
          <p:nvPr/>
        </p:nvSpPr>
        <p:spPr>
          <a:xfrm>
            <a:off x="566928" y="4928616"/>
            <a:ext cx="822960" cy="548640"/>
          </a:xfrm>
          <a:prstGeom prst="rect">
            <a:avLst/>
          </a:prstGeom>
          <a:noFill/>
        </p:spPr>
        <p:txBody>
          <a:bodyPr wrap="square" lIns="0" rIns="0" tIns="0" bIns="0" anchor="t">
            <a:spAutoFit/>
          </a:bodyPr>
          <a:lstStyle/>
          <a:p>
            <a:pPr algn="l">
              <a:lnSpc>
                <a:spcPct val="112000"/>
              </a:lnSpc>
            </a:pPr>
            <a:r>
              <a:rPr sz="2800" b="0" i="0">
                <a:solidFill>
                  <a:srgbClr val="F3A85C"/>
                </a:solidFill>
                <a:latin typeface="Georgia"/>
              </a:rPr>
              <a:t>6</a:t>
            </a:r>
          </a:p>
        </p:txBody>
      </p:sp>
      <p:sp>
        <p:nvSpPr>
          <p:cNvPr id="19" name="TextBox 18"/>
          <p:cNvSpPr txBox="1"/>
          <p:nvPr/>
        </p:nvSpPr>
        <p:spPr>
          <a:xfrm>
            <a:off x="1371600" y="4983480"/>
            <a:ext cx="2468880" cy="274320"/>
          </a:xfrm>
          <a:prstGeom prst="rect">
            <a:avLst/>
          </a:prstGeom>
          <a:noFill/>
        </p:spPr>
        <p:txBody>
          <a:bodyPr wrap="square" lIns="0" rIns="0" tIns="0" bIns="0" anchor="t">
            <a:spAutoFit/>
          </a:bodyPr>
          <a:lstStyle/>
          <a:p>
            <a:pPr algn="l">
              <a:lnSpc>
                <a:spcPct val="112000"/>
              </a:lnSpc>
            </a:pPr>
            <a:r>
              <a:rPr sz="950" b="0" i="0" spc="200">
                <a:solidFill>
                  <a:srgbClr val="F7F0E7"/>
                </a:solidFill>
                <a:latin typeface="Segoe UI Semibold"/>
              </a:rPr>
              <a:t>APP CONTAINERS</a:t>
            </a:r>
          </a:p>
        </p:txBody>
      </p:sp>
      <p:sp>
        <p:nvSpPr>
          <p:cNvPr id="20" name="TextBox 19"/>
          <p:cNvSpPr txBox="1"/>
          <p:nvPr/>
        </p:nvSpPr>
        <p:spPr>
          <a:xfrm>
            <a:off x="1371600" y="5239512"/>
            <a:ext cx="2468880" cy="548640"/>
          </a:xfrm>
          <a:prstGeom prst="rect">
            <a:avLst/>
          </a:prstGeom>
          <a:noFill/>
        </p:spPr>
        <p:txBody>
          <a:bodyPr wrap="square" lIns="0" rIns="0" tIns="0" bIns="0" anchor="t">
            <a:spAutoFit/>
          </a:bodyPr>
          <a:lstStyle/>
          <a:p>
            <a:pPr algn="l">
              <a:lnSpc>
                <a:spcPct val="120000"/>
              </a:lnSpc>
            </a:pPr>
            <a:r>
              <a:rPr sz="1050" b="0" i="0">
                <a:solidFill>
                  <a:srgbClr val="C4B2AE"/>
                </a:solidFill>
                <a:latin typeface="Segoe UI"/>
              </a:rPr>
              <a:t>frontend, api, worker, interviewer, transcriber, mcp</a:t>
            </a:r>
          </a:p>
        </p:txBody>
      </p:sp>
      <p:sp>
        <p:nvSpPr>
          <p:cNvPr id="21" name="TextBox 20"/>
          <p:cNvSpPr txBox="1"/>
          <p:nvPr/>
        </p:nvSpPr>
        <p:spPr>
          <a:xfrm>
            <a:off x="566928" y="5870448"/>
            <a:ext cx="3291840" cy="411480"/>
          </a:xfrm>
          <a:prstGeom prst="rect">
            <a:avLst/>
          </a:prstGeom>
          <a:noFill/>
        </p:spPr>
        <p:txBody>
          <a:bodyPr wrap="square" lIns="0" rIns="0" tIns="0" bIns="0" anchor="t">
            <a:spAutoFit/>
          </a:bodyPr>
          <a:lstStyle/>
          <a:p>
            <a:pPr algn="l">
              <a:lnSpc>
                <a:spcPct val="125000"/>
              </a:lnSpc>
            </a:pPr>
            <a:r>
              <a:rPr sz="950" b="0" i="0">
                <a:solidFill>
                  <a:srgbClr val="8C7A78"/>
                </a:solidFill>
                <a:latin typeface="Segoe UI"/>
              </a:rPr>
              <a:t>Solid lines carry control and data. Violet dashes are AI calls, green dashes are live media.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mber.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566928"/>
            <a:ext cx="292608" cy="41148"/>
          </a:xfrm>
          <a:prstGeom prst="rect">
            <a:avLst/>
          </a:prstGeom>
          <a:solidFill>
            <a:srgbClr val="F3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457200"/>
            <a:ext cx="8229600" cy="274320"/>
          </a:xfrm>
          <a:prstGeom prst="rect">
            <a:avLst/>
          </a:prstGeom>
          <a:noFill/>
        </p:spPr>
        <p:txBody>
          <a:bodyPr wrap="square" lIns="0" rIns="0" tIns="0" bIns="0" anchor="t">
            <a:spAutoFit/>
          </a:bodyPr>
          <a:lstStyle/>
          <a:p>
            <a:pPr algn="l">
              <a:lnSpc>
                <a:spcPct val="112000"/>
              </a:lnSpc>
            </a:pPr>
            <a:r>
              <a:rPr sz="1100" b="0" i="0" spc="320">
                <a:solidFill>
                  <a:srgbClr val="F3A85C"/>
                </a:solidFill>
                <a:latin typeface="Segoe UI Semibold"/>
              </a:rPr>
              <a:t>07  ·  TECHNOLOGY STACK</a:t>
            </a:r>
          </a:p>
        </p:txBody>
      </p:sp>
      <p:sp>
        <p:nvSpPr>
          <p:cNvPr id="5" name="TextBox 4"/>
          <p:cNvSpPr txBox="1"/>
          <p:nvPr/>
        </p:nvSpPr>
        <p:spPr>
          <a:xfrm>
            <a:off x="548640" y="786384"/>
            <a:ext cx="11064240" cy="914400"/>
          </a:xfrm>
          <a:prstGeom prst="rect">
            <a:avLst/>
          </a:prstGeom>
          <a:noFill/>
        </p:spPr>
        <p:txBody>
          <a:bodyPr wrap="square" lIns="0" rIns="0" tIns="0" bIns="0" anchor="t">
            <a:spAutoFit/>
          </a:bodyPr>
          <a:lstStyle/>
          <a:p>
            <a:pPr algn="l">
              <a:lnSpc>
                <a:spcPct val="112000"/>
              </a:lnSpc>
            </a:pPr>
            <a:r>
              <a:rPr sz="3800" b="0" i="0">
                <a:solidFill>
                  <a:srgbClr val="F7F0E7"/>
                </a:solidFill>
                <a:latin typeface="Georgia"/>
              </a:rPr>
              <a:t>Built with</a:t>
            </a:r>
          </a:p>
        </p:txBody>
      </p:sp>
      <p:sp>
        <p:nvSpPr>
          <p:cNvPr id="6" name="TextBox 5"/>
          <p:cNvSpPr txBox="1"/>
          <p:nvPr/>
        </p:nvSpPr>
        <p:spPr>
          <a:xfrm>
            <a:off x="566928" y="6419088"/>
            <a:ext cx="2743200" cy="228600"/>
          </a:xfrm>
          <a:prstGeom prst="rect">
            <a:avLst/>
          </a:prstGeom>
          <a:noFill/>
        </p:spPr>
        <p:txBody>
          <a:bodyPr wrap="square" lIns="0" rIns="0" tIns="0" bIns="0" anchor="t">
            <a:spAutoFit/>
          </a:bodyPr>
          <a:lstStyle/>
          <a:p>
            <a:pPr algn="l">
              <a:lnSpc>
                <a:spcPct val="112000"/>
              </a:lnSpc>
            </a:pPr>
            <a:r>
              <a:rPr sz="900" b="0" i="0" spc="400">
                <a:solidFill>
                  <a:srgbClr val="8C7A78"/>
                </a:solidFill>
                <a:latin typeface="Segoe UI Semibold"/>
              </a:rPr>
              <a:t>SIFT</a:t>
            </a:r>
          </a:p>
        </p:txBody>
      </p:sp>
      <p:sp>
        <p:nvSpPr>
          <p:cNvPr id="7" name="TextBox 6"/>
          <p:cNvSpPr txBox="1"/>
          <p:nvPr/>
        </p:nvSpPr>
        <p:spPr>
          <a:xfrm>
            <a:off x="9784080" y="6419088"/>
            <a:ext cx="1856231" cy="228600"/>
          </a:xfrm>
          <a:prstGeom prst="rect">
            <a:avLst/>
          </a:prstGeom>
          <a:noFill/>
        </p:spPr>
        <p:txBody>
          <a:bodyPr wrap="square" lIns="0" rIns="0" tIns="0" bIns="0" anchor="t">
            <a:spAutoFit/>
          </a:bodyPr>
          <a:lstStyle/>
          <a:p>
            <a:pPr algn="r">
              <a:lnSpc>
                <a:spcPct val="112000"/>
              </a:lnSpc>
            </a:pPr>
            <a:r>
              <a:rPr sz="900" b="0" i="0" spc="200">
                <a:solidFill>
                  <a:srgbClr val="8C7A78"/>
                </a:solidFill>
                <a:latin typeface="Segoe UI Semibold"/>
              </a:rPr>
              <a:t>11 / 19</a:t>
            </a:r>
          </a:p>
        </p:txBody>
      </p:sp>
      <p:sp>
        <p:nvSpPr>
          <p:cNvPr id="8" name="Rounded Rectangle 7"/>
          <p:cNvSpPr/>
          <p:nvPr/>
        </p:nvSpPr>
        <p:spPr>
          <a:xfrm>
            <a:off x="566928" y="1783080"/>
            <a:ext cx="2103120" cy="3749039"/>
          </a:xfrm>
          <a:prstGeom prst="roundRect">
            <a:avLst>
              <a:gd name="adj" fmla="val 6956"/>
            </a:avLst>
          </a:prstGeom>
          <a:solidFill>
            <a:srgbClr val="F3A85C">
              <a:alpha val="6000"/>
            </a:srgbClr>
          </a:solidFill>
          <a:ln w="9525">
            <a:solidFill>
              <a:srgbClr val="F3A85C">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68096" y="2029968"/>
            <a:ext cx="274320" cy="36576"/>
          </a:xfrm>
          <a:prstGeom prst="rect">
            <a:avLst/>
          </a:prstGeom>
          <a:solidFill>
            <a:srgbClr val="F3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2148840"/>
            <a:ext cx="1737360" cy="365760"/>
          </a:xfrm>
          <a:prstGeom prst="rect">
            <a:avLst/>
          </a:prstGeom>
          <a:noFill/>
        </p:spPr>
        <p:txBody>
          <a:bodyPr wrap="square" lIns="0" rIns="0" tIns="0" bIns="0" anchor="t">
            <a:spAutoFit/>
          </a:bodyPr>
          <a:lstStyle/>
          <a:p>
            <a:pPr algn="l">
              <a:lnSpc>
                <a:spcPct val="112000"/>
              </a:lnSpc>
            </a:pPr>
            <a:r>
              <a:rPr sz="1450" b="0" i="0">
                <a:solidFill>
                  <a:srgbClr val="F7F0E7"/>
                </a:solidFill>
                <a:latin typeface="Segoe UI Semibold"/>
              </a:rPr>
              <a:t>Frontend</a:t>
            </a:r>
          </a:p>
        </p:txBody>
      </p:sp>
      <p:sp>
        <p:nvSpPr>
          <p:cNvPr id="11" name="TextBox 10"/>
          <p:cNvSpPr txBox="1"/>
          <p:nvPr/>
        </p:nvSpPr>
        <p:spPr>
          <a:xfrm>
            <a:off x="768096" y="2651760"/>
            <a:ext cx="1783080" cy="2834640"/>
          </a:xfrm>
          <a:prstGeom prst="rect">
            <a:avLst/>
          </a:prstGeom>
          <a:noFill/>
        </p:spPr>
        <p:txBody>
          <a:bodyPr wrap="square" lIns="0" rIns="0" tIns="0" bIns="0" anchor="t">
            <a:spAutoFit/>
          </a:bodyPr>
          <a:lstStyle/>
          <a:p>
            <a:pPr algn="l">
              <a:lnSpc>
                <a:spcPct val="110000"/>
              </a:lnSpc>
              <a:spcAft>
                <a:spcPts val="700"/>
              </a:spcAft>
            </a:pPr>
            <a:r>
              <a:rPr sz="1150" b="0" i="0">
                <a:solidFill>
                  <a:srgbClr val="C4B2AE"/>
                </a:solidFill>
                <a:latin typeface="Segoe UI"/>
              </a:rPr>
              <a:t>TypeScript</a:t>
            </a:r>
          </a:p>
          <a:p>
            <a:pPr algn="l">
              <a:lnSpc>
                <a:spcPct val="110000"/>
              </a:lnSpc>
              <a:spcAft>
                <a:spcPts val="700"/>
              </a:spcAft>
            </a:pPr>
            <a:r>
              <a:rPr sz="1150" b="0" i="0">
                <a:solidFill>
                  <a:srgbClr val="C4B2AE"/>
                </a:solidFill>
                <a:latin typeface="Segoe UI"/>
              </a:rPr>
              <a:t>Next.js 14</a:t>
            </a:r>
          </a:p>
          <a:p>
            <a:pPr algn="l">
              <a:lnSpc>
                <a:spcPct val="110000"/>
              </a:lnSpc>
              <a:spcAft>
                <a:spcPts val="700"/>
              </a:spcAft>
            </a:pPr>
            <a:r>
              <a:rPr sz="1150" b="0" i="0">
                <a:solidFill>
                  <a:srgbClr val="C4B2AE"/>
                </a:solidFill>
                <a:latin typeface="Segoe UI"/>
              </a:rPr>
              <a:t>React 18</a:t>
            </a:r>
          </a:p>
          <a:p>
            <a:pPr algn="l">
              <a:lnSpc>
                <a:spcPct val="110000"/>
              </a:lnSpc>
              <a:spcAft>
                <a:spcPts val="700"/>
              </a:spcAft>
            </a:pPr>
            <a:r>
              <a:rPr sz="1150" b="0" i="0">
                <a:solidFill>
                  <a:srgbClr val="C4B2AE"/>
                </a:solidFill>
                <a:latin typeface="Segoe UI"/>
              </a:rPr>
              <a:t>Tailwind CSS</a:t>
            </a:r>
          </a:p>
          <a:p>
            <a:pPr algn="l">
              <a:lnSpc>
                <a:spcPct val="110000"/>
              </a:lnSpc>
              <a:spcAft>
                <a:spcPts val="700"/>
              </a:spcAft>
            </a:pPr>
            <a:r>
              <a:rPr sz="1150" b="0" i="0">
                <a:solidFill>
                  <a:srgbClr val="C4B2AE"/>
                </a:solidFill>
                <a:latin typeface="Segoe UI"/>
              </a:rPr>
              <a:t>Three.js</a:t>
            </a:r>
          </a:p>
          <a:p>
            <a:pPr algn="l">
              <a:lnSpc>
                <a:spcPct val="110000"/>
              </a:lnSpc>
              <a:spcAft>
                <a:spcPts val="700"/>
              </a:spcAft>
            </a:pPr>
            <a:r>
              <a:rPr sz="1150" b="0" i="0">
                <a:solidFill>
                  <a:srgbClr val="C4B2AE"/>
                </a:solidFill>
                <a:latin typeface="Segoe UI"/>
              </a:rPr>
              <a:t>LiveKit client</a:t>
            </a:r>
          </a:p>
        </p:txBody>
      </p:sp>
      <p:sp>
        <p:nvSpPr>
          <p:cNvPr id="12" name="Rounded Rectangle 11"/>
          <p:cNvSpPr/>
          <p:nvPr/>
        </p:nvSpPr>
        <p:spPr>
          <a:xfrm>
            <a:off x="2807208" y="1783080"/>
            <a:ext cx="2103120" cy="3749039"/>
          </a:xfrm>
          <a:prstGeom prst="roundRect">
            <a:avLst>
              <a:gd name="adj" fmla="val 6956"/>
            </a:avLst>
          </a:prstGeom>
          <a:solidFill>
            <a:srgbClr val="98D0AC">
              <a:alpha val="6000"/>
            </a:srgbClr>
          </a:solidFill>
          <a:ln w="9525">
            <a:solidFill>
              <a:srgbClr val="98D0AC">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008376" y="2029968"/>
            <a:ext cx="274320" cy="36576"/>
          </a:xfrm>
          <a:prstGeom prst="rect">
            <a:avLst/>
          </a:prstGeom>
          <a:solidFill>
            <a:srgbClr val="98D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08376" y="2148840"/>
            <a:ext cx="1737360" cy="365760"/>
          </a:xfrm>
          <a:prstGeom prst="rect">
            <a:avLst/>
          </a:prstGeom>
          <a:noFill/>
        </p:spPr>
        <p:txBody>
          <a:bodyPr wrap="square" lIns="0" rIns="0" tIns="0" bIns="0" anchor="t">
            <a:spAutoFit/>
          </a:bodyPr>
          <a:lstStyle/>
          <a:p>
            <a:pPr algn="l">
              <a:lnSpc>
                <a:spcPct val="112000"/>
              </a:lnSpc>
            </a:pPr>
            <a:r>
              <a:rPr sz="1450" b="0" i="0">
                <a:solidFill>
                  <a:srgbClr val="F7F0E7"/>
                </a:solidFill>
                <a:latin typeface="Segoe UI Semibold"/>
              </a:rPr>
              <a:t>Backend</a:t>
            </a:r>
          </a:p>
        </p:txBody>
      </p:sp>
      <p:sp>
        <p:nvSpPr>
          <p:cNvPr id="15" name="TextBox 14"/>
          <p:cNvSpPr txBox="1"/>
          <p:nvPr/>
        </p:nvSpPr>
        <p:spPr>
          <a:xfrm>
            <a:off x="3008376" y="2651760"/>
            <a:ext cx="1783080" cy="2834640"/>
          </a:xfrm>
          <a:prstGeom prst="rect">
            <a:avLst/>
          </a:prstGeom>
          <a:noFill/>
        </p:spPr>
        <p:txBody>
          <a:bodyPr wrap="square" lIns="0" rIns="0" tIns="0" bIns="0" anchor="t">
            <a:spAutoFit/>
          </a:bodyPr>
          <a:lstStyle/>
          <a:p>
            <a:pPr algn="l">
              <a:lnSpc>
                <a:spcPct val="110000"/>
              </a:lnSpc>
              <a:spcAft>
                <a:spcPts val="700"/>
              </a:spcAft>
            </a:pPr>
            <a:r>
              <a:rPr sz="1150" b="0" i="0">
                <a:solidFill>
                  <a:srgbClr val="C4B2AE"/>
                </a:solidFill>
                <a:latin typeface="Segoe UI"/>
              </a:rPr>
              <a:t>Python 3.11</a:t>
            </a:r>
          </a:p>
          <a:p>
            <a:pPr algn="l">
              <a:lnSpc>
                <a:spcPct val="110000"/>
              </a:lnSpc>
              <a:spcAft>
                <a:spcPts val="700"/>
              </a:spcAft>
            </a:pPr>
            <a:r>
              <a:rPr sz="1150" b="0" i="0">
                <a:solidFill>
                  <a:srgbClr val="C4B2AE"/>
                </a:solidFill>
                <a:latin typeface="Segoe UI"/>
              </a:rPr>
              <a:t>FastAPI</a:t>
            </a:r>
          </a:p>
          <a:p>
            <a:pPr algn="l">
              <a:lnSpc>
                <a:spcPct val="110000"/>
              </a:lnSpc>
              <a:spcAft>
                <a:spcPts val="700"/>
              </a:spcAft>
            </a:pPr>
            <a:r>
              <a:rPr sz="1150" b="0" i="0">
                <a:solidFill>
                  <a:srgbClr val="C4B2AE"/>
                </a:solidFill>
                <a:latin typeface="Segoe UI"/>
              </a:rPr>
              <a:t>Pydantic v2</a:t>
            </a:r>
          </a:p>
          <a:p>
            <a:pPr algn="l">
              <a:lnSpc>
                <a:spcPct val="110000"/>
              </a:lnSpc>
              <a:spcAft>
                <a:spcPts val="700"/>
              </a:spcAft>
            </a:pPr>
            <a:r>
              <a:rPr sz="1150" b="0" i="0">
                <a:solidFill>
                  <a:srgbClr val="C4B2AE"/>
                </a:solidFill>
                <a:latin typeface="Segoe UI"/>
              </a:rPr>
              <a:t>SQLAlchemy 2 async</a:t>
            </a:r>
          </a:p>
          <a:p>
            <a:pPr algn="l">
              <a:lnSpc>
                <a:spcPct val="110000"/>
              </a:lnSpc>
              <a:spcAft>
                <a:spcPts val="700"/>
              </a:spcAft>
            </a:pPr>
            <a:r>
              <a:rPr sz="1150" b="0" i="0">
                <a:solidFill>
                  <a:srgbClr val="C4B2AE"/>
                </a:solidFill>
                <a:latin typeface="Segoe UI"/>
              </a:rPr>
              <a:t>Alembic</a:t>
            </a:r>
          </a:p>
          <a:p>
            <a:pPr algn="l">
              <a:lnSpc>
                <a:spcPct val="110000"/>
              </a:lnSpc>
              <a:spcAft>
                <a:spcPts val="700"/>
              </a:spcAft>
            </a:pPr>
            <a:r>
              <a:rPr sz="1150" b="0" i="0">
                <a:solidFill>
                  <a:srgbClr val="C4B2AE"/>
                </a:solidFill>
                <a:latin typeface="Segoe UI"/>
              </a:rPr>
              <a:t>LangGraph</a:t>
            </a:r>
          </a:p>
          <a:p>
            <a:pPr algn="l">
              <a:lnSpc>
                <a:spcPct val="110000"/>
              </a:lnSpc>
              <a:spcAft>
                <a:spcPts val="700"/>
              </a:spcAft>
            </a:pPr>
            <a:r>
              <a:rPr sz="1150" b="0" i="0">
                <a:solidFill>
                  <a:srgbClr val="C4B2AE"/>
                </a:solidFill>
                <a:latin typeface="Segoe UI"/>
              </a:rPr>
              <a:t>PyJWT</a:t>
            </a:r>
          </a:p>
          <a:p>
            <a:pPr algn="l">
              <a:lnSpc>
                <a:spcPct val="110000"/>
              </a:lnSpc>
              <a:spcAft>
                <a:spcPts val="700"/>
              </a:spcAft>
            </a:pPr>
            <a:r>
              <a:rPr sz="1150" b="0" i="0">
                <a:solidFill>
                  <a:srgbClr val="C4B2AE"/>
                </a:solidFill>
                <a:latin typeface="Segoe UI"/>
              </a:rPr>
              <a:t>pytest</a:t>
            </a:r>
          </a:p>
        </p:txBody>
      </p:sp>
      <p:sp>
        <p:nvSpPr>
          <p:cNvPr id="16" name="Rounded Rectangle 15"/>
          <p:cNvSpPr/>
          <p:nvPr/>
        </p:nvSpPr>
        <p:spPr>
          <a:xfrm>
            <a:off x="5047488" y="1783080"/>
            <a:ext cx="2103120" cy="3749039"/>
          </a:xfrm>
          <a:prstGeom prst="roundRect">
            <a:avLst>
              <a:gd name="adj" fmla="val 6956"/>
            </a:avLst>
          </a:prstGeom>
          <a:solidFill>
            <a:srgbClr val="DB8492">
              <a:alpha val="6000"/>
            </a:srgbClr>
          </a:solidFill>
          <a:ln w="9525">
            <a:solidFill>
              <a:srgbClr val="DB8492">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248656" y="2029968"/>
            <a:ext cx="274320" cy="36576"/>
          </a:xfrm>
          <a:prstGeom prst="rect">
            <a:avLst/>
          </a:prstGeom>
          <a:solidFill>
            <a:srgbClr val="DB84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248656" y="2148840"/>
            <a:ext cx="1737360" cy="365760"/>
          </a:xfrm>
          <a:prstGeom prst="rect">
            <a:avLst/>
          </a:prstGeom>
          <a:noFill/>
        </p:spPr>
        <p:txBody>
          <a:bodyPr wrap="square" lIns="0" rIns="0" tIns="0" bIns="0" anchor="t">
            <a:spAutoFit/>
          </a:bodyPr>
          <a:lstStyle/>
          <a:p>
            <a:pPr algn="l">
              <a:lnSpc>
                <a:spcPct val="112000"/>
              </a:lnSpc>
            </a:pPr>
            <a:r>
              <a:rPr sz="1450" b="0" i="0">
                <a:solidFill>
                  <a:srgbClr val="F7F0E7"/>
                </a:solidFill>
                <a:latin typeface="Segoe UI Semibold"/>
              </a:rPr>
              <a:t>Data</a:t>
            </a:r>
          </a:p>
        </p:txBody>
      </p:sp>
      <p:sp>
        <p:nvSpPr>
          <p:cNvPr id="19" name="TextBox 18"/>
          <p:cNvSpPr txBox="1"/>
          <p:nvPr/>
        </p:nvSpPr>
        <p:spPr>
          <a:xfrm>
            <a:off x="5248656" y="2651760"/>
            <a:ext cx="1783080" cy="2834640"/>
          </a:xfrm>
          <a:prstGeom prst="rect">
            <a:avLst/>
          </a:prstGeom>
          <a:noFill/>
        </p:spPr>
        <p:txBody>
          <a:bodyPr wrap="square" lIns="0" rIns="0" tIns="0" bIns="0" anchor="t">
            <a:spAutoFit/>
          </a:bodyPr>
          <a:lstStyle/>
          <a:p>
            <a:pPr algn="l">
              <a:lnSpc>
                <a:spcPct val="110000"/>
              </a:lnSpc>
              <a:spcAft>
                <a:spcPts val="700"/>
              </a:spcAft>
            </a:pPr>
            <a:r>
              <a:rPr sz="1150" b="0" i="0">
                <a:solidFill>
                  <a:srgbClr val="C4B2AE"/>
                </a:solidFill>
                <a:latin typeface="Segoe UI"/>
              </a:rPr>
              <a:t>PostgreSQL 16</a:t>
            </a:r>
          </a:p>
          <a:p>
            <a:pPr algn="l">
              <a:lnSpc>
                <a:spcPct val="110000"/>
              </a:lnSpc>
              <a:spcAft>
                <a:spcPts val="700"/>
              </a:spcAft>
            </a:pPr>
            <a:r>
              <a:rPr sz="1150" b="0" i="0">
                <a:solidFill>
                  <a:srgbClr val="C4B2AE"/>
                </a:solidFill>
                <a:latin typeface="Segoe UI"/>
              </a:rPr>
              <a:t>pgvector</a:t>
            </a:r>
          </a:p>
          <a:p>
            <a:pPr algn="l">
              <a:lnSpc>
                <a:spcPct val="110000"/>
              </a:lnSpc>
              <a:spcAft>
                <a:spcPts val="700"/>
              </a:spcAft>
            </a:pPr>
            <a:r>
              <a:rPr sz="1150" b="0" i="0">
                <a:solidFill>
                  <a:srgbClr val="C4B2AE"/>
                </a:solidFill>
                <a:latin typeface="Segoe UI"/>
              </a:rPr>
              <a:t>Redis</a:t>
            </a:r>
          </a:p>
          <a:p>
            <a:pPr algn="l">
              <a:lnSpc>
                <a:spcPct val="110000"/>
              </a:lnSpc>
              <a:spcAft>
                <a:spcPts val="700"/>
              </a:spcAft>
            </a:pPr>
            <a:r>
              <a:rPr sz="1150" b="0" i="0">
                <a:solidFill>
                  <a:srgbClr val="C4B2AE"/>
                </a:solidFill>
                <a:latin typeface="Segoe UI"/>
              </a:rPr>
              <a:t>FastEmbed</a:t>
            </a:r>
          </a:p>
        </p:txBody>
      </p:sp>
      <p:sp>
        <p:nvSpPr>
          <p:cNvPr id="20" name="Rounded Rectangle 19"/>
          <p:cNvSpPr/>
          <p:nvPr/>
        </p:nvSpPr>
        <p:spPr>
          <a:xfrm>
            <a:off x="7287768" y="1783080"/>
            <a:ext cx="2103120" cy="3749039"/>
          </a:xfrm>
          <a:prstGeom prst="roundRect">
            <a:avLst>
              <a:gd name="adj" fmla="val 6956"/>
            </a:avLst>
          </a:prstGeom>
          <a:solidFill>
            <a:srgbClr val="9678EB">
              <a:alpha val="6000"/>
            </a:srgbClr>
          </a:solidFill>
          <a:ln w="9525">
            <a:solidFill>
              <a:srgbClr val="9678EB">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488936" y="2029968"/>
            <a:ext cx="274320" cy="36576"/>
          </a:xfrm>
          <a:prstGeom prst="rect">
            <a:avLst/>
          </a:prstGeom>
          <a:solidFill>
            <a:srgbClr val="967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88936" y="2148840"/>
            <a:ext cx="1737360" cy="365760"/>
          </a:xfrm>
          <a:prstGeom prst="rect">
            <a:avLst/>
          </a:prstGeom>
          <a:noFill/>
        </p:spPr>
        <p:txBody>
          <a:bodyPr wrap="square" lIns="0" rIns="0" tIns="0" bIns="0" anchor="t">
            <a:spAutoFit/>
          </a:bodyPr>
          <a:lstStyle/>
          <a:p>
            <a:pPr algn="l">
              <a:lnSpc>
                <a:spcPct val="112000"/>
              </a:lnSpc>
            </a:pPr>
            <a:r>
              <a:rPr sz="1450" b="0" i="0">
                <a:solidFill>
                  <a:srgbClr val="F7F0E7"/>
                </a:solidFill>
                <a:latin typeface="Segoe UI Semibold"/>
              </a:rPr>
              <a:t>AI and ML</a:t>
            </a:r>
          </a:p>
        </p:txBody>
      </p:sp>
      <p:sp>
        <p:nvSpPr>
          <p:cNvPr id="23" name="TextBox 22"/>
          <p:cNvSpPr txBox="1"/>
          <p:nvPr/>
        </p:nvSpPr>
        <p:spPr>
          <a:xfrm>
            <a:off x="7488936" y="2651760"/>
            <a:ext cx="1783080" cy="2834640"/>
          </a:xfrm>
          <a:prstGeom prst="rect">
            <a:avLst/>
          </a:prstGeom>
          <a:noFill/>
        </p:spPr>
        <p:txBody>
          <a:bodyPr wrap="square" lIns="0" rIns="0" tIns="0" bIns="0" anchor="t">
            <a:spAutoFit/>
          </a:bodyPr>
          <a:lstStyle/>
          <a:p>
            <a:pPr algn="l">
              <a:lnSpc>
                <a:spcPct val="110000"/>
              </a:lnSpc>
              <a:spcAft>
                <a:spcPts val="700"/>
              </a:spcAft>
            </a:pPr>
            <a:r>
              <a:rPr sz="1150" b="0" i="0">
                <a:solidFill>
                  <a:srgbClr val="C4B2AE"/>
                </a:solidFill>
                <a:latin typeface="Segoe UI"/>
              </a:rPr>
              <a:t>Gemini 3.5 Flash-Lite</a:t>
            </a:r>
          </a:p>
          <a:p>
            <a:pPr algn="l">
              <a:lnSpc>
                <a:spcPct val="110000"/>
              </a:lnSpc>
              <a:spcAft>
                <a:spcPts val="700"/>
              </a:spcAft>
            </a:pPr>
            <a:r>
              <a:rPr sz="1150" b="0" i="0">
                <a:solidFill>
                  <a:srgbClr val="C4B2AE"/>
                </a:solidFill>
                <a:latin typeface="Segoe UI"/>
              </a:rPr>
              <a:t>Claude (fallback)</a:t>
            </a:r>
          </a:p>
          <a:p>
            <a:pPr algn="l">
              <a:lnSpc>
                <a:spcPct val="110000"/>
              </a:lnSpc>
              <a:spcAft>
                <a:spcPts val="700"/>
              </a:spcAft>
            </a:pPr>
            <a:r>
              <a:rPr sz="1150" b="0" i="0">
                <a:solidFill>
                  <a:srgbClr val="C4B2AE"/>
                </a:solidFill>
                <a:latin typeface="Segoe UI"/>
              </a:rPr>
              <a:t>Ollama Llama 3.2</a:t>
            </a:r>
          </a:p>
          <a:p>
            <a:pPr algn="l">
              <a:lnSpc>
                <a:spcPct val="110000"/>
              </a:lnSpc>
              <a:spcAft>
                <a:spcPts val="700"/>
              </a:spcAft>
            </a:pPr>
            <a:r>
              <a:rPr sz="1150" b="0" i="0">
                <a:solidFill>
                  <a:srgbClr val="C4B2AE"/>
                </a:solidFill>
                <a:latin typeface="Segoe UI"/>
              </a:rPr>
              <a:t>Groq Whisper v3 Turbo</a:t>
            </a:r>
          </a:p>
          <a:p>
            <a:pPr algn="l">
              <a:lnSpc>
                <a:spcPct val="110000"/>
              </a:lnSpc>
              <a:spcAft>
                <a:spcPts val="700"/>
              </a:spcAft>
            </a:pPr>
            <a:r>
              <a:rPr sz="1150" b="0" i="0">
                <a:solidFill>
                  <a:srgbClr val="C4B2AE"/>
                </a:solidFill>
                <a:latin typeface="Segoe UI"/>
              </a:rPr>
              <a:t>Orpheus TTS</a:t>
            </a:r>
          </a:p>
          <a:p>
            <a:pPr algn="l">
              <a:lnSpc>
                <a:spcPct val="110000"/>
              </a:lnSpc>
              <a:spcAft>
                <a:spcPts val="700"/>
              </a:spcAft>
            </a:pPr>
            <a:r>
              <a:rPr sz="1150" b="0" i="0">
                <a:solidFill>
                  <a:srgbClr val="C4B2AE"/>
                </a:solidFill>
                <a:latin typeface="Segoe UI"/>
              </a:rPr>
              <a:t>Kokoro / Piper offline</a:t>
            </a:r>
          </a:p>
          <a:p>
            <a:pPr algn="l">
              <a:lnSpc>
                <a:spcPct val="110000"/>
              </a:lnSpc>
              <a:spcAft>
                <a:spcPts val="700"/>
              </a:spcAft>
            </a:pPr>
            <a:r>
              <a:rPr sz="1150" b="0" i="0">
                <a:solidFill>
                  <a:srgbClr val="C4B2AE"/>
                </a:solidFill>
                <a:latin typeface="Segoe UI"/>
              </a:rPr>
              <a:t>InsightFace · ONNX</a:t>
            </a:r>
          </a:p>
          <a:p>
            <a:pPr algn="l">
              <a:lnSpc>
                <a:spcPct val="110000"/>
              </a:lnSpc>
              <a:spcAft>
                <a:spcPts val="700"/>
              </a:spcAft>
            </a:pPr>
            <a:r>
              <a:rPr sz="1150" b="0" i="0">
                <a:solidFill>
                  <a:srgbClr val="C4B2AE"/>
                </a:solidFill>
                <a:latin typeface="Segoe UI"/>
              </a:rPr>
              <a:t>Tesseract OCR</a:t>
            </a:r>
          </a:p>
        </p:txBody>
      </p:sp>
      <p:sp>
        <p:nvSpPr>
          <p:cNvPr id="24" name="Rounded Rectangle 23"/>
          <p:cNvSpPr/>
          <p:nvPr/>
        </p:nvSpPr>
        <p:spPr>
          <a:xfrm>
            <a:off x="9528048" y="1783080"/>
            <a:ext cx="2103120" cy="3749039"/>
          </a:xfrm>
          <a:prstGeom prst="roundRect">
            <a:avLst>
              <a:gd name="adj" fmla="val 6956"/>
            </a:avLst>
          </a:prstGeom>
          <a:solidFill>
            <a:srgbClr val="C4B2AE">
              <a:alpha val="6000"/>
            </a:srgbClr>
          </a:solidFill>
          <a:ln w="9525">
            <a:solidFill>
              <a:srgbClr val="C4B2A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9729216" y="2029968"/>
            <a:ext cx="274320" cy="36576"/>
          </a:xfrm>
          <a:prstGeom prst="rect">
            <a:avLst/>
          </a:prstGeom>
          <a:solidFill>
            <a:srgbClr val="C4B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729216" y="2148840"/>
            <a:ext cx="1737360" cy="365760"/>
          </a:xfrm>
          <a:prstGeom prst="rect">
            <a:avLst/>
          </a:prstGeom>
          <a:noFill/>
        </p:spPr>
        <p:txBody>
          <a:bodyPr wrap="square" lIns="0" rIns="0" tIns="0" bIns="0" anchor="t">
            <a:spAutoFit/>
          </a:bodyPr>
          <a:lstStyle/>
          <a:p>
            <a:pPr algn="l">
              <a:lnSpc>
                <a:spcPct val="112000"/>
              </a:lnSpc>
            </a:pPr>
            <a:r>
              <a:rPr sz="1450" b="0" i="0">
                <a:solidFill>
                  <a:srgbClr val="F7F0E7"/>
                </a:solidFill>
                <a:latin typeface="Segoe UI Semibold"/>
              </a:rPr>
              <a:t>Real-time and infra</a:t>
            </a:r>
          </a:p>
        </p:txBody>
      </p:sp>
      <p:sp>
        <p:nvSpPr>
          <p:cNvPr id="27" name="TextBox 26"/>
          <p:cNvSpPr txBox="1"/>
          <p:nvPr/>
        </p:nvSpPr>
        <p:spPr>
          <a:xfrm>
            <a:off x="9729216" y="2651760"/>
            <a:ext cx="1783080" cy="2834640"/>
          </a:xfrm>
          <a:prstGeom prst="rect">
            <a:avLst/>
          </a:prstGeom>
          <a:noFill/>
        </p:spPr>
        <p:txBody>
          <a:bodyPr wrap="square" lIns="0" rIns="0" tIns="0" bIns="0" anchor="t">
            <a:spAutoFit/>
          </a:bodyPr>
          <a:lstStyle/>
          <a:p>
            <a:pPr algn="l">
              <a:lnSpc>
                <a:spcPct val="110000"/>
              </a:lnSpc>
              <a:spcAft>
                <a:spcPts val="700"/>
              </a:spcAft>
            </a:pPr>
            <a:r>
              <a:rPr sz="1150" b="0" i="0">
                <a:solidFill>
                  <a:srgbClr val="C4B2AE"/>
                </a:solidFill>
                <a:latin typeface="Segoe UI"/>
              </a:rPr>
              <a:t>LiveKit Cloud + Agents</a:t>
            </a:r>
          </a:p>
          <a:p>
            <a:pPr algn="l">
              <a:lnSpc>
                <a:spcPct val="110000"/>
              </a:lnSpc>
              <a:spcAft>
                <a:spcPts val="700"/>
              </a:spcAft>
            </a:pPr>
            <a:r>
              <a:rPr sz="1150" b="0" i="0">
                <a:solidFill>
                  <a:srgbClr val="C4B2AE"/>
                </a:solidFill>
                <a:latin typeface="Segoe UI"/>
              </a:rPr>
              <a:t>coturn TURN</a:t>
            </a:r>
          </a:p>
          <a:p>
            <a:pPr algn="l">
              <a:lnSpc>
                <a:spcPct val="110000"/>
              </a:lnSpc>
              <a:spcAft>
                <a:spcPts val="700"/>
              </a:spcAft>
            </a:pPr>
            <a:r>
              <a:rPr sz="1150" b="0" i="0">
                <a:solidFill>
                  <a:srgbClr val="C4B2AE"/>
                </a:solidFill>
                <a:latin typeface="Segoe UI"/>
              </a:rPr>
              <a:t>Docker Compose</a:t>
            </a:r>
          </a:p>
          <a:p>
            <a:pPr algn="l">
              <a:lnSpc>
                <a:spcPct val="110000"/>
              </a:lnSpc>
              <a:spcAft>
                <a:spcPts val="700"/>
              </a:spcAft>
            </a:pPr>
            <a:r>
              <a:rPr sz="1150" b="0" i="0">
                <a:solidFill>
                  <a:srgbClr val="C4B2AE"/>
                </a:solidFill>
                <a:latin typeface="Segoe UI"/>
              </a:rPr>
              <a:t>Tailscale Funnel</a:t>
            </a:r>
          </a:p>
          <a:p>
            <a:pPr algn="l">
              <a:lnSpc>
                <a:spcPct val="110000"/>
              </a:lnSpc>
              <a:spcAft>
                <a:spcPts val="700"/>
              </a:spcAft>
            </a:pPr>
            <a:r>
              <a:rPr sz="1150" b="0" i="0">
                <a:solidFill>
                  <a:srgbClr val="C4B2AE"/>
                </a:solidFill>
                <a:latin typeface="Segoe UI"/>
              </a:rPr>
              <a:t>Gmail · Calendar APIs</a:t>
            </a:r>
          </a:p>
          <a:p>
            <a:pPr algn="l">
              <a:lnSpc>
                <a:spcPct val="110000"/>
              </a:lnSpc>
              <a:spcAft>
                <a:spcPts val="700"/>
              </a:spcAft>
            </a:pPr>
            <a:r>
              <a:rPr sz="1150" b="0" i="0">
                <a:solidFill>
                  <a:srgbClr val="C4B2AE"/>
                </a:solidFill>
                <a:latin typeface="Segoe UI"/>
              </a:rPr>
              <a:t>Mailpit</a:t>
            </a:r>
          </a:p>
          <a:p>
            <a:pPr algn="l">
              <a:lnSpc>
                <a:spcPct val="110000"/>
              </a:lnSpc>
              <a:spcAft>
                <a:spcPts val="700"/>
              </a:spcAft>
            </a:pPr>
            <a:r>
              <a:rPr sz="1150" b="0" i="0">
                <a:solidFill>
                  <a:srgbClr val="C4B2AE"/>
                </a:solidFill>
                <a:latin typeface="Segoe UI"/>
              </a:rPr>
              <a:t>MCP</a:t>
            </a:r>
          </a:p>
        </p:txBody>
      </p:sp>
      <p:sp>
        <p:nvSpPr>
          <p:cNvPr id="28" name="TextBox 27"/>
          <p:cNvSpPr txBox="1"/>
          <p:nvPr/>
        </p:nvSpPr>
        <p:spPr>
          <a:xfrm>
            <a:off x="566928" y="5760720"/>
            <a:ext cx="11064240" cy="365760"/>
          </a:xfrm>
          <a:prstGeom prst="rect">
            <a:avLst/>
          </a:prstGeom>
          <a:noFill/>
        </p:spPr>
        <p:txBody>
          <a:bodyPr wrap="square" lIns="0" rIns="0" tIns="0" bIns="0" anchor="t">
            <a:spAutoFit/>
          </a:bodyPr>
          <a:lstStyle/>
          <a:p>
            <a:pPr algn="l">
              <a:lnSpc>
                <a:spcPct val="115000"/>
              </a:lnSpc>
              <a:spcAft>
                <a:spcPts val="0"/>
              </a:spcAft>
            </a:pPr>
            <a:r>
              <a:rPr sz="1150" b="0" i="0">
                <a:solidFill>
                  <a:srgbClr val="F3A85C"/>
                </a:solidFill>
                <a:latin typeface="Segoe UI Semibold"/>
              </a:rPr>
              <a:t>Resilient by design  </a:t>
            </a:r>
            <a:r>
              <a:rPr sz="1150" b="0" i="0">
                <a:solidFill>
                  <a:srgbClr val="C4B2AE"/>
                </a:solidFill>
                <a:latin typeface="Segoe UI"/>
              </a:rPr>
              <a:t>every AI step has a fallback: a second cloud model, then a local model; a cloud voice, then an offline voice.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wine.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566928"/>
            <a:ext cx="292608" cy="41148"/>
          </a:xfrm>
          <a:prstGeom prst="rect">
            <a:avLst/>
          </a:prstGeom>
          <a:solidFill>
            <a:srgbClr val="F3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457200"/>
            <a:ext cx="8229600" cy="274320"/>
          </a:xfrm>
          <a:prstGeom prst="rect">
            <a:avLst/>
          </a:prstGeom>
          <a:noFill/>
        </p:spPr>
        <p:txBody>
          <a:bodyPr wrap="square" lIns="0" rIns="0" tIns="0" bIns="0" anchor="t">
            <a:spAutoFit/>
          </a:bodyPr>
          <a:lstStyle/>
          <a:p>
            <a:pPr algn="l">
              <a:lnSpc>
                <a:spcPct val="112000"/>
              </a:lnSpc>
            </a:pPr>
            <a:r>
              <a:rPr sz="1100" b="0" i="0" spc="320">
                <a:solidFill>
                  <a:srgbClr val="F3A85C"/>
                </a:solidFill>
                <a:latin typeface="Segoe UI Semibold"/>
              </a:rPr>
              <a:t>08  ·  WORKFLOW</a:t>
            </a:r>
          </a:p>
        </p:txBody>
      </p:sp>
      <p:sp>
        <p:nvSpPr>
          <p:cNvPr id="5" name="TextBox 4"/>
          <p:cNvSpPr txBox="1"/>
          <p:nvPr/>
        </p:nvSpPr>
        <p:spPr>
          <a:xfrm>
            <a:off x="548640" y="786384"/>
            <a:ext cx="11064240" cy="914400"/>
          </a:xfrm>
          <a:prstGeom prst="rect">
            <a:avLst/>
          </a:prstGeom>
          <a:noFill/>
        </p:spPr>
        <p:txBody>
          <a:bodyPr wrap="square" lIns="0" rIns="0" tIns="0" bIns="0" anchor="t">
            <a:spAutoFit/>
          </a:bodyPr>
          <a:lstStyle/>
          <a:p>
            <a:pPr algn="l">
              <a:lnSpc>
                <a:spcPct val="112000"/>
              </a:lnSpc>
            </a:pPr>
            <a:r>
              <a:rPr sz="3800" b="0" i="0">
                <a:solidFill>
                  <a:srgbClr val="F7F0E7"/>
                </a:solidFill>
                <a:latin typeface="Georgia"/>
              </a:rPr>
              <a:t>From policy to approval letter</a:t>
            </a:r>
          </a:p>
        </p:txBody>
      </p:sp>
      <p:sp>
        <p:nvSpPr>
          <p:cNvPr id="6" name="TextBox 5"/>
          <p:cNvSpPr txBox="1"/>
          <p:nvPr/>
        </p:nvSpPr>
        <p:spPr>
          <a:xfrm>
            <a:off x="566928" y="6419088"/>
            <a:ext cx="2743200" cy="228600"/>
          </a:xfrm>
          <a:prstGeom prst="rect">
            <a:avLst/>
          </a:prstGeom>
          <a:noFill/>
        </p:spPr>
        <p:txBody>
          <a:bodyPr wrap="square" lIns="0" rIns="0" tIns="0" bIns="0" anchor="t">
            <a:spAutoFit/>
          </a:bodyPr>
          <a:lstStyle/>
          <a:p>
            <a:pPr algn="l">
              <a:lnSpc>
                <a:spcPct val="112000"/>
              </a:lnSpc>
            </a:pPr>
            <a:r>
              <a:rPr sz="900" b="0" i="0" spc="400">
                <a:solidFill>
                  <a:srgbClr val="8C7A78"/>
                </a:solidFill>
                <a:latin typeface="Segoe UI Semibold"/>
              </a:rPr>
              <a:t>SIFT</a:t>
            </a:r>
          </a:p>
        </p:txBody>
      </p:sp>
      <p:sp>
        <p:nvSpPr>
          <p:cNvPr id="7" name="TextBox 6"/>
          <p:cNvSpPr txBox="1"/>
          <p:nvPr/>
        </p:nvSpPr>
        <p:spPr>
          <a:xfrm>
            <a:off x="9784080" y="6419088"/>
            <a:ext cx="1856231" cy="228600"/>
          </a:xfrm>
          <a:prstGeom prst="rect">
            <a:avLst/>
          </a:prstGeom>
          <a:noFill/>
        </p:spPr>
        <p:txBody>
          <a:bodyPr wrap="square" lIns="0" rIns="0" tIns="0" bIns="0" anchor="t">
            <a:spAutoFit/>
          </a:bodyPr>
          <a:lstStyle/>
          <a:p>
            <a:pPr algn="r">
              <a:lnSpc>
                <a:spcPct val="112000"/>
              </a:lnSpc>
            </a:pPr>
            <a:r>
              <a:rPr sz="900" b="0" i="0" spc="200">
                <a:solidFill>
                  <a:srgbClr val="8C7A78"/>
                </a:solidFill>
                <a:latin typeface="Segoe UI Semibold"/>
              </a:rPr>
              <a:t>12 / 19</a:t>
            </a:r>
          </a:p>
        </p:txBody>
      </p:sp>
      <p:sp>
        <p:nvSpPr>
          <p:cNvPr id="8" name="Rounded Rectangle 7"/>
          <p:cNvSpPr/>
          <p:nvPr/>
        </p:nvSpPr>
        <p:spPr>
          <a:xfrm>
            <a:off x="566928" y="1874519"/>
            <a:ext cx="2606040" cy="1783080"/>
          </a:xfrm>
          <a:prstGeom prst="roundRect">
            <a:avLst>
              <a:gd name="adj" fmla="val 8205"/>
            </a:avLst>
          </a:prstGeom>
          <a:solidFill>
            <a:srgbClr val="C4B2AE">
              <a:alpha val="5000"/>
            </a:srgbClr>
          </a:solidFill>
          <a:ln w="9525">
            <a:solidFill>
              <a:srgbClr val="C4B2AE">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8096" y="2075688"/>
            <a:ext cx="420624" cy="420624"/>
          </a:xfrm>
          <a:prstGeom prst="ellipse">
            <a:avLst/>
          </a:prstGeom>
          <a:solidFill>
            <a:srgbClr val="C4B2AE">
              <a:alpha val="18000"/>
            </a:srgbClr>
          </a:solidFill>
          <a:ln w="9525">
            <a:solidFill>
              <a:srgbClr val="C4B2AE">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2075688"/>
            <a:ext cx="420624" cy="420624"/>
          </a:xfrm>
          <a:prstGeom prst="rect">
            <a:avLst/>
          </a:prstGeom>
          <a:noFill/>
        </p:spPr>
        <p:txBody>
          <a:bodyPr wrap="square" lIns="0" rIns="0" tIns="0" bIns="0" anchor="ctr">
            <a:spAutoFit/>
          </a:bodyPr>
          <a:lstStyle/>
          <a:p>
            <a:pPr algn="ctr">
              <a:lnSpc>
                <a:spcPct val="112000"/>
              </a:lnSpc>
            </a:pPr>
            <a:r>
              <a:rPr sz="1250" b="0" i="0">
                <a:solidFill>
                  <a:srgbClr val="C4B2AE"/>
                </a:solidFill>
                <a:latin typeface="Segoe UI Semibold"/>
              </a:rPr>
              <a:t>1</a:t>
            </a:r>
          </a:p>
        </p:txBody>
      </p:sp>
      <p:sp>
        <p:nvSpPr>
          <p:cNvPr id="11" name="TextBox 10"/>
          <p:cNvSpPr txBox="1"/>
          <p:nvPr/>
        </p:nvSpPr>
        <p:spPr>
          <a:xfrm>
            <a:off x="1316736" y="2121408"/>
            <a:ext cx="1783080" cy="365760"/>
          </a:xfrm>
          <a:prstGeom prst="rect">
            <a:avLst/>
          </a:prstGeom>
          <a:noFill/>
        </p:spPr>
        <p:txBody>
          <a:bodyPr wrap="square" lIns="0" rIns="0" tIns="0" bIns="0" anchor="t">
            <a:spAutoFit/>
          </a:bodyPr>
          <a:lstStyle/>
          <a:p>
            <a:pPr algn="l">
              <a:lnSpc>
                <a:spcPct val="112000"/>
              </a:lnSpc>
            </a:pPr>
            <a:r>
              <a:rPr sz="1400" b="0" i="0">
                <a:solidFill>
                  <a:srgbClr val="F7F0E7"/>
                </a:solidFill>
                <a:latin typeface="Segoe UI Semibold"/>
              </a:rPr>
              <a:t>Index policy</a:t>
            </a:r>
          </a:p>
        </p:txBody>
      </p:sp>
      <p:sp>
        <p:nvSpPr>
          <p:cNvPr id="12" name="TextBox 11"/>
          <p:cNvSpPr txBox="1"/>
          <p:nvPr/>
        </p:nvSpPr>
        <p:spPr>
          <a:xfrm>
            <a:off x="768096" y="2651760"/>
            <a:ext cx="2240280" cy="960120"/>
          </a:xfrm>
          <a:prstGeom prst="rect">
            <a:avLst/>
          </a:prstGeom>
          <a:noFill/>
        </p:spPr>
        <p:txBody>
          <a:bodyPr wrap="square" lIns="0" rIns="0" tIns="0" bIns="0" anchor="t">
            <a:spAutoFit/>
          </a:bodyPr>
          <a:lstStyle/>
          <a:p>
            <a:pPr algn="l">
              <a:lnSpc>
                <a:spcPct val="122000"/>
              </a:lnSpc>
            </a:pPr>
            <a:r>
              <a:rPr sz="1100" b="0" i="0">
                <a:solidFill>
                  <a:srgbClr val="C4B2AE"/>
                </a:solidFill>
                <a:latin typeface="Segoe UI"/>
              </a:rPr>
              <a:t>Company policy and the question bank are embedded for search.</a:t>
            </a:r>
          </a:p>
        </p:txBody>
      </p:sp>
      <p:cxnSp>
        <p:nvCxnSpPr>
          <p:cNvPr id="13" name="Connector 12"/>
          <p:cNvCxnSpPr/>
          <p:nvPr/>
        </p:nvCxnSpPr>
        <p:spPr>
          <a:xfrm>
            <a:off x="3200400" y="2761487"/>
            <a:ext cx="146304" cy="0"/>
          </a:xfrm>
          <a:prstGeom prst="line">
            <a:avLst/>
          </a:prstGeom>
          <a:ln w="15875">
            <a:solidFill>
              <a:srgbClr val="C4B2AE">
                <a:alpha val="55000"/>
              </a:srgbClr>
            </a:solidFill>
            <a:tailEnd type="triangle" w="med" h="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74136" y="1874519"/>
            <a:ext cx="2606040" cy="1783080"/>
          </a:xfrm>
          <a:prstGeom prst="roundRect">
            <a:avLst>
              <a:gd name="adj" fmla="val 8205"/>
            </a:avLst>
          </a:prstGeom>
          <a:solidFill>
            <a:srgbClr val="F3A85C">
              <a:alpha val="5000"/>
            </a:srgbClr>
          </a:solidFill>
          <a:ln w="9525">
            <a:solidFill>
              <a:srgbClr val="F3A85C">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575304" y="2075688"/>
            <a:ext cx="420624" cy="420624"/>
          </a:xfrm>
          <a:prstGeom prst="ellipse">
            <a:avLst/>
          </a:prstGeom>
          <a:solidFill>
            <a:srgbClr val="F3A85C">
              <a:alpha val="18000"/>
            </a:srgbClr>
          </a:solidFill>
          <a:ln w="9525">
            <a:solidFill>
              <a:srgbClr val="F3A85C">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75304" y="2075688"/>
            <a:ext cx="420624" cy="420624"/>
          </a:xfrm>
          <a:prstGeom prst="rect">
            <a:avLst/>
          </a:prstGeom>
          <a:noFill/>
        </p:spPr>
        <p:txBody>
          <a:bodyPr wrap="square" lIns="0" rIns="0" tIns="0" bIns="0" anchor="ctr">
            <a:spAutoFit/>
          </a:bodyPr>
          <a:lstStyle/>
          <a:p>
            <a:pPr algn="ctr">
              <a:lnSpc>
                <a:spcPct val="112000"/>
              </a:lnSpc>
            </a:pPr>
            <a:r>
              <a:rPr sz="1250" b="0" i="0">
                <a:solidFill>
                  <a:srgbClr val="F3A85C"/>
                </a:solidFill>
                <a:latin typeface="Segoe UI Semibold"/>
              </a:rPr>
              <a:t>2</a:t>
            </a:r>
          </a:p>
        </p:txBody>
      </p:sp>
      <p:sp>
        <p:nvSpPr>
          <p:cNvPr id="17" name="TextBox 16"/>
          <p:cNvSpPr txBox="1"/>
          <p:nvPr/>
        </p:nvSpPr>
        <p:spPr>
          <a:xfrm>
            <a:off x="4123944" y="2121408"/>
            <a:ext cx="1783080" cy="365760"/>
          </a:xfrm>
          <a:prstGeom prst="rect">
            <a:avLst/>
          </a:prstGeom>
          <a:noFill/>
        </p:spPr>
        <p:txBody>
          <a:bodyPr wrap="square" lIns="0" rIns="0" tIns="0" bIns="0" anchor="t">
            <a:spAutoFit/>
          </a:bodyPr>
          <a:lstStyle/>
          <a:p>
            <a:pPr algn="l">
              <a:lnSpc>
                <a:spcPct val="112000"/>
              </a:lnSpc>
            </a:pPr>
            <a:r>
              <a:rPr sz="1400" b="0" i="0">
                <a:solidFill>
                  <a:srgbClr val="F7F0E7"/>
                </a:solidFill>
                <a:latin typeface="Segoe UI Semibold"/>
              </a:rPr>
              <a:t>Draft the role</a:t>
            </a:r>
          </a:p>
        </p:txBody>
      </p:sp>
      <p:sp>
        <p:nvSpPr>
          <p:cNvPr id="18" name="TextBox 17"/>
          <p:cNvSpPr txBox="1"/>
          <p:nvPr/>
        </p:nvSpPr>
        <p:spPr>
          <a:xfrm>
            <a:off x="3575304" y="2651760"/>
            <a:ext cx="2240280" cy="960120"/>
          </a:xfrm>
          <a:prstGeom prst="rect">
            <a:avLst/>
          </a:prstGeom>
          <a:noFill/>
        </p:spPr>
        <p:txBody>
          <a:bodyPr wrap="square" lIns="0" rIns="0" tIns="0" bIns="0" anchor="t">
            <a:spAutoFit/>
          </a:bodyPr>
          <a:lstStyle/>
          <a:p>
            <a:pPr algn="l">
              <a:lnSpc>
                <a:spcPct val="122000"/>
              </a:lnSpc>
            </a:pPr>
            <a:r>
              <a:rPr sz="1100" b="0" i="0">
                <a:solidFill>
                  <a:srgbClr val="C4B2AE"/>
                </a:solidFill>
                <a:latin typeface="Segoe UI"/>
              </a:rPr>
              <a:t>Copilot writes the brief and 10 checklist questions. The recruiter edits and locks it.</a:t>
            </a:r>
          </a:p>
        </p:txBody>
      </p:sp>
      <p:cxnSp>
        <p:nvCxnSpPr>
          <p:cNvPr id="19" name="Connector 18"/>
          <p:cNvCxnSpPr/>
          <p:nvPr/>
        </p:nvCxnSpPr>
        <p:spPr>
          <a:xfrm>
            <a:off x="6007608" y="2761487"/>
            <a:ext cx="146304" cy="0"/>
          </a:xfrm>
          <a:prstGeom prst="line">
            <a:avLst/>
          </a:prstGeom>
          <a:ln w="15875">
            <a:solidFill>
              <a:srgbClr val="C4B2AE">
                <a:alpha val="55000"/>
              </a:srgbClr>
            </a:solidFill>
            <a:tailEnd type="triangle" w="med" h="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81344" y="1874519"/>
            <a:ext cx="2606040" cy="1783080"/>
          </a:xfrm>
          <a:prstGeom prst="roundRect">
            <a:avLst>
              <a:gd name="adj" fmla="val 8205"/>
            </a:avLst>
          </a:prstGeom>
          <a:solidFill>
            <a:srgbClr val="98D0AC">
              <a:alpha val="5000"/>
            </a:srgbClr>
          </a:solidFill>
          <a:ln w="9525">
            <a:solidFill>
              <a:srgbClr val="98D0AC">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382512" y="2075688"/>
            <a:ext cx="420624" cy="420624"/>
          </a:xfrm>
          <a:prstGeom prst="ellipse">
            <a:avLst/>
          </a:prstGeom>
          <a:solidFill>
            <a:srgbClr val="98D0AC">
              <a:alpha val="18000"/>
            </a:srgbClr>
          </a:solidFill>
          <a:ln w="9525">
            <a:solidFill>
              <a:srgbClr val="98D0AC">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82512" y="2075688"/>
            <a:ext cx="420624" cy="420624"/>
          </a:xfrm>
          <a:prstGeom prst="rect">
            <a:avLst/>
          </a:prstGeom>
          <a:noFill/>
        </p:spPr>
        <p:txBody>
          <a:bodyPr wrap="square" lIns="0" rIns="0" tIns="0" bIns="0" anchor="ctr">
            <a:spAutoFit/>
          </a:bodyPr>
          <a:lstStyle/>
          <a:p>
            <a:pPr algn="ctr">
              <a:lnSpc>
                <a:spcPct val="112000"/>
              </a:lnSpc>
            </a:pPr>
            <a:r>
              <a:rPr sz="1250" b="0" i="0">
                <a:solidFill>
                  <a:srgbClr val="98D0AC"/>
                </a:solidFill>
                <a:latin typeface="Segoe UI Semibold"/>
              </a:rPr>
              <a:t>3</a:t>
            </a:r>
          </a:p>
        </p:txBody>
      </p:sp>
      <p:sp>
        <p:nvSpPr>
          <p:cNvPr id="23" name="TextBox 22"/>
          <p:cNvSpPr txBox="1"/>
          <p:nvPr/>
        </p:nvSpPr>
        <p:spPr>
          <a:xfrm>
            <a:off x="6931152" y="2121408"/>
            <a:ext cx="1783080" cy="365760"/>
          </a:xfrm>
          <a:prstGeom prst="rect">
            <a:avLst/>
          </a:prstGeom>
          <a:noFill/>
        </p:spPr>
        <p:txBody>
          <a:bodyPr wrap="square" lIns="0" rIns="0" tIns="0" bIns="0" anchor="t">
            <a:spAutoFit/>
          </a:bodyPr>
          <a:lstStyle/>
          <a:p>
            <a:pPr algn="l">
              <a:lnSpc>
                <a:spcPct val="112000"/>
              </a:lnSpc>
            </a:pPr>
            <a:r>
              <a:rPr sz="1400" b="0" i="0">
                <a:solidFill>
                  <a:srgbClr val="F7F0E7"/>
                </a:solidFill>
                <a:latin typeface="Segoe UI Semibold"/>
              </a:rPr>
              <a:t>Collect CVs</a:t>
            </a:r>
          </a:p>
        </p:txBody>
      </p:sp>
      <p:sp>
        <p:nvSpPr>
          <p:cNvPr id="24" name="TextBox 23"/>
          <p:cNvSpPr txBox="1"/>
          <p:nvPr/>
        </p:nvSpPr>
        <p:spPr>
          <a:xfrm>
            <a:off x="6382512" y="2651760"/>
            <a:ext cx="2240280" cy="960120"/>
          </a:xfrm>
          <a:prstGeom prst="rect">
            <a:avLst/>
          </a:prstGeom>
          <a:noFill/>
        </p:spPr>
        <p:txBody>
          <a:bodyPr wrap="square" lIns="0" rIns="0" tIns="0" bIns="0" anchor="t">
            <a:spAutoFit/>
          </a:bodyPr>
          <a:lstStyle/>
          <a:p>
            <a:pPr algn="l">
              <a:lnSpc>
                <a:spcPct val="122000"/>
              </a:lnSpc>
            </a:pPr>
            <a:r>
              <a:rPr sz="1100" b="0" i="0">
                <a:solidFill>
                  <a:srgbClr val="C4B2AE"/>
                </a:solidFill>
                <a:latin typeface="Segoe UI"/>
              </a:rPr>
              <a:t>Upload or email. Parsed, with OCR when text is missing.</a:t>
            </a:r>
          </a:p>
        </p:txBody>
      </p:sp>
      <p:cxnSp>
        <p:nvCxnSpPr>
          <p:cNvPr id="25" name="Connector 24"/>
          <p:cNvCxnSpPr/>
          <p:nvPr/>
        </p:nvCxnSpPr>
        <p:spPr>
          <a:xfrm>
            <a:off x="8814816" y="2761487"/>
            <a:ext cx="146304" cy="0"/>
          </a:xfrm>
          <a:prstGeom prst="line">
            <a:avLst/>
          </a:prstGeom>
          <a:ln w="15875">
            <a:solidFill>
              <a:srgbClr val="C4B2AE">
                <a:alpha val="55000"/>
              </a:srgbClr>
            </a:solidFill>
            <a:tailEnd type="triangle" w="med" h="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988551" y="1874519"/>
            <a:ext cx="2606040" cy="1783080"/>
          </a:xfrm>
          <a:prstGeom prst="roundRect">
            <a:avLst>
              <a:gd name="adj" fmla="val 8205"/>
            </a:avLst>
          </a:prstGeom>
          <a:solidFill>
            <a:srgbClr val="98D0AC">
              <a:alpha val="5000"/>
            </a:srgbClr>
          </a:solidFill>
          <a:ln w="9525">
            <a:solidFill>
              <a:srgbClr val="98D0AC">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189719" y="2075688"/>
            <a:ext cx="420624" cy="420624"/>
          </a:xfrm>
          <a:prstGeom prst="ellipse">
            <a:avLst/>
          </a:prstGeom>
          <a:solidFill>
            <a:srgbClr val="98D0AC">
              <a:alpha val="18000"/>
            </a:srgbClr>
          </a:solidFill>
          <a:ln w="9525">
            <a:solidFill>
              <a:srgbClr val="98D0AC">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89719" y="2075688"/>
            <a:ext cx="420624" cy="420624"/>
          </a:xfrm>
          <a:prstGeom prst="rect">
            <a:avLst/>
          </a:prstGeom>
          <a:noFill/>
        </p:spPr>
        <p:txBody>
          <a:bodyPr wrap="square" lIns="0" rIns="0" tIns="0" bIns="0" anchor="ctr">
            <a:spAutoFit/>
          </a:bodyPr>
          <a:lstStyle/>
          <a:p>
            <a:pPr algn="ctr">
              <a:lnSpc>
                <a:spcPct val="112000"/>
              </a:lnSpc>
            </a:pPr>
            <a:r>
              <a:rPr sz="1250" b="0" i="0">
                <a:solidFill>
                  <a:srgbClr val="98D0AC"/>
                </a:solidFill>
                <a:latin typeface="Segoe UI Semibold"/>
              </a:rPr>
              <a:t>4</a:t>
            </a:r>
          </a:p>
        </p:txBody>
      </p:sp>
      <p:sp>
        <p:nvSpPr>
          <p:cNvPr id="29" name="TextBox 28"/>
          <p:cNvSpPr txBox="1"/>
          <p:nvPr/>
        </p:nvSpPr>
        <p:spPr>
          <a:xfrm>
            <a:off x="9738359" y="2121408"/>
            <a:ext cx="1783080" cy="365760"/>
          </a:xfrm>
          <a:prstGeom prst="rect">
            <a:avLst/>
          </a:prstGeom>
          <a:noFill/>
        </p:spPr>
        <p:txBody>
          <a:bodyPr wrap="square" lIns="0" rIns="0" tIns="0" bIns="0" anchor="t">
            <a:spAutoFit/>
          </a:bodyPr>
          <a:lstStyle/>
          <a:p>
            <a:pPr algn="l">
              <a:lnSpc>
                <a:spcPct val="112000"/>
              </a:lnSpc>
            </a:pPr>
            <a:r>
              <a:rPr sz="1400" b="0" i="0">
                <a:solidFill>
                  <a:srgbClr val="F7F0E7"/>
                </a:solidFill>
                <a:latin typeface="Segoe UI Semibold"/>
              </a:rPr>
              <a:t>Score and rank</a:t>
            </a:r>
          </a:p>
        </p:txBody>
      </p:sp>
      <p:sp>
        <p:nvSpPr>
          <p:cNvPr id="30" name="TextBox 29"/>
          <p:cNvSpPr txBox="1"/>
          <p:nvPr/>
        </p:nvSpPr>
        <p:spPr>
          <a:xfrm>
            <a:off x="9189719" y="2651760"/>
            <a:ext cx="2240280" cy="960120"/>
          </a:xfrm>
          <a:prstGeom prst="rect">
            <a:avLst/>
          </a:prstGeom>
          <a:noFill/>
        </p:spPr>
        <p:txBody>
          <a:bodyPr wrap="square" lIns="0" rIns="0" tIns="0" bIns="0" anchor="t">
            <a:spAutoFit/>
          </a:bodyPr>
          <a:lstStyle/>
          <a:p>
            <a:pPr algn="l">
              <a:lnSpc>
                <a:spcPct val="122000"/>
              </a:lnSpc>
            </a:pPr>
            <a:r>
              <a:rPr sz="1100" b="0" i="0">
                <a:solidFill>
                  <a:srgbClr val="C4B2AE"/>
                </a:solidFill>
                <a:latin typeface="Segoe UI"/>
              </a:rPr>
              <a:t>Each checklist item judged with a quoted line. Ranked by fit.</a:t>
            </a:r>
          </a:p>
        </p:txBody>
      </p:sp>
      <p:sp>
        <p:nvSpPr>
          <p:cNvPr id="31" name="Rounded Rectangle 30"/>
          <p:cNvSpPr/>
          <p:nvPr/>
        </p:nvSpPr>
        <p:spPr>
          <a:xfrm>
            <a:off x="566928" y="3977639"/>
            <a:ext cx="2606040" cy="1783080"/>
          </a:xfrm>
          <a:prstGeom prst="roundRect">
            <a:avLst>
              <a:gd name="adj" fmla="val 8205"/>
            </a:avLst>
          </a:prstGeom>
          <a:solidFill>
            <a:srgbClr val="DB8492">
              <a:alpha val="5000"/>
            </a:srgbClr>
          </a:solidFill>
          <a:ln w="9525">
            <a:solidFill>
              <a:srgbClr val="DB8492">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768096" y="4178807"/>
            <a:ext cx="420624" cy="420624"/>
          </a:xfrm>
          <a:prstGeom prst="ellipse">
            <a:avLst/>
          </a:prstGeom>
          <a:solidFill>
            <a:srgbClr val="DB8492">
              <a:alpha val="18000"/>
            </a:srgbClr>
          </a:solidFill>
          <a:ln w="9525">
            <a:solidFill>
              <a:srgbClr val="DB8492">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68096" y="4178807"/>
            <a:ext cx="420624" cy="420624"/>
          </a:xfrm>
          <a:prstGeom prst="rect">
            <a:avLst/>
          </a:prstGeom>
          <a:noFill/>
        </p:spPr>
        <p:txBody>
          <a:bodyPr wrap="square" lIns="0" rIns="0" tIns="0" bIns="0" anchor="ctr">
            <a:spAutoFit/>
          </a:bodyPr>
          <a:lstStyle/>
          <a:p>
            <a:pPr algn="ctr">
              <a:lnSpc>
                <a:spcPct val="112000"/>
              </a:lnSpc>
            </a:pPr>
            <a:r>
              <a:rPr sz="1250" b="0" i="0">
                <a:solidFill>
                  <a:srgbClr val="DB8492"/>
                </a:solidFill>
                <a:latin typeface="Segoe UI Semibold"/>
              </a:rPr>
              <a:t>5</a:t>
            </a:r>
          </a:p>
        </p:txBody>
      </p:sp>
      <p:sp>
        <p:nvSpPr>
          <p:cNvPr id="34" name="TextBox 33"/>
          <p:cNvSpPr txBox="1"/>
          <p:nvPr/>
        </p:nvSpPr>
        <p:spPr>
          <a:xfrm>
            <a:off x="1316736" y="4224527"/>
            <a:ext cx="1783080" cy="365760"/>
          </a:xfrm>
          <a:prstGeom prst="rect">
            <a:avLst/>
          </a:prstGeom>
          <a:noFill/>
        </p:spPr>
        <p:txBody>
          <a:bodyPr wrap="square" lIns="0" rIns="0" tIns="0" bIns="0" anchor="t">
            <a:spAutoFit/>
          </a:bodyPr>
          <a:lstStyle/>
          <a:p>
            <a:pPr algn="l">
              <a:lnSpc>
                <a:spcPct val="112000"/>
              </a:lnSpc>
            </a:pPr>
            <a:r>
              <a:rPr sz="1400" b="0" i="0">
                <a:solidFill>
                  <a:srgbClr val="F7F0E7"/>
                </a:solidFill>
                <a:latin typeface="Segoe UI Semibold"/>
              </a:rPr>
              <a:t>Invite</a:t>
            </a:r>
          </a:p>
        </p:txBody>
      </p:sp>
      <p:sp>
        <p:nvSpPr>
          <p:cNvPr id="35" name="TextBox 34"/>
          <p:cNvSpPr txBox="1"/>
          <p:nvPr/>
        </p:nvSpPr>
        <p:spPr>
          <a:xfrm>
            <a:off x="768096" y="4754879"/>
            <a:ext cx="2240280" cy="960120"/>
          </a:xfrm>
          <a:prstGeom prst="rect">
            <a:avLst/>
          </a:prstGeom>
          <a:noFill/>
        </p:spPr>
        <p:txBody>
          <a:bodyPr wrap="square" lIns="0" rIns="0" tIns="0" bIns="0" anchor="t">
            <a:spAutoFit/>
          </a:bodyPr>
          <a:lstStyle/>
          <a:p>
            <a:pPr algn="l">
              <a:lnSpc>
                <a:spcPct val="122000"/>
              </a:lnSpc>
            </a:pPr>
            <a:r>
              <a:rPr sz="1100" b="0" i="0">
                <a:solidFill>
                  <a:srgbClr val="C4B2AE"/>
                </a:solidFill>
                <a:latin typeface="Segoe UI"/>
              </a:rPr>
              <a:t>The top N get a private link and a calendar slot.</a:t>
            </a:r>
          </a:p>
        </p:txBody>
      </p:sp>
      <p:cxnSp>
        <p:nvCxnSpPr>
          <p:cNvPr id="36" name="Connector 35"/>
          <p:cNvCxnSpPr/>
          <p:nvPr/>
        </p:nvCxnSpPr>
        <p:spPr>
          <a:xfrm>
            <a:off x="3200400" y="4864607"/>
            <a:ext cx="146304" cy="0"/>
          </a:xfrm>
          <a:prstGeom prst="line">
            <a:avLst/>
          </a:prstGeom>
          <a:ln w="15875">
            <a:solidFill>
              <a:srgbClr val="C4B2AE">
                <a:alpha val="55000"/>
              </a:srgbClr>
            </a:solidFill>
            <a:tailEnd type="triangle" w="med" h="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3374136" y="3977639"/>
            <a:ext cx="2606040" cy="1783080"/>
          </a:xfrm>
          <a:prstGeom prst="roundRect">
            <a:avLst>
              <a:gd name="adj" fmla="val 8205"/>
            </a:avLst>
          </a:prstGeom>
          <a:solidFill>
            <a:srgbClr val="9678EB">
              <a:alpha val="12000"/>
            </a:srgbClr>
          </a:solidFill>
          <a:ln w="15875">
            <a:solidFill>
              <a:srgbClr val="9678EB">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3575304" y="4178807"/>
            <a:ext cx="420624" cy="420624"/>
          </a:xfrm>
          <a:prstGeom prst="ellipse">
            <a:avLst/>
          </a:prstGeom>
          <a:solidFill>
            <a:srgbClr val="9678EB">
              <a:alpha val="18000"/>
            </a:srgbClr>
          </a:solidFill>
          <a:ln w="9525">
            <a:solidFill>
              <a:srgbClr val="9678EB">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575304" y="4178807"/>
            <a:ext cx="420624" cy="420624"/>
          </a:xfrm>
          <a:prstGeom prst="rect">
            <a:avLst/>
          </a:prstGeom>
          <a:noFill/>
        </p:spPr>
        <p:txBody>
          <a:bodyPr wrap="square" lIns="0" rIns="0" tIns="0" bIns="0" anchor="ctr">
            <a:spAutoFit/>
          </a:bodyPr>
          <a:lstStyle/>
          <a:p>
            <a:pPr algn="ctr">
              <a:lnSpc>
                <a:spcPct val="112000"/>
              </a:lnSpc>
            </a:pPr>
            <a:r>
              <a:rPr sz="1250" b="0" i="0">
                <a:solidFill>
                  <a:srgbClr val="9678EB"/>
                </a:solidFill>
                <a:latin typeface="Segoe UI Semibold"/>
              </a:rPr>
              <a:t>6</a:t>
            </a:r>
          </a:p>
        </p:txBody>
      </p:sp>
      <p:sp>
        <p:nvSpPr>
          <p:cNvPr id="40" name="TextBox 39"/>
          <p:cNvSpPr txBox="1"/>
          <p:nvPr/>
        </p:nvSpPr>
        <p:spPr>
          <a:xfrm>
            <a:off x="4123944" y="4224527"/>
            <a:ext cx="1783080" cy="365760"/>
          </a:xfrm>
          <a:prstGeom prst="rect">
            <a:avLst/>
          </a:prstGeom>
          <a:noFill/>
        </p:spPr>
        <p:txBody>
          <a:bodyPr wrap="square" lIns="0" rIns="0" tIns="0" bIns="0" anchor="t">
            <a:spAutoFit/>
          </a:bodyPr>
          <a:lstStyle/>
          <a:p>
            <a:pPr algn="l">
              <a:lnSpc>
                <a:spcPct val="112000"/>
              </a:lnSpc>
            </a:pPr>
            <a:r>
              <a:rPr sz="1400" b="0" i="0">
                <a:solidFill>
                  <a:srgbClr val="F7F0E7"/>
                </a:solidFill>
                <a:latin typeface="Segoe UI Semibold"/>
              </a:rPr>
              <a:t>Interview</a:t>
            </a:r>
          </a:p>
        </p:txBody>
      </p:sp>
      <p:sp>
        <p:nvSpPr>
          <p:cNvPr id="41" name="TextBox 40"/>
          <p:cNvSpPr txBox="1"/>
          <p:nvPr/>
        </p:nvSpPr>
        <p:spPr>
          <a:xfrm>
            <a:off x="3575304" y="4754879"/>
            <a:ext cx="2240280" cy="960120"/>
          </a:xfrm>
          <a:prstGeom prst="rect">
            <a:avLst/>
          </a:prstGeom>
          <a:noFill/>
        </p:spPr>
        <p:txBody>
          <a:bodyPr wrap="square" lIns="0" rIns="0" tIns="0" bIns="0" anchor="t">
            <a:spAutoFit/>
          </a:bodyPr>
          <a:lstStyle/>
          <a:p>
            <a:pPr algn="l">
              <a:lnSpc>
                <a:spcPct val="122000"/>
              </a:lnSpc>
            </a:pPr>
            <a:r>
              <a:rPr sz="1100" b="0" i="0">
                <a:solidFill>
                  <a:srgbClr val="C4B2AE"/>
                </a:solidFill>
                <a:latin typeface="Segoe UI"/>
              </a:rPr>
              <a:t>Face check, then the AI interviewer or a recruiter with live transcript.</a:t>
            </a:r>
          </a:p>
        </p:txBody>
      </p:sp>
      <p:cxnSp>
        <p:nvCxnSpPr>
          <p:cNvPr id="42" name="Connector 41"/>
          <p:cNvCxnSpPr/>
          <p:nvPr/>
        </p:nvCxnSpPr>
        <p:spPr>
          <a:xfrm>
            <a:off x="6007608" y="4864607"/>
            <a:ext cx="146304" cy="0"/>
          </a:xfrm>
          <a:prstGeom prst="line">
            <a:avLst/>
          </a:prstGeom>
          <a:ln w="15875">
            <a:solidFill>
              <a:srgbClr val="C4B2AE">
                <a:alpha val="55000"/>
              </a:srgbClr>
            </a:solidFill>
            <a:tailEnd type="triangle" w="med" h="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6181344" y="3977639"/>
            <a:ext cx="2606040" cy="1783080"/>
          </a:xfrm>
          <a:prstGeom prst="roundRect">
            <a:avLst>
              <a:gd name="adj" fmla="val 8205"/>
            </a:avLst>
          </a:prstGeom>
          <a:solidFill>
            <a:srgbClr val="9678EB">
              <a:alpha val="5000"/>
            </a:srgbClr>
          </a:solidFill>
          <a:ln w="9525">
            <a:solidFill>
              <a:srgbClr val="9678EB">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6382512" y="4178807"/>
            <a:ext cx="420624" cy="420624"/>
          </a:xfrm>
          <a:prstGeom prst="ellipse">
            <a:avLst/>
          </a:prstGeom>
          <a:solidFill>
            <a:srgbClr val="9678EB">
              <a:alpha val="18000"/>
            </a:srgbClr>
          </a:solidFill>
          <a:ln w="9525">
            <a:solidFill>
              <a:srgbClr val="9678EB">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382512" y="4178807"/>
            <a:ext cx="420624" cy="420624"/>
          </a:xfrm>
          <a:prstGeom prst="rect">
            <a:avLst/>
          </a:prstGeom>
          <a:noFill/>
        </p:spPr>
        <p:txBody>
          <a:bodyPr wrap="square" lIns="0" rIns="0" tIns="0" bIns="0" anchor="ctr">
            <a:spAutoFit/>
          </a:bodyPr>
          <a:lstStyle/>
          <a:p>
            <a:pPr algn="ctr">
              <a:lnSpc>
                <a:spcPct val="112000"/>
              </a:lnSpc>
            </a:pPr>
            <a:r>
              <a:rPr sz="1250" b="0" i="0">
                <a:solidFill>
                  <a:srgbClr val="9678EB"/>
                </a:solidFill>
                <a:latin typeface="Segoe UI Semibold"/>
              </a:rPr>
              <a:t>7</a:t>
            </a:r>
          </a:p>
        </p:txBody>
      </p:sp>
      <p:sp>
        <p:nvSpPr>
          <p:cNvPr id="46" name="TextBox 45"/>
          <p:cNvSpPr txBox="1"/>
          <p:nvPr/>
        </p:nvSpPr>
        <p:spPr>
          <a:xfrm>
            <a:off x="6931152" y="4224527"/>
            <a:ext cx="1783080" cy="365760"/>
          </a:xfrm>
          <a:prstGeom prst="rect">
            <a:avLst/>
          </a:prstGeom>
          <a:noFill/>
        </p:spPr>
        <p:txBody>
          <a:bodyPr wrap="square" lIns="0" rIns="0" tIns="0" bIns="0" anchor="t">
            <a:spAutoFit/>
          </a:bodyPr>
          <a:lstStyle/>
          <a:p>
            <a:pPr algn="l">
              <a:lnSpc>
                <a:spcPct val="112000"/>
              </a:lnSpc>
            </a:pPr>
            <a:r>
              <a:rPr sz="1400" b="0" i="0">
                <a:solidFill>
                  <a:srgbClr val="F7F0E7"/>
                </a:solidFill>
                <a:latin typeface="Segoe UI Semibold"/>
              </a:rPr>
              <a:t>Skill quiz</a:t>
            </a:r>
          </a:p>
        </p:txBody>
      </p:sp>
      <p:sp>
        <p:nvSpPr>
          <p:cNvPr id="47" name="TextBox 46"/>
          <p:cNvSpPr txBox="1"/>
          <p:nvPr/>
        </p:nvSpPr>
        <p:spPr>
          <a:xfrm>
            <a:off x="6382512" y="4754879"/>
            <a:ext cx="2240280" cy="960120"/>
          </a:xfrm>
          <a:prstGeom prst="rect">
            <a:avLst/>
          </a:prstGeom>
          <a:noFill/>
        </p:spPr>
        <p:txBody>
          <a:bodyPr wrap="square" lIns="0" rIns="0" tIns="0" bIns="0" anchor="t">
            <a:spAutoFit/>
          </a:bodyPr>
          <a:lstStyle/>
          <a:p>
            <a:pPr algn="l">
              <a:lnSpc>
                <a:spcPct val="122000"/>
              </a:lnSpc>
            </a:pPr>
            <a:r>
              <a:rPr sz="1100" b="0" i="0">
                <a:solidFill>
                  <a:srgbClr val="C4B2AE"/>
                </a:solidFill>
                <a:latin typeface="Segoe UI"/>
              </a:rPr>
              <a:t>Generated for the role and taken in the room.</a:t>
            </a:r>
          </a:p>
        </p:txBody>
      </p:sp>
      <p:cxnSp>
        <p:nvCxnSpPr>
          <p:cNvPr id="48" name="Connector 47"/>
          <p:cNvCxnSpPr/>
          <p:nvPr/>
        </p:nvCxnSpPr>
        <p:spPr>
          <a:xfrm>
            <a:off x="8814816" y="4864607"/>
            <a:ext cx="146304" cy="0"/>
          </a:xfrm>
          <a:prstGeom prst="line">
            <a:avLst/>
          </a:prstGeom>
          <a:ln w="15875">
            <a:solidFill>
              <a:srgbClr val="C4B2AE">
                <a:alpha val="55000"/>
              </a:srgbClr>
            </a:solidFill>
            <a:tailEnd type="triangle" w="med" h="med"/>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8988551" y="3977639"/>
            <a:ext cx="2606040" cy="1783080"/>
          </a:xfrm>
          <a:prstGeom prst="roundRect">
            <a:avLst>
              <a:gd name="adj" fmla="val 8205"/>
            </a:avLst>
          </a:prstGeom>
          <a:solidFill>
            <a:srgbClr val="F3A85C">
              <a:alpha val="5000"/>
            </a:srgbClr>
          </a:solidFill>
          <a:ln w="9525">
            <a:solidFill>
              <a:srgbClr val="F3A85C">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9189719" y="4178807"/>
            <a:ext cx="420624" cy="420624"/>
          </a:xfrm>
          <a:prstGeom prst="ellipse">
            <a:avLst/>
          </a:prstGeom>
          <a:solidFill>
            <a:srgbClr val="F3A85C">
              <a:alpha val="18000"/>
            </a:srgbClr>
          </a:solidFill>
          <a:ln w="9525">
            <a:solidFill>
              <a:srgbClr val="F3A85C">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189719" y="4178807"/>
            <a:ext cx="420624" cy="420624"/>
          </a:xfrm>
          <a:prstGeom prst="rect">
            <a:avLst/>
          </a:prstGeom>
          <a:noFill/>
        </p:spPr>
        <p:txBody>
          <a:bodyPr wrap="square" lIns="0" rIns="0" tIns="0" bIns="0" anchor="ctr">
            <a:spAutoFit/>
          </a:bodyPr>
          <a:lstStyle/>
          <a:p>
            <a:pPr algn="ctr">
              <a:lnSpc>
                <a:spcPct val="112000"/>
              </a:lnSpc>
            </a:pPr>
            <a:r>
              <a:rPr sz="1250" b="0" i="0">
                <a:solidFill>
                  <a:srgbClr val="F3A85C"/>
                </a:solidFill>
                <a:latin typeface="Segoe UI Semibold"/>
              </a:rPr>
              <a:t>8</a:t>
            </a:r>
          </a:p>
        </p:txBody>
      </p:sp>
      <p:sp>
        <p:nvSpPr>
          <p:cNvPr id="52" name="TextBox 51"/>
          <p:cNvSpPr txBox="1"/>
          <p:nvPr/>
        </p:nvSpPr>
        <p:spPr>
          <a:xfrm>
            <a:off x="9738359" y="4224527"/>
            <a:ext cx="1783080" cy="365760"/>
          </a:xfrm>
          <a:prstGeom prst="rect">
            <a:avLst/>
          </a:prstGeom>
          <a:noFill/>
        </p:spPr>
        <p:txBody>
          <a:bodyPr wrap="square" lIns="0" rIns="0" tIns="0" bIns="0" anchor="t">
            <a:spAutoFit/>
          </a:bodyPr>
          <a:lstStyle/>
          <a:p>
            <a:pPr algn="l">
              <a:lnSpc>
                <a:spcPct val="112000"/>
              </a:lnSpc>
            </a:pPr>
            <a:r>
              <a:rPr sz="1400" b="0" i="0">
                <a:solidFill>
                  <a:srgbClr val="F7F0E7"/>
                </a:solidFill>
                <a:latin typeface="Segoe UI Semibold"/>
              </a:rPr>
              <a:t>Decide</a:t>
            </a:r>
          </a:p>
        </p:txBody>
      </p:sp>
      <p:sp>
        <p:nvSpPr>
          <p:cNvPr id="53" name="TextBox 52"/>
          <p:cNvSpPr txBox="1"/>
          <p:nvPr/>
        </p:nvSpPr>
        <p:spPr>
          <a:xfrm>
            <a:off x="9189719" y="4754879"/>
            <a:ext cx="2240280" cy="960120"/>
          </a:xfrm>
          <a:prstGeom prst="rect">
            <a:avLst/>
          </a:prstGeom>
          <a:noFill/>
        </p:spPr>
        <p:txBody>
          <a:bodyPr wrap="square" lIns="0" rIns="0" tIns="0" bIns="0" anchor="t">
            <a:spAutoFit/>
          </a:bodyPr>
          <a:lstStyle/>
          <a:p>
            <a:pPr algn="l">
              <a:lnSpc>
                <a:spcPct val="122000"/>
              </a:lnSpc>
            </a:pPr>
            <a:r>
              <a:rPr sz="1100" b="0" i="0">
                <a:solidFill>
                  <a:srgbClr val="C4B2AE"/>
                </a:solidFill>
                <a:latin typeface="Segoe UI"/>
              </a:rPr>
              <a:t>Five reports, master assessment, final ranking, approval letters.</a:t>
            </a:r>
          </a:p>
        </p:txBody>
      </p:sp>
      <p:sp>
        <p:nvSpPr>
          <p:cNvPr id="54" name="TextBox 53"/>
          <p:cNvSpPr txBox="1"/>
          <p:nvPr/>
        </p:nvSpPr>
        <p:spPr>
          <a:xfrm>
            <a:off x="566928" y="6108192"/>
            <a:ext cx="11064240" cy="274320"/>
          </a:xfrm>
          <a:prstGeom prst="rect">
            <a:avLst/>
          </a:prstGeom>
          <a:noFill/>
        </p:spPr>
        <p:txBody>
          <a:bodyPr wrap="square" lIns="0" rIns="0" tIns="0" bIns="0" anchor="t">
            <a:spAutoFit/>
          </a:bodyPr>
          <a:lstStyle/>
          <a:p>
            <a:pPr algn="l">
              <a:lnSpc>
                <a:spcPct val="112000"/>
              </a:lnSpc>
            </a:pPr>
            <a:r>
              <a:rPr sz="1100" b="0" i="0">
                <a:solidFill>
                  <a:srgbClr val="8C7A78"/>
                </a:solidFill>
                <a:latin typeface="Segoe UI"/>
              </a:rPr>
              <a:t>Master assessment  =  CV screening 37.5%  +  interview Q&amp;A 62.5%.  The skill quiz is reported on its own.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mber.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566928"/>
            <a:ext cx="292608" cy="41148"/>
          </a:xfrm>
          <a:prstGeom prst="rect">
            <a:avLst/>
          </a:prstGeom>
          <a:solidFill>
            <a:srgbClr val="F3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457200"/>
            <a:ext cx="8229600" cy="274320"/>
          </a:xfrm>
          <a:prstGeom prst="rect">
            <a:avLst/>
          </a:prstGeom>
          <a:noFill/>
        </p:spPr>
        <p:txBody>
          <a:bodyPr wrap="square" lIns="0" rIns="0" tIns="0" bIns="0" anchor="t">
            <a:spAutoFit/>
          </a:bodyPr>
          <a:lstStyle/>
          <a:p>
            <a:pPr algn="l">
              <a:lnSpc>
                <a:spcPct val="112000"/>
              </a:lnSpc>
            </a:pPr>
            <a:r>
              <a:rPr sz="1100" b="0" i="0" spc="320">
                <a:solidFill>
                  <a:srgbClr val="F3A85C"/>
                </a:solidFill>
                <a:latin typeface="Segoe UI Semibold"/>
              </a:rPr>
              <a:t>09  ·  UI DEMONSTRATION</a:t>
            </a:r>
          </a:p>
        </p:txBody>
      </p:sp>
      <p:sp>
        <p:nvSpPr>
          <p:cNvPr id="5" name="TextBox 4"/>
          <p:cNvSpPr txBox="1"/>
          <p:nvPr/>
        </p:nvSpPr>
        <p:spPr>
          <a:xfrm>
            <a:off x="548640" y="786384"/>
            <a:ext cx="11064240" cy="914400"/>
          </a:xfrm>
          <a:prstGeom prst="rect">
            <a:avLst/>
          </a:prstGeom>
          <a:noFill/>
        </p:spPr>
        <p:txBody>
          <a:bodyPr wrap="square" lIns="0" rIns="0" tIns="0" bIns="0" anchor="t">
            <a:spAutoFit/>
          </a:bodyPr>
          <a:lstStyle/>
          <a:p>
            <a:pPr algn="l">
              <a:lnSpc>
                <a:spcPct val="112000"/>
              </a:lnSpc>
            </a:pPr>
            <a:r>
              <a:rPr sz="3400" b="0" i="0">
                <a:solidFill>
                  <a:srgbClr val="F7F0E7"/>
                </a:solidFill>
                <a:latin typeface="Georgia"/>
              </a:rPr>
              <a:t>The front door</a:t>
            </a:r>
          </a:p>
        </p:txBody>
      </p:sp>
      <p:sp>
        <p:nvSpPr>
          <p:cNvPr id="6" name="TextBox 5"/>
          <p:cNvSpPr txBox="1"/>
          <p:nvPr/>
        </p:nvSpPr>
        <p:spPr>
          <a:xfrm>
            <a:off x="566928" y="6419088"/>
            <a:ext cx="2743200" cy="228600"/>
          </a:xfrm>
          <a:prstGeom prst="rect">
            <a:avLst/>
          </a:prstGeom>
          <a:noFill/>
        </p:spPr>
        <p:txBody>
          <a:bodyPr wrap="square" lIns="0" rIns="0" tIns="0" bIns="0" anchor="t">
            <a:spAutoFit/>
          </a:bodyPr>
          <a:lstStyle/>
          <a:p>
            <a:pPr algn="l">
              <a:lnSpc>
                <a:spcPct val="112000"/>
              </a:lnSpc>
            </a:pPr>
            <a:r>
              <a:rPr sz="900" b="0" i="0" spc="400">
                <a:solidFill>
                  <a:srgbClr val="8C7A78"/>
                </a:solidFill>
                <a:latin typeface="Segoe UI Semibold"/>
              </a:rPr>
              <a:t>SIFT</a:t>
            </a:r>
          </a:p>
        </p:txBody>
      </p:sp>
      <p:sp>
        <p:nvSpPr>
          <p:cNvPr id="7" name="TextBox 6"/>
          <p:cNvSpPr txBox="1"/>
          <p:nvPr/>
        </p:nvSpPr>
        <p:spPr>
          <a:xfrm>
            <a:off x="9784080" y="6419088"/>
            <a:ext cx="1856231" cy="228600"/>
          </a:xfrm>
          <a:prstGeom prst="rect">
            <a:avLst/>
          </a:prstGeom>
          <a:noFill/>
        </p:spPr>
        <p:txBody>
          <a:bodyPr wrap="square" lIns="0" rIns="0" tIns="0" bIns="0" anchor="t">
            <a:spAutoFit/>
          </a:bodyPr>
          <a:lstStyle/>
          <a:p>
            <a:pPr algn="r">
              <a:lnSpc>
                <a:spcPct val="112000"/>
              </a:lnSpc>
            </a:pPr>
            <a:r>
              <a:rPr sz="900" b="0" i="0" spc="200">
                <a:solidFill>
                  <a:srgbClr val="8C7A78"/>
                </a:solidFill>
                <a:latin typeface="Segoe UI Semibold"/>
              </a:rPr>
              <a:t>13 / 19</a:t>
            </a:r>
          </a:p>
        </p:txBody>
      </p:sp>
      <p:pic>
        <p:nvPicPr>
          <p:cNvPr id="8" name="Picture 7" descr="frame_ui_signin.png"/>
          <p:cNvPicPr>
            <a:picLocks noChangeAspect="1"/>
          </p:cNvPicPr>
          <p:nvPr/>
        </p:nvPicPr>
        <p:blipFill>
          <a:blip r:embed="rId3"/>
          <a:stretch>
            <a:fillRect/>
          </a:stretch>
        </p:blipFill>
        <p:spPr>
          <a:xfrm>
            <a:off x="3584448" y="1892808"/>
            <a:ext cx="8311896" cy="3662086"/>
          </a:xfrm>
          <a:prstGeom prst="rect">
            <a:avLst/>
          </a:prstGeom>
        </p:spPr>
      </p:pic>
      <p:sp>
        <p:nvSpPr>
          <p:cNvPr id="9" name="TextBox 8"/>
          <p:cNvSpPr txBox="1"/>
          <p:nvPr/>
        </p:nvSpPr>
        <p:spPr>
          <a:xfrm>
            <a:off x="566928" y="2240280"/>
            <a:ext cx="2971800" cy="365760"/>
          </a:xfrm>
          <a:prstGeom prst="rect">
            <a:avLst/>
          </a:prstGeom>
          <a:noFill/>
        </p:spPr>
        <p:txBody>
          <a:bodyPr wrap="square" lIns="0" rIns="0" tIns="0" bIns="0" anchor="t">
            <a:spAutoFit/>
          </a:bodyPr>
          <a:lstStyle/>
          <a:p>
            <a:pPr algn="l">
              <a:lnSpc>
                <a:spcPct val="112000"/>
              </a:lnSpc>
            </a:pPr>
            <a:r>
              <a:rPr sz="1400" b="0" i="0">
                <a:solidFill>
                  <a:srgbClr val="F7F0E7"/>
                </a:solidFill>
                <a:latin typeface="Segoe UI Semibold"/>
              </a:rPr>
              <a:t>Recruiter sign in</a:t>
            </a:r>
          </a:p>
        </p:txBody>
      </p:sp>
      <p:sp>
        <p:nvSpPr>
          <p:cNvPr id="10" name="TextBox 9"/>
          <p:cNvSpPr txBox="1"/>
          <p:nvPr/>
        </p:nvSpPr>
        <p:spPr>
          <a:xfrm>
            <a:off x="566928" y="2587752"/>
            <a:ext cx="2971800" cy="1280160"/>
          </a:xfrm>
          <a:prstGeom prst="rect">
            <a:avLst/>
          </a:prstGeom>
          <a:noFill/>
        </p:spPr>
        <p:txBody>
          <a:bodyPr wrap="square" lIns="0" rIns="0" tIns="0" bIns="0" anchor="t">
            <a:spAutoFit/>
          </a:bodyPr>
          <a:lstStyle/>
          <a:p>
            <a:pPr algn="l">
              <a:lnSpc>
                <a:spcPct val="125000"/>
              </a:lnSpc>
            </a:pPr>
            <a:r>
              <a:rPr sz="1150" b="0" i="0">
                <a:solidFill>
                  <a:srgbClr val="C4B2AE"/>
                </a:solidFill>
                <a:latin typeface="Segoe UI"/>
              </a:rPr>
              <a:t>One password, checked in constant time. The recruiter session is a separate token from any candidate link.</a:t>
            </a:r>
          </a:p>
        </p:txBody>
      </p:sp>
      <p:sp>
        <p:nvSpPr>
          <p:cNvPr id="11" name="TextBox 10"/>
          <p:cNvSpPr txBox="1"/>
          <p:nvPr/>
        </p:nvSpPr>
        <p:spPr>
          <a:xfrm>
            <a:off x="566928" y="3886200"/>
            <a:ext cx="2971800" cy="365760"/>
          </a:xfrm>
          <a:prstGeom prst="rect">
            <a:avLst/>
          </a:prstGeom>
          <a:noFill/>
        </p:spPr>
        <p:txBody>
          <a:bodyPr wrap="square" lIns="0" rIns="0" tIns="0" bIns="0" anchor="t">
            <a:spAutoFit/>
          </a:bodyPr>
          <a:lstStyle/>
          <a:p>
            <a:pPr algn="l">
              <a:lnSpc>
                <a:spcPct val="112000"/>
              </a:lnSpc>
            </a:pPr>
            <a:r>
              <a:rPr sz="1400" b="0" i="0">
                <a:solidFill>
                  <a:srgbClr val="F7F0E7"/>
                </a:solidFill>
                <a:latin typeface="Segoe UI Semibold"/>
              </a:rPr>
              <a:t>Four themes</a:t>
            </a:r>
          </a:p>
        </p:txBody>
      </p:sp>
      <p:sp>
        <p:nvSpPr>
          <p:cNvPr id="12" name="TextBox 11"/>
          <p:cNvSpPr txBox="1"/>
          <p:nvPr/>
        </p:nvSpPr>
        <p:spPr>
          <a:xfrm>
            <a:off x="566928" y="4233672"/>
            <a:ext cx="2971800" cy="548640"/>
          </a:xfrm>
          <a:prstGeom prst="rect">
            <a:avLst/>
          </a:prstGeom>
          <a:noFill/>
        </p:spPr>
        <p:txBody>
          <a:bodyPr wrap="square" lIns="0" rIns="0" tIns="0" bIns="0" anchor="t">
            <a:spAutoFit/>
          </a:bodyPr>
          <a:lstStyle/>
          <a:p>
            <a:pPr algn="l">
              <a:lnSpc>
                <a:spcPct val="125000"/>
              </a:lnSpc>
            </a:pPr>
            <a:r>
              <a:rPr sz="1150" b="0" i="0">
                <a:solidFill>
                  <a:srgbClr val="C4B2AE"/>
                </a:solidFill>
                <a:latin typeface="Segoe UI"/>
              </a:rPr>
              <a:t>The whole desk can be switched to any of them.</a:t>
            </a:r>
          </a:p>
        </p:txBody>
      </p:sp>
      <p:sp>
        <p:nvSpPr>
          <p:cNvPr id="13" name="Rounded Rectangle 12"/>
          <p:cNvSpPr/>
          <p:nvPr/>
        </p:nvSpPr>
        <p:spPr>
          <a:xfrm>
            <a:off x="566928" y="4773168"/>
            <a:ext cx="654304" cy="329184"/>
          </a:xfrm>
          <a:prstGeom prst="roundRect">
            <a:avLst>
              <a:gd name="adj" fmla="val 50000"/>
            </a:avLst>
          </a:prstGeom>
          <a:solidFill>
            <a:srgbClr val="DB8492">
              <a:alpha val="14000"/>
            </a:srgbClr>
          </a:solidFill>
          <a:ln w="9525">
            <a:solidFill>
              <a:srgbClr val="DB8492">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6928" y="4773168"/>
            <a:ext cx="654304" cy="329184"/>
          </a:xfrm>
          <a:prstGeom prst="rect">
            <a:avLst/>
          </a:prstGeom>
          <a:noFill/>
        </p:spPr>
        <p:txBody>
          <a:bodyPr wrap="square" lIns="0" rIns="0" tIns="0" bIns="0" anchor="ctr">
            <a:spAutoFit/>
          </a:bodyPr>
          <a:lstStyle/>
          <a:p>
            <a:pPr algn="ctr">
              <a:lnSpc>
                <a:spcPct val="112000"/>
              </a:lnSpc>
            </a:pPr>
            <a:r>
              <a:rPr sz="950" b="0" i="0">
                <a:solidFill>
                  <a:srgbClr val="DB8492"/>
                </a:solidFill>
                <a:latin typeface="Segoe UI Semibold"/>
              </a:rPr>
              <a:t>Rose</a:t>
            </a:r>
          </a:p>
        </p:txBody>
      </p:sp>
      <p:sp>
        <p:nvSpPr>
          <p:cNvPr id="15" name="Rounded Rectangle 14"/>
          <p:cNvSpPr/>
          <p:nvPr/>
        </p:nvSpPr>
        <p:spPr>
          <a:xfrm>
            <a:off x="1312672" y="4773168"/>
            <a:ext cx="654304" cy="329184"/>
          </a:xfrm>
          <a:prstGeom prst="roundRect">
            <a:avLst>
              <a:gd name="adj" fmla="val 50000"/>
            </a:avLst>
          </a:prstGeom>
          <a:solidFill>
            <a:srgbClr val="C4B2AE">
              <a:alpha val="14000"/>
            </a:srgbClr>
          </a:solidFill>
          <a:ln w="9525">
            <a:solidFill>
              <a:srgbClr val="C4B2AE">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312672" y="4773168"/>
            <a:ext cx="654304" cy="329184"/>
          </a:xfrm>
          <a:prstGeom prst="rect">
            <a:avLst/>
          </a:prstGeom>
          <a:noFill/>
        </p:spPr>
        <p:txBody>
          <a:bodyPr wrap="square" lIns="0" rIns="0" tIns="0" bIns="0" anchor="ctr">
            <a:spAutoFit/>
          </a:bodyPr>
          <a:lstStyle/>
          <a:p>
            <a:pPr algn="ctr">
              <a:lnSpc>
                <a:spcPct val="112000"/>
              </a:lnSpc>
            </a:pPr>
            <a:r>
              <a:rPr sz="950" b="0" i="0">
                <a:solidFill>
                  <a:srgbClr val="C4B2AE"/>
                </a:solidFill>
                <a:latin typeface="Segoe UI Semibold"/>
              </a:rPr>
              <a:t>Moon</a:t>
            </a:r>
          </a:p>
        </p:txBody>
      </p:sp>
      <p:sp>
        <p:nvSpPr>
          <p:cNvPr id="17" name="Rounded Rectangle 16"/>
          <p:cNvSpPr/>
          <p:nvPr/>
        </p:nvSpPr>
        <p:spPr>
          <a:xfrm>
            <a:off x="2058415" y="4773168"/>
            <a:ext cx="654304" cy="329184"/>
          </a:xfrm>
          <a:prstGeom prst="roundRect">
            <a:avLst>
              <a:gd name="adj" fmla="val 50000"/>
            </a:avLst>
          </a:prstGeom>
          <a:solidFill>
            <a:srgbClr val="F3A85C">
              <a:alpha val="14000"/>
            </a:srgbClr>
          </a:solidFill>
          <a:ln w="9525">
            <a:solidFill>
              <a:srgbClr val="F3A85C">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058415" y="4773168"/>
            <a:ext cx="654304" cy="329184"/>
          </a:xfrm>
          <a:prstGeom prst="rect">
            <a:avLst/>
          </a:prstGeom>
          <a:noFill/>
        </p:spPr>
        <p:txBody>
          <a:bodyPr wrap="square" lIns="0" rIns="0" tIns="0" bIns="0" anchor="ctr">
            <a:spAutoFit/>
          </a:bodyPr>
          <a:lstStyle/>
          <a:p>
            <a:pPr algn="ctr">
              <a:lnSpc>
                <a:spcPct val="112000"/>
              </a:lnSpc>
            </a:pPr>
            <a:r>
              <a:rPr sz="950" b="0" i="0">
                <a:solidFill>
                  <a:srgbClr val="F3A85C"/>
                </a:solidFill>
                <a:latin typeface="Segoe UI Semibold"/>
              </a:rPr>
              <a:t>Wine</a:t>
            </a:r>
          </a:p>
        </p:txBody>
      </p:sp>
      <p:sp>
        <p:nvSpPr>
          <p:cNvPr id="19" name="Rounded Rectangle 18"/>
          <p:cNvSpPr/>
          <p:nvPr/>
        </p:nvSpPr>
        <p:spPr>
          <a:xfrm>
            <a:off x="2804160" y="4773168"/>
            <a:ext cx="654304" cy="329184"/>
          </a:xfrm>
          <a:prstGeom prst="roundRect">
            <a:avLst>
              <a:gd name="adj" fmla="val 50000"/>
            </a:avLst>
          </a:prstGeom>
          <a:solidFill>
            <a:srgbClr val="98D0AC">
              <a:alpha val="14000"/>
            </a:srgbClr>
          </a:solidFill>
          <a:ln w="9525">
            <a:solidFill>
              <a:srgbClr val="98D0AC">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804160" y="4773168"/>
            <a:ext cx="654304" cy="329184"/>
          </a:xfrm>
          <a:prstGeom prst="rect">
            <a:avLst/>
          </a:prstGeom>
          <a:noFill/>
        </p:spPr>
        <p:txBody>
          <a:bodyPr wrap="square" lIns="0" rIns="0" tIns="0" bIns="0" anchor="ctr">
            <a:spAutoFit/>
          </a:bodyPr>
          <a:lstStyle/>
          <a:p>
            <a:pPr algn="ctr">
              <a:lnSpc>
                <a:spcPct val="112000"/>
              </a:lnSpc>
            </a:pPr>
            <a:r>
              <a:rPr sz="950" b="0" i="0">
                <a:solidFill>
                  <a:srgbClr val="98D0AC"/>
                </a:solidFill>
                <a:latin typeface="Segoe UI Semibold"/>
              </a:rPr>
              <a:t>Moss</a:t>
            </a:r>
          </a:p>
        </p:txBody>
      </p:sp>
      <p:sp>
        <p:nvSpPr>
          <p:cNvPr id="21" name="TextBox 20"/>
          <p:cNvSpPr txBox="1"/>
          <p:nvPr/>
        </p:nvSpPr>
        <p:spPr>
          <a:xfrm>
            <a:off x="3840480" y="5504688"/>
            <a:ext cx="7799831" cy="274320"/>
          </a:xfrm>
          <a:prstGeom prst="rect">
            <a:avLst/>
          </a:prstGeom>
          <a:noFill/>
        </p:spPr>
        <p:txBody>
          <a:bodyPr wrap="square" lIns="0" rIns="0" tIns="0" bIns="0" anchor="t">
            <a:spAutoFit/>
          </a:bodyPr>
          <a:lstStyle/>
          <a:p>
            <a:pPr algn="r">
              <a:lnSpc>
                <a:spcPct val="112000"/>
              </a:lnSpc>
            </a:pPr>
            <a:r>
              <a:rPr sz="1000" b="0" i="0">
                <a:solidFill>
                  <a:srgbClr val="8C7A78"/>
                </a:solidFill>
                <a:latin typeface="Segoe UI"/>
              </a:rPr>
              <a:t>“You set the bar. Sift finds the fit.”  ·  the first screen a recruiter sees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rose.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566928"/>
            <a:ext cx="292608" cy="41148"/>
          </a:xfrm>
          <a:prstGeom prst="rect">
            <a:avLst/>
          </a:prstGeom>
          <a:solidFill>
            <a:srgbClr val="F3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457200"/>
            <a:ext cx="8229600" cy="274320"/>
          </a:xfrm>
          <a:prstGeom prst="rect">
            <a:avLst/>
          </a:prstGeom>
          <a:noFill/>
        </p:spPr>
        <p:txBody>
          <a:bodyPr wrap="square" lIns="0" rIns="0" tIns="0" bIns="0" anchor="t">
            <a:spAutoFit/>
          </a:bodyPr>
          <a:lstStyle/>
          <a:p>
            <a:pPr algn="l">
              <a:lnSpc>
                <a:spcPct val="112000"/>
              </a:lnSpc>
            </a:pPr>
            <a:r>
              <a:rPr sz="1100" b="0" i="0" spc="320">
                <a:solidFill>
                  <a:srgbClr val="F3A85C"/>
                </a:solidFill>
                <a:latin typeface="Segoe UI Semibold"/>
              </a:rPr>
              <a:t>09  ·  UI DEMONSTRATION</a:t>
            </a:r>
          </a:p>
        </p:txBody>
      </p:sp>
      <p:sp>
        <p:nvSpPr>
          <p:cNvPr id="5" name="TextBox 4"/>
          <p:cNvSpPr txBox="1"/>
          <p:nvPr/>
        </p:nvSpPr>
        <p:spPr>
          <a:xfrm>
            <a:off x="548640" y="786384"/>
            <a:ext cx="11064240" cy="914400"/>
          </a:xfrm>
          <a:prstGeom prst="rect">
            <a:avLst/>
          </a:prstGeom>
          <a:noFill/>
        </p:spPr>
        <p:txBody>
          <a:bodyPr wrap="square" lIns="0" rIns="0" tIns="0" bIns="0" anchor="t">
            <a:spAutoFit/>
          </a:bodyPr>
          <a:lstStyle/>
          <a:p>
            <a:pPr algn="l">
              <a:lnSpc>
                <a:spcPct val="112000"/>
              </a:lnSpc>
            </a:pPr>
            <a:r>
              <a:rPr sz="3400" b="0" i="0">
                <a:solidFill>
                  <a:srgbClr val="F7F0E7"/>
                </a:solidFill>
                <a:latin typeface="Georgia"/>
              </a:rPr>
              <a:t>Plan the role, collect the people</a:t>
            </a:r>
          </a:p>
        </p:txBody>
      </p:sp>
      <p:sp>
        <p:nvSpPr>
          <p:cNvPr id="6" name="TextBox 5"/>
          <p:cNvSpPr txBox="1"/>
          <p:nvPr/>
        </p:nvSpPr>
        <p:spPr>
          <a:xfrm>
            <a:off x="566928" y="6419088"/>
            <a:ext cx="2743200" cy="228600"/>
          </a:xfrm>
          <a:prstGeom prst="rect">
            <a:avLst/>
          </a:prstGeom>
          <a:noFill/>
        </p:spPr>
        <p:txBody>
          <a:bodyPr wrap="square" lIns="0" rIns="0" tIns="0" bIns="0" anchor="t">
            <a:spAutoFit/>
          </a:bodyPr>
          <a:lstStyle/>
          <a:p>
            <a:pPr algn="l">
              <a:lnSpc>
                <a:spcPct val="112000"/>
              </a:lnSpc>
            </a:pPr>
            <a:r>
              <a:rPr sz="900" b="0" i="0" spc="400">
                <a:solidFill>
                  <a:srgbClr val="8C7A78"/>
                </a:solidFill>
                <a:latin typeface="Segoe UI Semibold"/>
              </a:rPr>
              <a:t>SIFT</a:t>
            </a:r>
          </a:p>
        </p:txBody>
      </p:sp>
      <p:sp>
        <p:nvSpPr>
          <p:cNvPr id="7" name="TextBox 6"/>
          <p:cNvSpPr txBox="1"/>
          <p:nvPr/>
        </p:nvSpPr>
        <p:spPr>
          <a:xfrm>
            <a:off x="9784080" y="6419088"/>
            <a:ext cx="1856231" cy="228600"/>
          </a:xfrm>
          <a:prstGeom prst="rect">
            <a:avLst/>
          </a:prstGeom>
          <a:noFill/>
        </p:spPr>
        <p:txBody>
          <a:bodyPr wrap="square" lIns="0" rIns="0" tIns="0" bIns="0" anchor="t">
            <a:spAutoFit/>
          </a:bodyPr>
          <a:lstStyle/>
          <a:p>
            <a:pPr algn="r">
              <a:lnSpc>
                <a:spcPct val="112000"/>
              </a:lnSpc>
            </a:pPr>
            <a:r>
              <a:rPr sz="900" b="0" i="0" spc="200">
                <a:solidFill>
                  <a:srgbClr val="8C7A78"/>
                </a:solidFill>
                <a:latin typeface="Segoe UI Semibold"/>
              </a:rPr>
              <a:t>14 / 19</a:t>
            </a:r>
          </a:p>
        </p:txBody>
      </p:sp>
      <p:pic>
        <p:nvPicPr>
          <p:cNvPr id="8" name="Picture 7" descr="frame_ui_desk.png"/>
          <p:cNvPicPr>
            <a:picLocks noChangeAspect="1"/>
          </p:cNvPicPr>
          <p:nvPr/>
        </p:nvPicPr>
        <p:blipFill>
          <a:blip r:embed="rId3"/>
          <a:stretch>
            <a:fillRect/>
          </a:stretch>
        </p:blipFill>
        <p:spPr>
          <a:xfrm>
            <a:off x="310896" y="1527048"/>
            <a:ext cx="6318504" cy="3287818"/>
          </a:xfrm>
          <a:prstGeom prst="rect">
            <a:avLst/>
          </a:prstGeom>
        </p:spPr>
      </p:pic>
      <p:pic>
        <p:nvPicPr>
          <p:cNvPr id="9" name="Picture 8" descr="frame_ui_scoring.png"/>
          <p:cNvPicPr>
            <a:picLocks noChangeAspect="1"/>
          </p:cNvPicPr>
          <p:nvPr/>
        </p:nvPicPr>
        <p:blipFill>
          <a:blip r:embed="rId4"/>
          <a:stretch>
            <a:fillRect/>
          </a:stretch>
        </p:blipFill>
        <p:spPr>
          <a:xfrm>
            <a:off x="6373368" y="1527048"/>
            <a:ext cx="5513831" cy="2962095"/>
          </a:xfrm>
          <a:prstGeom prst="rect">
            <a:avLst/>
          </a:prstGeom>
        </p:spPr>
      </p:pic>
      <p:sp>
        <p:nvSpPr>
          <p:cNvPr id="10" name="TextBox 9"/>
          <p:cNvSpPr txBox="1"/>
          <p:nvPr/>
        </p:nvSpPr>
        <p:spPr>
          <a:xfrm>
            <a:off x="566928" y="4709160"/>
            <a:ext cx="5806440" cy="548640"/>
          </a:xfrm>
          <a:prstGeom prst="rect">
            <a:avLst/>
          </a:prstGeom>
          <a:noFill/>
        </p:spPr>
        <p:txBody>
          <a:bodyPr wrap="square" lIns="0" rIns="0" tIns="0" bIns="0" anchor="t">
            <a:spAutoFit/>
          </a:bodyPr>
          <a:lstStyle/>
          <a:p>
            <a:pPr algn="l">
              <a:lnSpc>
                <a:spcPct val="112000"/>
              </a:lnSpc>
            </a:pPr>
            <a:r>
              <a:rPr sz="1400" b="0" i="0">
                <a:solidFill>
                  <a:srgbClr val="F7F0E7"/>
                </a:solidFill>
                <a:latin typeface="Segoe UI Semibold"/>
              </a:rPr>
              <a:t>Recruiter desk</a:t>
            </a:r>
          </a:p>
        </p:txBody>
      </p:sp>
      <p:sp>
        <p:nvSpPr>
          <p:cNvPr id="11" name="TextBox 10"/>
          <p:cNvSpPr txBox="1"/>
          <p:nvPr/>
        </p:nvSpPr>
        <p:spPr>
          <a:xfrm>
            <a:off x="566928" y="5029200"/>
            <a:ext cx="5806440" cy="822960"/>
          </a:xfrm>
          <a:prstGeom prst="rect">
            <a:avLst/>
          </a:prstGeom>
          <a:noFill/>
        </p:spPr>
        <p:txBody>
          <a:bodyPr wrap="square" lIns="0" rIns="0" tIns="0" bIns="0" anchor="t">
            <a:spAutoFit/>
          </a:bodyPr>
          <a:lstStyle/>
          <a:p>
            <a:pPr algn="l">
              <a:lnSpc>
                <a:spcPct val="125000"/>
              </a:lnSpc>
            </a:pPr>
            <a:r>
              <a:rPr sz="1150" b="0" i="0">
                <a:solidFill>
                  <a:srgbClr val="C4B2AE"/>
                </a:solidFill>
                <a:latin typeface="Segoe UI"/>
              </a:rPr>
              <a:t>Applications over time, open roles, and the copilot writing a role brief from company policy.</a:t>
            </a:r>
          </a:p>
        </p:txBody>
      </p:sp>
      <p:sp>
        <p:nvSpPr>
          <p:cNvPr id="12" name="TextBox 11"/>
          <p:cNvSpPr txBox="1"/>
          <p:nvPr/>
        </p:nvSpPr>
        <p:spPr>
          <a:xfrm>
            <a:off x="6629400" y="4709160"/>
            <a:ext cx="5001768" cy="548640"/>
          </a:xfrm>
          <a:prstGeom prst="rect">
            <a:avLst/>
          </a:prstGeom>
          <a:noFill/>
        </p:spPr>
        <p:txBody>
          <a:bodyPr wrap="square" lIns="0" rIns="0" tIns="0" bIns="0" anchor="t">
            <a:spAutoFit/>
          </a:bodyPr>
          <a:lstStyle/>
          <a:p>
            <a:pPr algn="l">
              <a:lnSpc>
                <a:spcPct val="112000"/>
              </a:lnSpc>
            </a:pPr>
            <a:r>
              <a:rPr sz="1400" b="0" i="0">
                <a:solidFill>
                  <a:srgbClr val="F7F0E7"/>
                </a:solidFill>
                <a:latin typeface="Segoe UI Semibold"/>
              </a:rPr>
              <a:t>Locked role, scoring live</a:t>
            </a:r>
          </a:p>
        </p:txBody>
      </p:sp>
      <p:sp>
        <p:nvSpPr>
          <p:cNvPr id="13" name="TextBox 12"/>
          <p:cNvSpPr txBox="1"/>
          <p:nvPr/>
        </p:nvSpPr>
        <p:spPr>
          <a:xfrm>
            <a:off x="6629400" y="5029200"/>
            <a:ext cx="5001768" cy="822960"/>
          </a:xfrm>
          <a:prstGeom prst="rect">
            <a:avLst/>
          </a:prstGeom>
          <a:noFill/>
        </p:spPr>
        <p:txBody>
          <a:bodyPr wrap="square" lIns="0" rIns="0" tIns="0" bIns="0" anchor="t">
            <a:spAutoFit/>
          </a:bodyPr>
          <a:lstStyle/>
          <a:p>
            <a:pPr algn="l">
              <a:lnSpc>
                <a:spcPct val="125000"/>
              </a:lnSpc>
            </a:pPr>
            <a:r>
              <a:rPr sz="1150" b="0" i="0">
                <a:solidFill>
                  <a:srgbClr val="C4B2AE"/>
                </a:solidFill>
                <a:latin typeface="Segoe UI"/>
              </a:rPr>
              <a:t>CVs arrive by upload or email and are scored one by one. The recruiter picks how many to invite.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viole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566928"/>
            <a:ext cx="292608" cy="41148"/>
          </a:xfrm>
          <a:prstGeom prst="rect">
            <a:avLst/>
          </a:prstGeom>
          <a:solidFill>
            <a:srgbClr val="F3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457200"/>
            <a:ext cx="8229600" cy="274320"/>
          </a:xfrm>
          <a:prstGeom prst="rect">
            <a:avLst/>
          </a:prstGeom>
          <a:noFill/>
        </p:spPr>
        <p:txBody>
          <a:bodyPr wrap="square" lIns="0" rIns="0" tIns="0" bIns="0" anchor="t">
            <a:spAutoFit/>
          </a:bodyPr>
          <a:lstStyle/>
          <a:p>
            <a:pPr algn="l">
              <a:lnSpc>
                <a:spcPct val="112000"/>
              </a:lnSpc>
            </a:pPr>
            <a:r>
              <a:rPr sz="1100" b="0" i="0" spc="320">
                <a:solidFill>
                  <a:srgbClr val="F3A85C"/>
                </a:solidFill>
                <a:latin typeface="Segoe UI Semibold"/>
              </a:rPr>
              <a:t>09  ·  UI DEMONSTRATION</a:t>
            </a:r>
          </a:p>
        </p:txBody>
      </p:sp>
      <p:sp>
        <p:nvSpPr>
          <p:cNvPr id="5" name="TextBox 4"/>
          <p:cNvSpPr txBox="1"/>
          <p:nvPr/>
        </p:nvSpPr>
        <p:spPr>
          <a:xfrm>
            <a:off x="548640" y="786384"/>
            <a:ext cx="11064240" cy="914400"/>
          </a:xfrm>
          <a:prstGeom prst="rect">
            <a:avLst/>
          </a:prstGeom>
          <a:noFill/>
        </p:spPr>
        <p:txBody>
          <a:bodyPr wrap="square" lIns="0" rIns="0" tIns="0" bIns="0" anchor="t">
            <a:spAutoFit/>
          </a:bodyPr>
          <a:lstStyle/>
          <a:p>
            <a:pPr algn="l">
              <a:lnSpc>
                <a:spcPct val="112000"/>
              </a:lnSpc>
            </a:pPr>
            <a:r>
              <a:rPr sz="3400" b="0" i="0">
                <a:solidFill>
                  <a:srgbClr val="F7F0E7"/>
                </a:solidFill>
                <a:latin typeface="Georgia"/>
              </a:rPr>
              <a:t>Two ways to interview</a:t>
            </a:r>
          </a:p>
        </p:txBody>
      </p:sp>
      <p:sp>
        <p:nvSpPr>
          <p:cNvPr id="6" name="TextBox 5"/>
          <p:cNvSpPr txBox="1"/>
          <p:nvPr/>
        </p:nvSpPr>
        <p:spPr>
          <a:xfrm>
            <a:off x="566928" y="6419088"/>
            <a:ext cx="2743200" cy="228600"/>
          </a:xfrm>
          <a:prstGeom prst="rect">
            <a:avLst/>
          </a:prstGeom>
          <a:noFill/>
        </p:spPr>
        <p:txBody>
          <a:bodyPr wrap="square" lIns="0" rIns="0" tIns="0" bIns="0" anchor="t">
            <a:spAutoFit/>
          </a:bodyPr>
          <a:lstStyle/>
          <a:p>
            <a:pPr algn="l">
              <a:lnSpc>
                <a:spcPct val="112000"/>
              </a:lnSpc>
            </a:pPr>
            <a:r>
              <a:rPr sz="900" b="0" i="0" spc="400">
                <a:solidFill>
                  <a:srgbClr val="8C7A78"/>
                </a:solidFill>
                <a:latin typeface="Segoe UI Semibold"/>
              </a:rPr>
              <a:t>SIFT</a:t>
            </a:r>
          </a:p>
        </p:txBody>
      </p:sp>
      <p:sp>
        <p:nvSpPr>
          <p:cNvPr id="7" name="TextBox 6"/>
          <p:cNvSpPr txBox="1"/>
          <p:nvPr/>
        </p:nvSpPr>
        <p:spPr>
          <a:xfrm>
            <a:off x="9784080" y="6419088"/>
            <a:ext cx="1856231" cy="228600"/>
          </a:xfrm>
          <a:prstGeom prst="rect">
            <a:avLst/>
          </a:prstGeom>
          <a:noFill/>
        </p:spPr>
        <p:txBody>
          <a:bodyPr wrap="square" lIns="0" rIns="0" tIns="0" bIns="0" anchor="t">
            <a:spAutoFit/>
          </a:bodyPr>
          <a:lstStyle/>
          <a:p>
            <a:pPr algn="r">
              <a:lnSpc>
                <a:spcPct val="112000"/>
              </a:lnSpc>
            </a:pPr>
            <a:r>
              <a:rPr sz="900" b="0" i="0" spc="200">
                <a:solidFill>
                  <a:srgbClr val="8C7A78"/>
                </a:solidFill>
                <a:latin typeface="Segoe UI Semibold"/>
              </a:rPr>
              <a:t>15 / 19</a:t>
            </a:r>
          </a:p>
        </p:txBody>
      </p:sp>
      <p:pic>
        <p:nvPicPr>
          <p:cNvPr id="8" name="Picture 7" descr="frame_ui_ai_room.png"/>
          <p:cNvPicPr>
            <a:picLocks noChangeAspect="1"/>
          </p:cNvPicPr>
          <p:nvPr/>
        </p:nvPicPr>
        <p:blipFill>
          <a:blip r:embed="rId3"/>
          <a:stretch>
            <a:fillRect/>
          </a:stretch>
        </p:blipFill>
        <p:spPr>
          <a:xfrm>
            <a:off x="310896" y="1527048"/>
            <a:ext cx="5769864" cy="3004837"/>
          </a:xfrm>
          <a:prstGeom prst="rect">
            <a:avLst/>
          </a:prstGeom>
        </p:spPr>
      </p:pic>
      <p:pic>
        <p:nvPicPr>
          <p:cNvPr id="9" name="Picture 8" descr="frame_ui_human_room.png"/>
          <p:cNvPicPr>
            <a:picLocks noChangeAspect="1"/>
          </p:cNvPicPr>
          <p:nvPr/>
        </p:nvPicPr>
        <p:blipFill>
          <a:blip r:embed="rId4"/>
          <a:stretch>
            <a:fillRect/>
          </a:stretch>
        </p:blipFill>
        <p:spPr>
          <a:xfrm>
            <a:off x="6117336" y="1527048"/>
            <a:ext cx="5769864" cy="2996169"/>
          </a:xfrm>
          <a:prstGeom prst="rect">
            <a:avLst/>
          </a:prstGeom>
        </p:spPr>
      </p:pic>
      <p:sp>
        <p:nvSpPr>
          <p:cNvPr id="10" name="Rounded Rectangle 9"/>
          <p:cNvSpPr/>
          <p:nvPr/>
        </p:nvSpPr>
        <p:spPr>
          <a:xfrm>
            <a:off x="566928" y="4800600"/>
            <a:ext cx="822960" cy="329184"/>
          </a:xfrm>
          <a:prstGeom prst="roundRect">
            <a:avLst>
              <a:gd name="adj" fmla="val 50000"/>
            </a:avLst>
          </a:prstGeom>
          <a:solidFill>
            <a:srgbClr val="9678EB">
              <a:alpha val="14000"/>
            </a:srgbClr>
          </a:solidFill>
          <a:ln w="9525">
            <a:solidFill>
              <a:srgbClr val="9678EB">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6928" y="4800600"/>
            <a:ext cx="822960" cy="329184"/>
          </a:xfrm>
          <a:prstGeom prst="rect">
            <a:avLst/>
          </a:prstGeom>
          <a:noFill/>
        </p:spPr>
        <p:txBody>
          <a:bodyPr wrap="square" lIns="0" rIns="0" tIns="0" bIns="0" anchor="ctr">
            <a:spAutoFit/>
          </a:bodyPr>
          <a:lstStyle/>
          <a:p>
            <a:pPr algn="ctr">
              <a:lnSpc>
                <a:spcPct val="112000"/>
              </a:lnSpc>
            </a:pPr>
            <a:r>
              <a:rPr sz="900" b="0" i="0">
                <a:solidFill>
                  <a:srgbClr val="9678EB"/>
                </a:solidFill>
                <a:latin typeface="Segoe UI Semibold"/>
              </a:rPr>
              <a:t>AI-LED</a:t>
            </a:r>
          </a:p>
        </p:txBody>
      </p:sp>
      <p:sp>
        <p:nvSpPr>
          <p:cNvPr id="12" name="TextBox 11"/>
          <p:cNvSpPr txBox="1"/>
          <p:nvPr/>
        </p:nvSpPr>
        <p:spPr>
          <a:xfrm>
            <a:off x="1508760" y="4800600"/>
            <a:ext cx="4297680" cy="329184"/>
          </a:xfrm>
          <a:prstGeom prst="rect">
            <a:avLst/>
          </a:prstGeom>
          <a:noFill/>
        </p:spPr>
        <p:txBody>
          <a:bodyPr wrap="square" lIns="0" rIns="0" tIns="0" bIns="0" anchor="ctr">
            <a:spAutoFit/>
          </a:bodyPr>
          <a:lstStyle/>
          <a:p>
            <a:pPr algn="l">
              <a:lnSpc>
                <a:spcPct val="112000"/>
              </a:lnSpc>
            </a:pPr>
            <a:r>
              <a:rPr sz="1300" b="0" i="0">
                <a:solidFill>
                  <a:srgbClr val="F7F0E7"/>
                </a:solidFill>
                <a:latin typeface="Segoe UI Semibold"/>
              </a:rPr>
              <a:t>The AI interviewer speaks through its neural avatar</a:t>
            </a:r>
          </a:p>
        </p:txBody>
      </p:sp>
      <p:sp>
        <p:nvSpPr>
          <p:cNvPr id="13" name="TextBox 12"/>
          <p:cNvSpPr txBox="1"/>
          <p:nvPr/>
        </p:nvSpPr>
        <p:spPr>
          <a:xfrm>
            <a:off x="566928" y="5230368"/>
            <a:ext cx="5257800" cy="822960"/>
          </a:xfrm>
          <a:prstGeom prst="rect">
            <a:avLst/>
          </a:prstGeom>
          <a:noFill/>
        </p:spPr>
        <p:txBody>
          <a:bodyPr wrap="square" lIns="0" rIns="0" tIns="0" bIns="0" anchor="t">
            <a:spAutoFit/>
          </a:bodyPr>
          <a:lstStyle/>
          <a:p>
            <a:pPr algn="l">
              <a:lnSpc>
                <a:spcPct val="125000"/>
              </a:lnSpc>
            </a:pPr>
            <a:r>
              <a:rPr sz="1150" b="0" i="0">
                <a:solidFill>
                  <a:srgbClr val="C4B2AE"/>
                </a:solidFill>
                <a:latin typeface="Segoe UI"/>
              </a:rPr>
              <a:t>The candidate joins from their invite link. No recruiter needs to be on the call.</a:t>
            </a:r>
          </a:p>
        </p:txBody>
      </p:sp>
      <p:sp>
        <p:nvSpPr>
          <p:cNvPr id="14" name="Rounded Rectangle 13"/>
          <p:cNvSpPr/>
          <p:nvPr/>
        </p:nvSpPr>
        <p:spPr>
          <a:xfrm>
            <a:off x="6373368" y="4800600"/>
            <a:ext cx="1325880" cy="329184"/>
          </a:xfrm>
          <a:prstGeom prst="roundRect">
            <a:avLst>
              <a:gd name="adj" fmla="val 50000"/>
            </a:avLst>
          </a:prstGeom>
          <a:solidFill>
            <a:srgbClr val="F3A85C">
              <a:alpha val="14000"/>
            </a:srgbClr>
          </a:solidFill>
          <a:ln w="9525">
            <a:solidFill>
              <a:srgbClr val="F3A85C">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73368" y="4800600"/>
            <a:ext cx="1325880" cy="329184"/>
          </a:xfrm>
          <a:prstGeom prst="rect">
            <a:avLst/>
          </a:prstGeom>
          <a:noFill/>
        </p:spPr>
        <p:txBody>
          <a:bodyPr wrap="square" lIns="0" rIns="0" tIns="0" bIns="0" anchor="ctr">
            <a:spAutoFit/>
          </a:bodyPr>
          <a:lstStyle/>
          <a:p>
            <a:pPr algn="ctr">
              <a:lnSpc>
                <a:spcPct val="112000"/>
              </a:lnSpc>
            </a:pPr>
            <a:r>
              <a:rPr sz="900" b="0" i="0">
                <a:solidFill>
                  <a:srgbClr val="F3A85C"/>
                </a:solidFill>
                <a:latin typeface="Segoe UI Semibold"/>
              </a:rPr>
              <a:t>RECRUITER-LED</a:t>
            </a:r>
          </a:p>
        </p:txBody>
      </p:sp>
      <p:sp>
        <p:nvSpPr>
          <p:cNvPr id="16" name="TextBox 15"/>
          <p:cNvSpPr txBox="1"/>
          <p:nvPr/>
        </p:nvSpPr>
        <p:spPr>
          <a:xfrm>
            <a:off x="7818120" y="4800600"/>
            <a:ext cx="3840480" cy="329184"/>
          </a:xfrm>
          <a:prstGeom prst="rect">
            <a:avLst/>
          </a:prstGeom>
          <a:noFill/>
        </p:spPr>
        <p:txBody>
          <a:bodyPr wrap="square" lIns="0" rIns="0" tIns="0" bIns="0" anchor="ctr">
            <a:spAutoFit/>
          </a:bodyPr>
          <a:lstStyle/>
          <a:p>
            <a:pPr algn="l">
              <a:lnSpc>
                <a:spcPct val="112000"/>
              </a:lnSpc>
            </a:pPr>
            <a:r>
              <a:rPr sz="1300" b="0" i="0">
                <a:solidFill>
                  <a:srgbClr val="F7F0E7"/>
                </a:solidFill>
                <a:latin typeface="Segoe UI Semibold"/>
              </a:rPr>
              <a:t>Live transcript with a face match</a:t>
            </a:r>
          </a:p>
        </p:txBody>
      </p:sp>
      <p:sp>
        <p:nvSpPr>
          <p:cNvPr id="17" name="TextBox 16"/>
          <p:cNvSpPr txBox="1"/>
          <p:nvPr/>
        </p:nvSpPr>
        <p:spPr>
          <a:xfrm>
            <a:off x="6373368" y="5230368"/>
            <a:ext cx="5257800" cy="822960"/>
          </a:xfrm>
          <a:prstGeom prst="rect">
            <a:avLst/>
          </a:prstGeom>
          <a:noFill/>
        </p:spPr>
        <p:txBody>
          <a:bodyPr wrap="square" lIns="0" rIns="0" tIns="0" bIns="0" anchor="t">
            <a:spAutoFit/>
          </a:bodyPr>
          <a:lstStyle/>
          <a:p>
            <a:pPr algn="l">
              <a:lnSpc>
                <a:spcPct val="125000"/>
              </a:lnSpc>
            </a:pPr>
            <a:r>
              <a:rPr sz="1150" b="0" i="0">
                <a:solidFill>
                  <a:srgbClr val="C4B2AE"/>
                </a:solidFill>
                <a:latin typeface="Segoe UI"/>
              </a:rPr>
              <a:t>Questions on the right, answers on the left, and the identity card floating over the video.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rose.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566928"/>
            <a:ext cx="292608" cy="41148"/>
          </a:xfrm>
          <a:prstGeom prst="rect">
            <a:avLst/>
          </a:prstGeom>
          <a:solidFill>
            <a:srgbClr val="F3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457200"/>
            <a:ext cx="8229600" cy="274320"/>
          </a:xfrm>
          <a:prstGeom prst="rect">
            <a:avLst/>
          </a:prstGeom>
          <a:noFill/>
        </p:spPr>
        <p:txBody>
          <a:bodyPr wrap="square" lIns="0" rIns="0" tIns="0" bIns="0" anchor="t">
            <a:spAutoFit/>
          </a:bodyPr>
          <a:lstStyle/>
          <a:p>
            <a:pPr algn="l">
              <a:lnSpc>
                <a:spcPct val="112000"/>
              </a:lnSpc>
            </a:pPr>
            <a:r>
              <a:rPr sz="1100" b="0" i="0" spc="320">
                <a:solidFill>
                  <a:srgbClr val="F3A85C"/>
                </a:solidFill>
                <a:latin typeface="Segoe UI Semibold"/>
              </a:rPr>
              <a:t>09  ·  UI DEMONSTRATION</a:t>
            </a:r>
          </a:p>
        </p:txBody>
      </p:sp>
      <p:sp>
        <p:nvSpPr>
          <p:cNvPr id="5" name="TextBox 4"/>
          <p:cNvSpPr txBox="1"/>
          <p:nvPr/>
        </p:nvSpPr>
        <p:spPr>
          <a:xfrm>
            <a:off x="548640" y="786384"/>
            <a:ext cx="11064240" cy="914400"/>
          </a:xfrm>
          <a:prstGeom prst="rect">
            <a:avLst/>
          </a:prstGeom>
          <a:noFill/>
        </p:spPr>
        <p:txBody>
          <a:bodyPr wrap="square" lIns="0" rIns="0" tIns="0" bIns="0" anchor="t">
            <a:spAutoFit/>
          </a:bodyPr>
          <a:lstStyle/>
          <a:p>
            <a:pPr algn="l">
              <a:lnSpc>
                <a:spcPct val="112000"/>
              </a:lnSpc>
            </a:pPr>
            <a:r>
              <a:rPr sz="3400" b="0" i="0">
                <a:solidFill>
                  <a:srgbClr val="F7F0E7"/>
                </a:solidFill>
                <a:latin typeface="Georgia"/>
              </a:rPr>
              <a:t>From the call to a decision</a:t>
            </a:r>
          </a:p>
        </p:txBody>
      </p:sp>
      <p:sp>
        <p:nvSpPr>
          <p:cNvPr id="6" name="TextBox 5"/>
          <p:cNvSpPr txBox="1"/>
          <p:nvPr/>
        </p:nvSpPr>
        <p:spPr>
          <a:xfrm>
            <a:off x="566928" y="6419088"/>
            <a:ext cx="2743200" cy="228600"/>
          </a:xfrm>
          <a:prstGeom prst="rect">
            <a:avLst/>
          </a:prstGeom>
          <a:noFill/>
        </p:spPr>
        <p:txBody>
          <a:bodyPr wrap="square" lIns="0" rIns="0" tIns="0" bIns="0" anchor="t">
            <a:spAutoFit/>
          </a:bodyPr>
          <a:lstStyle/>
          <a:p>
            <a:pPr algn="l">
              <a:lnSpc>
                <a:spcPct val="112000"/>
              </a:lnSpc>
            </a:pPr>
            <a:r>
              <a:rPr sz="900" b="0" i="0" spc="400">
                <a:solidFill>
                  <a:srgbClr val="8C7A78"/>
                </a:solidFill>
                <a:latin typeface="Segoe UI Semibold"/>
              </a:rPr>
              <a:t>SIFT</a:t>
            </a:r>
          </a:p>
        </p:txBody>
      </p:sp>
      <p:sp>
        <p:nvSpPr>
          <p:cNvPr id="7" name="TextBox 6"/>
          <p:cNvSpPr txBox="1"/>
          <p:nvPr/>
        </p:nvSpPr>
        <p:spPr>
          <a:xfrm>
            <a:off x="9784080" y="6419088"/>
            <a:ext cx="1856231" cy="228600"/>
          </a:xfrm>
          <a:prstGeom prst="rect">
            <a:avLst/>
          </a:prstGeom>
          <a:noFill/>
        </p:spPr>
        <p:txBody>
          <a:bodyPr wrap="square" lIns="0" rIns="0" tIns="0" bIns="0" anchor="t">
            <a:spAutoFit/>
          </a:bodyPr>
          <a:lstStyle/>
          <a:p>
            <a:pPr algn="r">
              <a:lnSpc>
                <a:spcPct val="112000"/>
              </a:lnSpc>
            </a:pPr>
            <a:r>
              <a:rPr sz="900" b="0" i="0" spc="200">
                <a:solidFill>
                  <a:srgbClr val="8C7A78"/>
                </a:solidFill>
                <a:latin typeface="Segoe UI Semibold"/>
              </a:rPr>
              <a:t>16 / 19</a:t>
            </a:r>
          </a:p>
        </p:txBody>
      </p:sp>
      <p:pic>
        <p:nvPicPr>
          <p:cNvPr id="8" name="Picture 7" descr="frame_ui_writing.png"/>
          <p:cNvPicPr>
            <a:picLocks noChangeAspect="1"/>
          </p:cNvPicPr>
          <p:nvPr/>
        </p:nvPicPr>
        <p:blipFill>
          <a:blip r:embed="rId3"/>
          <a:stretch>
            <a:fillRect/>
          </a:stretch>
        </p:blipFill>
        <p:spPr>
          <a:xfrm>
            <a:off x="310896" y="1527048"/>
            <a:ext cx="4443983" cy="2161313"/>
          </a:xfrm>
          <a:prstGeom prst="rect">
            <a:avLst/>
          </a:prstGeom>
        </p:spPr>
      </p:pic>
      <p:pic>
        <p:nvPicPr>
          <p:cNvPr id="9" name="Picture 8" descr="frame_ui_scores.png"/>
          <p:cNvPicPr>
            <a:picLocks noChangeAspect="1"/>
          </p:cNvPicPr>
          <p:nvPr/>
        </p:nvPicPr>
        <p:blipFill>
          <a:blip r:embed="rId4"/>
          <a:stretch>
            <a:fillRect/>
          </a:stretch>
        </p:blipFill>
        <p:spPr>
          <a:xfrm>
            <a:off x="310896" y="3447287"/>
            <a:ext cx="4443983" cy="2008172"/>
          </a:xfrm>
          <a:prstGeom prst="rect">
            <a:avLst/>
          </a:prstGeom>
        </p:spPr>
      </p:pic>
      <p:pic>
        <p:nvPicPr>
          <p:cNvPr id="10" name="Picture 9" descr="frame_ui_master.png"/>
          <p:cNvPicPr>
            <a:picLocks noChangeAspect="1"/>
          </p:cNvPicPr>
          <p:nvPr/>
        </p:nvPicPr>
        <p:blipFill>
          <a:blip r:embed="rId5"/>
          <a:stretch>
            <a:fillRect/>
          </a:stretch>
        </p:blipFill>
        <p:spPr>
          <a:xfrm>
            <a:off x="4590288" y="1527048"/>
            <a:ext cx="7296912" cy="3706230"/>
          </a:xfrm>
          <a:prstGeom prst="rect">
            <a:avLst/>
          </a:prstGeom>
        </p:spPr>
      </p:pic>
      <p:sp>
        <p:nvSpPr>
          <p:cNvPr id="11" name="TextBox 10"/>
          <p:cNvSpPr txBox="1"/>
          <p:nvPr/>
        </p:nvSpPr>
        <p:spPr>
          <a:xfrm>
            <a:off x="566928" y="3502152"/>
            <a:ext cx="3931920" cy="228600"/>
          </a:xfrm>
          <a:prstGeom prst="rect">
            <a:avLst/>
          </a:prstGeom>
          <a:noFill/>
        </p:spPr>
        <p:txBody>
          <a:bodyPr wrap="square" lIns="0" rIns="0" tIns="0" bIns="0" anchor="t">
            <a:spAutoFit/>
          </a:bodyPr>
          <a:lstStyle/>
          <a:p>
            <a:pPr algn="l">
              <a:lnSpc>
                <a:spcPct val="112000"/>
              </a:lnSpc>
            </a:pPr>
            <a:r>
              <a:rPr sz="1000" b="0" i="0">
                <a:solidFill>
                  <a:srgbClr val="8C7A78"/>
                </a:solidFill>
                <a:latin typeface="Segoe UI"/>
              </a:rPr>
              <a:t>1  ·  The call ends and the report starts writing itself</a:t>
            </a:r>
          </a:p>
        </p:txBody>
      </p:sp>
      <p:sp>
        <p:nvSpPr>
          <p:cNvPr id="12" name="TextBox 11"/>
          <p:cNvSpPr txBox="1"/>
          <p:nvPr/>
        </p:nvSpPr>
        <p:spPr>
          <a:xfrm>
            <a:off x="566928" y="5285232"/>
            <a:ext cx="3931920" cy="228600"/>
          </a:xfrm>
          <a:prstGeom prst="rect">
            <a:avLst/>
          </a:prstGeom>
          <a:noFill/>
        </p:spPr>
        <p:txBody>
          <a:bodyPr wrap="square" lIns="0" rIns="0" tIns="0" bIns="0" anchor="t">
            <a:spAutoFit/>
          </a:bodyPr>
          <a:lstStyle/>
          <a:p>
            <a:pPr algn="l">
              <a:lnSpc>
                <a:spcPct val="112000"/>
              </a:lnSpc>
            </a:pPr>
            <a:r>
              <a:rPr sz="1000" b="0" i="0">
                <a:solidFill>
                  <a:srgbClr val="8C7A78"/>
                </a:solidFill>
                <a:latin typeface="Segoe UI"/>
              </a:rPr>
              <a:t>2  ·  CV, interview, and quiz scores arrive</a:t>
            </a:r>
          </a:p>
        </p:txBody>
      </p:sp>
      <p:sp>
        <p:nvSpPr>
          <p:cNvPr id="13" name="TextBox 12"/>
          <p:cNvSpPr txBox="1"/>
          <p:nvPr/>
        </p:nvSpPr>
        <p:spPr>
          <a:xfrm>
            <a:off x="4846320" y="5138928"/>
            <a:ext cx="6784848" cy="914400"/>
          </a:xfrm>
          <a:prstGeom prst="rect">
            <a:avLst/>
          </a:prstGeom>
          <a:noFill/>
        </p:spPr>
        <p:txBody>
          <a:bodyPr wrap="square" lIns="0" rIns="0" tIns="0" bIns="0" anchor="t">
            <a:spAutoFit/>
          </a:bodyPr>
          <a:lstStyle/>
          <a:p>
            <a:pPr algn="l">
              <a:lnSpc>
                <a:spcPct val="120000"/>
              </a:lnSpc>
              <a:spcAft>
                <a:spcPts val="400"/>
              </a:spcAft>
            </a:pPr>
            <a:r>
              <a:rPr sz="1300" b="0" i="0">
                <a:solidFill>
                  <a:srgbClr val="F7F0E7"/>
                </a:solidFill>
                <a:latin typeface="Segoe UI Semibold"/>
              </a:rPr>
              <a:t>3  ·  Master assessment  </a:t>
            </a:r>
            <a:r>
              <a:rPr sz="1300" b="0" i="0">
                <a:solidFill>
                  <a:srgbClr val="F3A85C"/>
                </a:solidFill>
                <a:latin typeface="Segoe UI Semibold"/>
              </a:rPr>
              <a:t>Overall 74.9, Moderate Fit.</a:t>
            </a:r>
          </a:p>
          <a:p>
            <a:pPr algn="l">
              <a:lnSpc>
                <a:spcPct val="120000"/>
              </a:lnSpc>
              <a:spcAft>
                <a:spcPts val="0"/>
              </a:spcAft>
            </a:pPr>
            <a:r>
              <a:rPr sz="1150" b="0" i="0">
                <a:solidFill>
                  <a:srgbClr val="C4B2AE"/>
                </a:solidFill>
                <a:latin typeface="Segoe UI"/>
              </a:rPr>
              <a:t>Every strength is tied to a checklist item, like [cv Q1], so the recruiter can check the reasoning.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mber.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566928"/>
            <a:ext cx="292608" cy="41148"/>
          </a:xfrm>
          <a:prstGeom prst="rect">
            <a:avLst/>
          </a:prstGeom>
          <a:solidFill>
            <a:srgbClr val="F3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457200"/>
            <a:ext cx="8229600" cy="274320"/>
          </a:xfrm>
          <a:prstGeom prst="rect">
            <a:avLst/>
          </a:prstGeom>
          <a:noFill/>
        </p:spPr>
        <p:txBody>
          <a:bodyPr wrap="square" lIns="0" rIns="0" tIns="0" bIns="0" anchor="t">
            <a:spAutoFit/>
          </a:bodyPr>
          <a:lstStyle/>
          <a:p>
            <a:pPr algn="l">
              <a:lnSpc>
                <a:spcPct val="112000"/>
              </a:lnSpc>
            </a:pPr>
            <a:r>
              <a:rPr sz="1100" b="0" i="0" spc="320">
                <a:solidFill>
                  <a:srgbClr val="F3A85C"/>
                </a:solidFill>
                <a:latin typeface="Segoe UI Semibold"/>
              </a:rPr>
              <a:t>09  ·  UI DEMONSTRATION</a:t>
            </a:r>
          </a:p>
        </p:txBody>
      </p:sp>
      <p:sp>
        <p:nvSpPr>
          <p:cNvPr id="5" name="TextBox 4"/>
          <p:cNvSpPr txBox="1"/>
          <p:nvPr/>
        </p:nvSpPr>
        <p:spPr>
          <a:xfrm>
            <a:off x="548640" y="786384"/>
            <a:ext cx="11064240" cy="914400"/>
          </a:xfrm>
          <a:prstGeom prst="rect">
            <a:avLst/>
          </a:prstGeom>
          <a:noFill/>
        </p:spPr>
        <p:txBody>
          <a:bodyPr wrap="square" lIns="0" rIns="0" tIns="0" bIns="0" anchor="t">
            <a:spAutoFit/>
          </a:bodyPr>
          <a:lstStyle/>
          <a:p>
            <a:pPr algn="l">
              <a:lnSpc>
                <a:spcPct val="112000"/>
              </a:lnSpc>
            </a:pPr>
            <a:r>
              <a:rPr sz="3400" b="0" i="0">
                <a:solidFill>
                  <a:srgbClr val="F7F0E7"/>
                </a:solidFill>
                <a:latin typeface="Georgia"/>
              </a:rPr>
              <a:t>Ranked, explained, ready to approve</a:t>
            </a:r>
          </a:p>
        </p:txBody>
      </p:sp>
      <p:sp>
        <p:nvSpPr>
          <p:cNvPr id="6" name="TextBox 5"/>
          <p:cNvSpPr txBox="1"/>
          <p:nvPr/>
        </p:nvSpPr>
        <p:spPr>
          <a:xfrm>
            <a:off x="566928" y="6419088"/>
            <a:ext cx="2743200" cy="228600"/>
          </a:xfrm>
          <a:prstGeom prst="rect">
            <a:avLst/>
          </a:prstGeom>
          <a:noFill/>
        </p:spPr>
        <p:txBody>
          <a:bodyPr wrap="square" lIns="0" rIns="0" tIns="0" bIns="0" anchor="t">
            <a:spAutoFit/>
          </a:bodyPr>
          <a:lstStyle/>
          <a:p>
            <a:pPr algn="l">
              <a:lnSpc>
                <a:spcPct val="112000"/>
              </a:lnSpc>
            </a:pPr>
            <a:r>
              <a:rPr sz="900" b="0" i="0" spc="400">
                <a:solidFill>
                  <a:srgbClr val="8C7A78"/>
                </a:solidFill>
                <a:latin typeface="Segoe UI Semibold"/>
              </a:rPr>
              <a:t>SIFT</a:t>
            </a:r>
          </a:p>
        </p:txBody>
      </p:sp>
      <p:sp>
        <p:nvSpPr>
          <p:cNvPr id="7" name="TextBox 6"/>
          <p:cNvSpPr txBox="1"/>
          <p:nvPr/>
        </p:nvSpPr>
        <p:spPr>
          <a:xfrm>
            <a:off x="9784080" y="6419088"/>
            <a:ext cx="1856231" cy="228600"/>
          </a:xfrm>
          <a:prstGeom prst="rect">
            <a:avLst/>
          </a:prstGeom>
          <a:noFill/>
        </p:spPr>
        <p:txBody>
          <a:bodyPr wrap="square" lIns="0" rIns="0" tIns="0" bIns="0" anchor="t">
            <a:spAutoFit/>
          </a:bodyPr>
          <a:lstStyle/>
          <a:p>
            <a:pPr algn="r">
              <a:lnSpc>
                <a:spcPct val="112000"/>
              </a:lnSpc>
            </a:pPr>
            <a:r>
              <a:rPr sz="900" b="0" i="0" spc="200">
                <a:solidFill>
                  <a:srgbClr val="8C7A78"/>
                </a:solidFill>
                <a:latin typeface="Segoe UI Semibold"/>
              </a:rPr>
              <a:t>17 / 19</a:t>
            </a:r>
          </a:p>
        </p:txBody>
      </p:sp>
      <p:pic>
        <p:nvPicPr>
          <p:cNvPr id="8" name="Picture 7" descr="frame_ui_cards.png"/>
          <p:cNvPicPr>
            <a:picLocks noChangeAspect="1"/>
          </p:cNvPicPr>
          <p:nvPr/>
        </p:nvPicPr>
        <p:blipFill>
          <a:blip r:embed="rId3"/>
          <a:stretch>
            <a:fillRect/>
          </a:stretch>
        </p:blipFill>
        <p:spPr>
          <a:xfrm>
            <a:off x="310896" y="1527048"/>
            <a:ext cx="5632704" cy="2487055"/>
          </a:xfrm>
          <a:prstGeom prst="rect">
            <a:avLst/>
          </a:prstGeom>
        </p:spPr>
      </p:pic>
      <p:pic>
        <p:nvPicPr>
          <p:cNvPr id="9" name="Picture 8" descr="frame_ui_final.png"/>
          <p:cNvPicPr>
            <a:picLocks noChangeAspect="1"/>
          </p:cNvPicPr>
          <p:nvPr/>
        </p:nvPicPr>
        <p:blipFill>
          <a:blip r:embed="rId4"/>
          <a:stretch>
            <a:fillRect/>
          </a:stretch>
        </p:blipFill>
        <p:spPr>
          <a:xfrm>
            <a:off x="5888736" y="1527048"/>
            <a:ext cx="5998464" cy="3400863"/>
          </a:xfrm>
          <a:prstGeom prst="rect">
            <a:avLst/>
          </a:prstGeom>
        </p:spPr>
      </p:pic>
      <p:sp>
        <p:nvSpPr>
          <p:cNvPr id="10" name="TextBox 9"/>
          <p:cNvSpPr txBox="1"/>
          <p:nvPr/>
        </p:nvSpPr>
        <p:spPr>
          <a:xfrm>
            <a:off x="566928" y="3977639"/>
            <a:ext cx="5120640" cy="365760"/>
          </a:xfrm>
          <a:prstGeom prst="rect">
            <a:avLst/>
          </a:prstGeom>
          <a:noFill/>
        </p:spPr>
        <p:txBody>
          <a:bodyPr wrap="square" lIns="0" rIns="0" tIns="0" bIns="0" anchor="t">
            <a:spAutoFit/>
          </a:bodyPr>
          <a:lstStyle/>
          <a:p>
            <a:pPr algn="l">
              <a:lnSpc>
                <a:spcPct val="112000"/>
              </a:lnSpc>
            </a:pPr>
            <a:r>
              <a:rPr sz="1400" b="0" i="0">
                <a:solidFill>
                  <a:srgbClr val="F7F0E7"/>
                </a:solidFill>
                <a:latin typeface="Segoe UI Semibold"/>
              </a:rPr>
              <a:t>Candidates, ordered by rank</a:t>
            </a:r>
          </a:p>
        </p:txBody>
      </p:sp>
      <p:sp>
        <p:nvSpPr>
          <p:cNvPr id="11" name="TextBox 10"/>
          <p:cNvSpPr txBox="1"/>
          <p:nvPr/>
        </p:nvSpPr>
        <p:spPr>
          <a:xfrm>
            <a:off x="566928" y="4315968"/>
            <a:ext cx="5120640" cy="1097280"/>
          </a:xfrm>
          <a:prstGeom prst="rect">
            <a:avLst/>
          </a:prstGeom>
          <a:noFill/>
        </p:spPr>
        <p:txBody>
          <a:bodyPr wrap="square" lIns="0" rIns="0" tIns="0" bIns="0" anchor="t">
            <a:spAutoFit/>
          </a:bodyPr>
          <a:lstStyle/>
          <a:p>
            <a:pPr algn="l">
              <a:lnSpc>
                <a:spcPct val="125000"/>
              </a:lnSpc>
            </a:pPr>
            <a:r>
              <a:rPr sz="1150" b="0" i="0">
                <a:solidFill>
                  <a:srgbClr val="C4B2AE"/>
                </a:solidFill>
                <a:latin typeface="Segoe UI"/>
              </a:rPr>
              <a:t>Portrait cards from the CV photo, with Standing, Compare, and Final ranking views for the same role.</a:t>
            </a:r>
          </a:p>
        </p:txBody>
      </p:sp>
      <p:sp>
        <p:nvSpPr>
          <p:cNvPr id="12" name="TextBox 11"/>
          <p:cNvSpPr txBox="1"/>
          <p:nvPr/>
        </p:nvSpPr>
        <p:spPr>
          <a:xfrm>
            <a:off x="566928" y="5230368"/>
            <a:ext cx="5120640" cy="365760"/>
          </a:xfrm>
          <a:prstGeom prst="rect">
            <a:avLst/>
          </a:prstGeom>
          <a:noFill/>
        </p:spPr>
        <p:txBody>
          <a:bodyPr wrap="square" lIns="0" rIns="0" tIns="0" bIns="0" anchor="t">
            <a:spAutoFit/>
          </a:bodyPr>
          <a:lstStyle/>
          <a:p>
            <a:pPr algn="l">
              <a:lnSpc>
                <a:spcPct val="112000"/>
              </a:lnSpc>
            </a:pPr>
            <a:r>
              <a:rPr sz="1400" b="0" i="0">
                <a:solidFill>
                  <a:srgbClr val="F7F0E7"/>
                </a:solidFill>
                <a:latin typeface="Segoe UI Semibold"/>
              </a:rPr>
              <a:t>Final ranking</a:t>
            </a:r>
          </a:p>
        </p:txBody>
      </p:sp>
      <p:sp>
        <p:nvSpPr>
          <p:cNvPr id="13" name="TextBox 12"/>
          <p:cNvSpPr txBox="1"/>
          <p:nvPr/>
        </p:nvSpPr>
        <p:spPr>
          <a:xfrm>
            <a:off x="566928" y="5559552"/>
            <a:ext cx="5120640" cy="731520"/>
          </a:xfrm>
          <a:prstGeom prst="rect">
            <a:avLst/>
          </a:prstGeom>
          <a:noFill/>
        </p:spPr>
        <p:txBody>
          <a:bodyPr wrap="square" lIns="0" rIns="0" tIns="0" bIns="0" anchor="t">
            <a:spAutoFit/>
          </a:bodyPr>
          <a:lstStyle/>
          <a:p>
            <a:pPr algn="l">
              <a:lnSpc>
                <a:spcPct val="125000"/>
              </a:lnSpc>
            </a:pPr>
            <a:r>
              <a:rPr sz="1150" b="0" i="0">
                <a:solidFill>
                  <a:srgbClr val="C4B2AE"/>
                </a:solidFill>
                <a:latin typeface="Segoe UI"/>
              </a:rPr>
              <a:t>Only people who finished every stage appear here. The recruiter sends approval letters to the top 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moss.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566928"/>
            <a:ext cx="292608" cy="41148"/>
          </a:xfrm>
          <a:prstGeom prst="rect">
            <a:avLst/>
          </a:prstGeom>
          <a:solidFill>
            <a:srgbClr val="F3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457200"/>
            <a:ext cx="8229600" cy="274320"/>
          </a:xfrm>
          <a:prstGeom prst="rect">
            <a:avLst/>
          </a:prstGeom>
          <a:noFill/>
        </p:spPr>
        <p:txBody>
          <a:bodyPr wrap="square" lIns="0" rIns="0" tIns="0" bIns="0" anchor="t">
            <a:spAutoFit/>
          </a:bodyPr>
          <a:lstStyle/>
          <a:p>
            <a:pPr algn="l">
              <a:lnSpc>
                <a:spcPct val="112000"/>
              </a:lnSpc>
            </a:pPr>
            <a:r>
              <a:rPr sz="1100" b="0" i="0" spc="320">
                <a:solidFill>
                  <a:srgbClr val="F3A85C"/>
                </a:solidFill>
                <a:latin typeface="Segoe UI Semibold"/>
              </a:rPr>
              <a:t>10  ·  CHALLENGES AND SOLUTIONS</a:t>
            </a:r>
          </a:p>
        </p:txBody>
      </p:sp>
      <p:sp>
        <p:nvSpPr>
          <p:cNvPr id="5" name="TextBox 4"/>
          <p:cNvSpPr txBox="1"/>
          <p:nvPr/>
        </p:nvSpPr>
        <p:spPr>
          <a:xfrm>
            <a:off x="548640" y="786384"/>
            <a:ext cx="11064240" cy="914400"/>
          </a:xfrm>
          <a:prstGeom prst="rect">
            <a:avLst/>
          </a:prstGeom>
          <a:noFill/>
        </p:spPr>
        <p:txBody>
          <a:bodyPr wrap="square" lIns="0" rIns="0" tIns="0" bIns="0" anchor="t">
            <a:spAutoFit/>
          </a:bodyPr>
          <a:lstStyle/>
          <a:p>
            <a:pPr algn="l">
              <a:lnSpc>
                <a:spcPct val="112000"/>
              </a:lnSpc>
            </a:pPr>
            <a:r>
              <a:rPr sz="3800" b="0" i="0">
                <a:solidFill>
                  <a:srgbClr val="F7F0E7"/>
                </a:solidFill>
                <a:latin typeface="Georgia"/>
              </a:rPr>
              <a:t>What broke, and how it was fixed</a:t>
            </a:r>
          </a:p>
        </p:txBody>
      </p:sp>
      <p:sp>
        <p:nvSpPr>
          <p:cNvPr id="6" name="TextBox 5"/>
          <p:cNvSpPr txBox="1"/>
          <p:nvPr/>
        </p:nvSpPr>
        <p:spPr>
          <a:xfrm>
            <a:off x="566928" y="6419088"/>
            <a:ext cx="2743200" cy="228600"/>
          </a:xfrm>
          <a:prstGeom prst="rect">
            <a:avLst/>
          </a:prstGeom>
          <a:noFill/>
        </p:spPr>
        <p:txBody>
          <a:bodyPr wrap="square" lIns="0" rIns="0" tIns="0" bIns="0" anchor="t">
            <a:spAutoFit/>
          </a:bodyPr>
          <a:lstStyle/>
          <a:p>
            <a:pPr algn="l">
              <a:lnSpc>
                <a:spcPct val="112000"/>
              </a:lnSpc>
            </a:pPr>
            <a:r>
              <a:rPr sz="900" b="0" i="0" spc="400">
                <a:solidFill>
                  <a:srgbClr val="8C7A78"/>
                </a:solidFill>
                <a:latin typeface="Segoe UI Semibold"/>
              </a:rPr>
              <a:t>SIFT</a:t>
            </a:r>
          </a:p>
        </p:txBody>
      </p:sp>
      <p:sp>
        <p:nvSpPr>
          <p:cNvPr id="7" name="TextBox 6"/>
          <p:cNvSpPr txBox="1"/>
          <p:nvPr/>
        </p:nvSpPr>
        <p:spPr>
          <a:xfrm>
            <a:off x="9784080" y="6419088"/>
            <a:ext cx="1856231" cy="228600"/>
          </a:xfrm>
          <a:prstGeom prst="rect">
            <a:avLst/>
          </a:prstGeom>
          <a:noFill/>
        </p:spPr>
        <p:txBody>
          <a:bodyPr wrap="square" lIns="0" rIns="0" tIns="0" bIns="0" anchor="t">
            <a:spAutoFit/>
          </a:bodyPr>
          <a:lstStyle/>
          <a:p>
            <a:pPr algn="r">
              <a:lnSpc>
                <a:spcPct val="112000"/>
              </a:lnSpc>
            </a:pPr>
            <a:r>
              <a:rPr sz="900" b="0" i="0" spc="200">
                <a:solidFill>
                  <a:srgbClr val="8C7A78"/>
                </a:solidFill>
                <a:latin typeface="Segoe UI Semibold"/>
              </a:rPr>
              <a:t>18 / 19</a:t>
            </a:r>
          </a:p>
        </p:txBody>
      </p:sp>
      <p:sp>
        <p:nvSpPr>
          <p:cNvPr id="8" name="Rounded Rectangle 7"/>
          <p:cNvSpPr/>
          <p:nvPr/>
        </p:nvSpPr>
        <p:spPr>
          <a:xfrm>
            <a:off x="566928" y="1783080"/>
            <a:ext cx="5376672" cy="1325880"/>
          </a:xfrm>
          <a:prstGeom prst="roundRect">
            <a:avLst>
              <a:gd name="adj" fmla="val 11034"/>
            </a:avLst>
          </a:prstGeom>
          <a:solidFill>
            <a:srgbClr val="F7F0E7">
              <a:alpha val="3500"/>
            </a:srgbClr>
          </a:solidFill>
          <a:ln w="9525">
            <a:solidFill>
              <a:srgbClr val="F7F0E7">
                <a:alpha val="11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95528" y="1920240"/>
            <a:ext cx="4937760" cy="320040"/>
          </a:xfrm>
          <a:prstGeom prst="rect">
            <a:avLst/>
          </a:prstGeom>
          <a:noFill/>
        </p:spPr>
        <p:txBody>
          <a:bodyPr wrap="square" lIns="0" rIns="0" tIns="0" bIns="0" anchor="t">
            <a:spAutoFit/>
          </a:bodyPr>
          <a:lstStyle/>
          <a:p>
            <a:pPr algn="l">
              <a:lnSpc>
                <a:spcPct val="112000"/>
              </a:lnSpc>
            </a:pPr>
            <a:r>
              <a:rPr sz="1350" b="0" i="0">
                <a:solidFill>
                  <a:srgbClr val="F7F0E7"/>
                </a:solidFill>
                <a:latin typeface="Segoe UI Semibold"/>
              </a:rPr>
              <a:t>The AI interviewer cut candidates off</a:t>
            </a:r>
          </a:p>
        </p:txBody>
      </p:sp>
      <p:sp>
        <p:nvSpPr>
          <p:cNvPr id="10" name="TextBox 9"/>
          <p:cNvSpPr txBox="1"/>
          <p:nvPr/>
        </p:nvSpPr>
        <p:spPr>
          <a:xfrm>
            <a:off x="795528" y="2258568"/>
            <a:ext cx="4983480" cy="365760"/>
          </a:xfrm>
          <a:prstGeom prst="rect">
            <a:avLst/>
          </a:prstGeom>
          <a:noFill/>
        </p:spPr>
        <p:txBody>
          <a:bodyPr wrap="square" lIns="0" rIns="0" tIns="0" bIns="0" anchor="t">
            <a:spAutoFit/>
          </a:bodyPr>
          <a:lstStyle/>
          <a:p>
            <a:pPr algn="l">
              <a:lnSpc>
                <a:spcPct val="115000"/>
              </a:lnSpc>
              <a:spcAft>
                <a:spcPts val="0"/>
              </a:spcAft>
            </a:pPr>
            <a:r>
              <a:rPr sz="1050" b="0" i="0">
                <a:solidFill>
                  <a:srgbClr val="DB8492"/>
                </a:solidFill>
                <a:latin typeface="Segoe UI Semibold"/>
              </a:rPr>
              <a:t>Problem  </a:t>
            </a:r>
            <a:r>
              <a:rPr sz="1050" b="0" i="0">
                <a:solidFill>
                  <a:srgbClr val="C4B2AE"/>
                </a:solidFill>
                <a:latin typeface="Segoe UI"/>
              </a:rPr>
              <a:t>Its own voice leaked back through the microphone and ended the turn.</a:t>
            </a:r>
          </a:p>
        </p:txBody>
      </p:sp>
      <p:sp>
        <p:nvSpPr>
          <p:cNvPr id="11" name="TextBox 10"/>
          <p:cNvSpPr txBox="1"/>
          <p:nvPr/>
        </p:nvSpPr>
        <p:spPr>
          <a:xfrm>
            <a:off x="795528" y="2624328"/>
            <a:ext cx="4983480" cy="457200"/>
          </a:xfrm>
          <a:prstGeom prst="rect">
            <a:avLst/>
          </a:prstGeom>
          <a:noFill/>
        </p:spPr>
        <p:txBody>
          <a:bodyPr wrap="square" lIns="0" rIns="0" tIns="0" bIns="0" anchor="t">
            <a:spAutoFit/>
          </a:bodyPr>
          <a:lstStyle/>
          <a:p>
            <a:pPr algn="l">
              <a:lnSpc>
                <a:spcPct val="115000"/>
              </a:lnSpc>
              <a:spcAft>
                <a:spcPts val="0"/>
              </a:spcAft>
            </a:pPr>
            <a:r>
              <a:rPr sz="1050" b="0" i="0">
                <a:solidFill>
                  <a:srgbClr val="98D0AC"/>
                </a:solidFill>
                <a:latin typeface="Segoe UI Semibold"/>
              </a:rPr>
              <a:t>Solution  </a:t>
            </a:r>
            <a:r>
              <a:rPr sz="1050" b="0" i="0">
                <a:solidFill>
                  <a:srgbClr val="F7F0E7"/>
                </a:solidFill>
                <a:latin typeface="Segoe UI"/>
              </a:rPr>
              <a:t>Mic audio is dropped while it speaks. A turn ends only after 4 seconds of real silence.</a:t>
            </a:r>
          </a:p>
        </p:txBody>
      </p:sp>
      <p:sp>
        <p:nvSpPr>
          <p:cNvPr id="12" name="Rounded Rectangle 11"/>
          <p:cNvSpPr/>
          <p:nvPr/>
        </p:nvSpPr>
        <p:spPr>
          <a:xfrm>
            <a:off x="6144768" y="1783080"/>
            <a:ext cx="5376672" cy="1325880"/>
          </a:xfrm>
          <a:prstGeom prst="roundRect">
            <a:avLst>
              <a:gd name="adj" fmla="val 11034"/>
            </a:avLst>
          </a:prstGeom>
          <a:solidFill>
            <a:srgbClr val="F7F0E7">
              <a:alpha val="3500"/>
            </a:srgbClr>
          </a:solidFill>
          <a:ln w="9525">
            <a:solidFill>
              <a:srgbClr val="F7F0E7">
                <a:alpha val="11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73368" y="1920240"/>
            <a:ext cx="4937760" cy="320040"/>
          </a:xfrm>
          <a:prstGeom prst="rect">
            <a:avLst/>
          </a:prstGeom>
          <a:noFill/>
        </p:spPr>
        <p:txBody>
          <a:bodyPr wrap="square" lIns="0" rIns="0" tIns="0" bIns="0" anchor="t">
            <a:spAutoFit/>
          </a:bodyPr>
          <a:lstStyle/>
          <a:p>
            <a:pPr algn="l">
              <a:lnSpc>
                <a:spcPct val="112000"/>
              </a:lnSpc>
            </a:pPr>
            <a:r>
              <a:rPr sz="1350" b="0" i="0">
                <a:solidFill>
                  <a:srgbClr val="F7F0E7"/>
                </a:solidFill>
                <a:latin typeface="Segoe UI Semibold"/>
              </a:rPr>
              <a:t>Live replies have to feel instant</a:t>
            </a:r>
          </a:p>
        </p:txBody>
      </p:sp>
      <p:sp>
        <p:nvSpPr>
          <p:cNvPr id="14" name="TextBox 13"/>
          <p:cNvSpPr txBox="1"/>
          <p:nvPr/>
        </p:nvSpPr>
        <p:spPr>
          <a:xfrm>
            <a:off x="6373368" y="2258568"/>
            <a:ext cx="4983480" cy="365760"/>
          </a:xfrm>
          <a:prstGeom prst="rect">
            <a:avLst/>
          </a:prstGeom>
          <a:noFill/>
        </p:spPr>
        <p:txBody>
          <a:bodyPr wrap="square" lIns="0" rIns="0" tIns="0" bIns="0" anchor="t">
            <a:spAutoFit/>
          </a:bodyPr>
          <a:lstStyle/>
          <a:p>
            <a:pPr algn="l">
              <a:lnSpc>
                <a:spcPct val="115000"/>
              </a:lnSpc>
              <a:spcAft>
                <a:spcPts val="0"/>
              </a:spcAft>
            </a:pPr>
            <a:r>
              <a:rPr sz="1050" b="0" i="0">
                <a:solidFill>
                  <a:srgbClr val="DB8492"/>
                </a:solidFill>
                <a:latin typeface="Segoe UI Semibold"/>
              </a:rPr>
              <a:t>Problem  </a:t>
            </a:r>
            <a:r>
              <a:rPr sz="1050" b="0" i="0">
                <a:solidFill>
                  <a:srgbClr val="C4B2AE"/>
                </a:solidFill>
                <a:latin typeface="Segoe UI"/>
              </a:rPr>
              <a:t>A language model can take seconds, or hit a rate limit mid-call.</a:t>
            </a:r>
          </a:p>
        </p:txBody>
      </p:sp>
      <p:sp>
        <p:nvSpPr>
          <p:cNvPr id="15" name="TextBox 14"/>
          <p:cNvSpPr txBox="1"/>
          <p:nvPr/>
        </p:nvSpPr>
        <p:spPr>
          <a:xfrm>
            <a:off x="6373368" y="2624328"/>
            <a:ext cx="4983480" cy="457200"/>
          </a:xfrm>
          <a:prstGeom prst="rect">
            <a:avLst/>
          </a:prstGeom>
          <a:noFill/>
        </p:spPr>
        <p:txBody>
          <a:bodyPr wrap="square" lIns="0" rIns="0" tIns="0" bIns="0" anchor="t">
            <a:spAutoFit/>
          </a:bodyPr>
          <a:lstStyle/>
          <a:p>
            <a:pPr algn="l">
              <a:lnSpc>
                <a:spcPct val="115000"/>
              </a:lnSpc>
              <a:spcAft>
                <a:spcPts val="0"/>
              </a:spcAft>
            </a:pPr>
            <a:r>
              <a:rPr sz="1050" b="0" i="0">
                <a:solidFill>
                  <a:srgbClr val="98D0AC"/>
                </a:solidFill>
                <a:latin typeface="Segoe UI Semibold"/>
              </a:rPr>
              <a:t>Solution  </a:t>
            </a:r>
            <a:r>
              <a:rPr sz="1050" b="0" i="0">
                <a:solidFill>
                  <a:srgbClr val="F7F0E7"/>
                </a:solidFill>
                <a:latin typeface="Segoe UI"/>
              </a:rPr>
              <a:t>A hedged request with a 5-second cap, a short acknowledgement, and a checklist fallback.</a:t>
            </a:r>
          </a:p>
        </p:txBody>
      </p:sp>
      <p:sp>
        <p:nvSpPr>
          <p:cNvPr id="16" name="Rounded Rectangle 15"/>
          <p:cNvSpPr/>
          <p:nvPr/>
        </p:nvSpPr>
        <p:spPr>
          <a:xfrm>
            <a:off x="566928" y="3246120"/>
            <a:ext cx="5376672" cy="1325880"/>
          </a:xfrm>
          <a:prstGeom prst="roundRect">
            <a:avLst>
              <a:gd name="adj" fmla="val 11034"/>
            </a:avLst>
          </a:prstGeom>
          <a:solidFill>
            <a:srgbClr val="F7F0E7">
              <a:alpha val="3500"/>
            </a:srgbClr>
          </a:solidFill>
          <a:ln w="9525">
            <a:solidFill>
              <a:srgbClr val="F7F0E7">
                <a:alpha val="11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5528" y="3383279"/>
            <a:ext cx="4937760" cy="320040"/>
          </a:xfrm>
          <a:prstGeom prst="rect">
            <a:avLst/>
          </a:prstGeom>
          <a:noFill/>
        </p:spPr>
        <p:txBody>
          <a:bodyPr wrap="square" lIns="0" rIns="0" tIns="0" bIns="0" anchor="t">
            <a:spAutoFit/>
          </a:bodyPr>
          <a:lstStyle/>
          <a:p>
            <a:pPr algn="l">
              <a:lnSpc>
                <a:spcPct val="112000"/>
              </a:lnSpc>
            </a:pPr>
            <a:r>
              <a:rPr sz="1350" b="0" i="0">
                <a:solidFill>
                  <a:srgbClr val="F7F0E7"/>
                </a:solidFill>
                <a:latin typeface="Segoe UI Semibold"/>
              </a:rPr>
              <a:t>One AI provider is a single point of failure</a:t>
            </a:r>
          </a:p>
        </p:txBody>
      </p:sp>
      <p:sp>
        <p:nvSpPr>
          <p:cNvPr id="18" name="TextBox 17"/>
          <p:cNvSpPr txBox="1"/>
          <p:nvPr/>
        </p:nvSpPr>
        <p:spPr>
          <a:xfrm>
            <a:off x="795528" y="3721608"/>
            <a:ext cx="4983480" cy="365760"/>
          </a:xfrm>
          <a:prstGeom prst="rect">
            <a:avLst/>
          </a:prstGeom>
          <a:noFill/>
        </p:spPr>
        <p:txBody>
          <a:bodyPr wrap="square" lIns="0" rIns="0" tIns="0" bIns="0" anchor="t">
            <a:spAutoFit/>
          </a:bodyPr>
          <a:lstStyle/>
          <a:p>
            <a:pPr algn="l">
              <a:lnSpc>
                <a:spcPct val="115000"/>
              </a:lnSpc>
              <a:spcAft>
                <a:spcPts val="0"/>
              </a:spcAft>
            </a:pPr>
            <a:r>
              <a:rPr sz="1050" b="0" i="0">
                <a:solidFill>
                  <a:srgbClr val="DB8492"/>
                </a:solidFill>
                <a:latin typeface="Segoe UI Semibold"/>
              </a:rPr>
              <a:t>Problem  </a:t>
            </a:r>
            <a:r>
              <a:rPr sz="1050" b="0" i="0">
                <a:solidFill>
                  <a:srgbClr val="C4B2AE"/>
                </a:solidFill>
                <a:latin typeface="Segoe UI"/>
              </a:rPr>
              <a:t>Quota or outage would stop scoring and reports.</a:t>
            </a:r>
          </a:p>
        </p:txBody>
      </p:sp>
      <p:sp>
        <p:nvSpPr>
          <p:cNvPr id="19" name="TextBox 18"/>
          <p:cNvSpPr txBox="1"/>
          <p:nvPr/>
        </p:nvSpPr>
        <p:spPr>
          <a:xfrm>
            <a:off x="795528" y="4087368"/>
            <a:ext cx="4983480" cy="457200"/>
          </a:xfrm>
          <a:prstGeom prst="rect">
            <a:avLst/>
          </a:prstGeom>
          <a:noFill/>
        </p:spPr>
        <p:txBody>
          <a:bodyPr wrap="square" lIns="0" rIns="0" tIns="0" bIns="0" anchor="t">
            <a:spAutoFit/>
          </a:bodyPr>
          <a:lstStyle/>
          <a:p>
            <a:pPr algn="l">
              <a:lnSpc>
                <a:spcPct val="115000"/>
              </a:lnSpc>
              <a:spcAft>
                <a:spcPts val="0"/>
              </a:spcAft>
            </a:pPr>
            <a:r>
              <a:rPr sz="1050" b="0" i="0">
                <a:solidFill>
                  <a:srgbClr val="98D0AC"/>
                </a:solidFill>
                <a:latin typeface="Segoe UI Semibold"/>
              </a:rPr>
              <a:t>Solution  </a:t>
            </a:r>
            <a:r>
              <a:rPr sz="1050" b="0" i="0">
                <a:solidFill>
                  <a:srgbClr val="F7F0E7"/>
                </a:solidFill>
                <a:latin typeface="Segoe UI"/>
              </a:rPr>
              <a:t>One router: Claude, then Gemini, then a local Ollama model.</a:t>
            </a:r>
          </a:p>
        </p:txBody>
      </p:sp>
      <p:sp>
        <p:nvSpPr>
          <p:cNvPr id="20" name="Rounded Rectangle 19"/>
          <p:cNvSpPr/>
          <p:nvPr/>
        </p:nvSpPr>
        <p:spPr>
          <a:xfrm>
            <a:off x="6144768" y="3246120"/>
            <a:ext cx="5376672" cy="1325880"/>
          </a:xfrm>
          <a:prstGeom prst="roundRect">
            <a:avLst>
              <a:gd name="adj" fmla="val 11034"/>
            </a:avLst>
          </a:prstGeom>
          <a:solidFill>
            <a:srgbClr val="F7F0E7">
              <a:alpha val="3500"/>
            </a:srgbClr>
          </a:solidFill>
          <a:ln w="9525">
            <a:solidFill>
              <a:srgbClr val="F7F0E7">
                <a:alpha val="11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73368" y="3383279"/>
            <a:ext cx="4937760" cy="320040"/>
          </a:xfrm>
          <a:prstGeom prst="rect">
            <a:avLst/>
          </a:prstGeom>
          <a:noFill/>
        </p:spPr>
        <p:txBody>
          <a:bodyPr wrap="square" lIns="0" rIns="0" tIns="0" bIns="0" anchor="t">
            <a:spAutoFit/>
          </a:bodyPr>
          <a:lstStyle/>
          <a:p>
            <a:pPr algn="l">
              <a:lnSpc>
                <a:spcPct val="112000"/>
              </a:lnSpc>
            </a:pPr>
            <a:r>
              <a:rPr sz="1350" b="0" i="0">
                <a:solidFill>
                  <a:srgbClr val="F7F0E7"/>
                </a:solidFill>
                <a:latin typeface="Segoe UI Semibold"/>
              </a:rPr>
              <a:t>Remote candidates could not reach the app</a:t>
            </a:r>
          </a:p>
        </p:txBody>
      </p:sp>
      <p:sp>
        <p:nvSpPr>
          <p:cNvPr id="22" name="TextBox 21"/>
          <p:cNvSpPr txBox="1"/>
          <p:nvPr/>
        </p:nvSpPr>
        <p:spPr>
          <a:xfrm>
            <a:off x="6373368" y="3721608"/>
            <a:ext cx="4983480" cy="365760"/>
          </a:xfrm>
          <a:prstGeom prst="rect">
            <a:avLst/>
          </a:prstGeom>
          <a:noFill/>
        </p:spPr>
        <p:txBody>
          <a:bodyPr wrap="square" lIns="0" rIns="0" tIns="0" bIns="0" anchor="t">
            <a:spAutoFit/>
          </a:bodyPr>
          <a:lstStyle/>
          <a:p>
            <a:pPr algn="l">
              <a:lnSpc>
                <a:spcPct val="115000"/>
              </a:lnSpc>
              <a:spcAft>
                <a:spcPts val="0"/>
              </a:spcAft>
            </a:pPr>
            <a:r>
              <a:rPr sz="1050" b="0" i="0">
                <a:solidFill>
                  <a:srgbClr val="DB8492"/>
                </a:solidFill>
                <a:latin typeface="Segoe UI Semibold"/>
              </a:rPr>
              <a:t>Problem  </a:t>
            </a:r>
            <a:r>
              <a:rPr sz="1050" b="0" i="0">
                <a:solidFill>
                  <a:srgbClr val="C4B2AE"/>
                </a:solidFill>
                <a:latin typeface="Segoe UI"/>
              </a:rPr>
              <a:t>The private address did not resolve on the public internet.</a:t>
            </a:r>
          </a:p>
        </p:txBody>
      </p:sp>
      <p:sp>
        <p:nvSpPr>
          <p:cNvPr id="23" name="TextBox 22"/>
          <p:cNvSpPr txBox="1"/>
          <p:nvPr/>
        </p:nvSpPr>
        <p:spPr>
          <a:xfrm>
            <a:off x="6373368" y="4087368"/>
            <a:ext cx="4983480" cy="457200"/>
          </a:xfrm>
          <a:prstGeom prst="rect">
            <a:avLst/>
          </a:prstGeom>
          <a:noFill/>
        </p:spPr>
        <p:txBody>
          <a:bodyPr wrap="square" lIns="0" rIns="0" tIns="0" bIns="0" anchor="t">
            <a:spAutoFit/>
          </a:bodyPr>
          <a:lstStyle/>
          <a:p>
            <a:pPr algn="l">
              <a:lnSpc>
                <a:spcPct val="115000"/>
              </a:lnSpc>
              <a:spcAft>
                <a:spcPts val="0"/>
              </a:spcAft>
            </a:pPr>
            <a:r>
              <a:rPr sz="1050" b="0" i="0">
                <a:solidFill>
                  <a:srgbClr val="98D0AC"/>
                </a:solidFill>
                <a:latin typeface="Segoe UI Semibold"/>
              </a:rPr>
              <a:t>Solution  </a:t>
            </a:r>
            <a:r>
              <a:rPr sz="1050" b="0" i="0">
                <a:solidFill>
                  <a:srgbClr val="F7F0E7"/>
                </a:solidFill>
                <a:latin typeface="Segoe UI"/>
              </a:rPr>
              <a:t>Tailscale Funnel gives public HTTPS, with the API served from the same origin.</a:t>
            </a:r>
          </a:p>
        </p:txBody>
      </p:sp>
      <p:sp>
        <p:nvSpPr>
          <p:cNvPr id="24" name="Rounded Rectangle 23"/>
          <p:cNvSpPr/>
          <p:nvPr/>
        </p:nvSpPr>
        <p:spPr>
          <a:xfrm>
            <a:off x="566928" y="4709160"/>
            <a:ext cx="5376672" cy="1325880"/>
          </a:xfrm>
          <a:prstGeom prst="roundRect">
            <a:avLst>
              <a:gd name="adj" fmla="val 11034"/>
            </a:avLst>
          </a:prstGeom>
          <a:solidFill>
            <a:srgbClr val="F7F0E7">
              <a:alpha val="3500"/>
            </a:srgbClr>
          </a:solidFill>
          <a:ln w="9525">
            <a:solidFill>
              <a:srgbClr val="F7F0E7">
                <a:alpha val="11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95528" y="4846320"/>
            <a:ext cx="4937760" cy="320040"/>
          </a:xfrm>
          <a:prstGeom prst="rect">
            <a:avLst/>
          </a:prstGeom>
          <a:noFill/>
        </p:spPr>
        <p:txBody>
          <a:bodyPr wrap="square" lIns="0" rIns="0" tIns="0" bIns="0" anchor="t">
            <a:spAutoFit/>
          </a:bodyPr>
          <a:lstStyle/>
          <a:p>
            <a:pPr algn="l">
              <a:lnSpc>
                <a:spcPct val="112000"/>
              </a:lnSpc>
            </a:pPr>
            <a:r>
              <a:rPr sz="1350" b="0" i="0">
                <a:solidFill>
                  <a:srgbClr val="F7F0E7"/>
                </a:solidFill>
                <a:latin typeface="Segoe UI Semibold"/>
              </a:rPr>
              <a:t>Checking identity without being invasive</a:t>
            </a:r>
          </a:p>
        </p:txBody>
      </p:sp>
      <p:sp>
        <p:nvSpPr>
          <p:cNvPr id="26" name="TextBox 25"/>
          <p:cNvSpPr txBox="1"/>
          <p:nvPr/>
        </p:nvSpPr>
        <p:spPr>
          <a:xfrm>
            <a:off x="795528" y="5184648"/>
            <a:ext cx="4983480" cy="365760"/>
          </a:xfrm>
          <a:prstGeom prst="rect">
            <a:avLst/>
          </a:prstGeom>
          <a:noFill/>
        </p:spPr>
        <p:txBody>
          <a:bodyPr wrap="square" lIns="0" rIns="0" tIns="0" bIns="0" anchor="t">
            <a:spAutoFit/>
          </a:bodyPr>
          <a:lstStyle/>
          <a:p>
            <a:pPr algn="l">
              <a:lnSpc>
                <a:spcPct val="115000"/>
              </a:lnSpc>
              <a:spcAft>
                <a:spcPts val="0"/>
              </a:spcAft>
            </a:pPr>
            <a:r>
              <a:rPr sz="1050" b="0" i="0">
                <a:solidFill>
                  <a:srgbClr val="DB8492"/>
                </a:solidFill>
                <a:latin typeface="Segoe UI Semibold"/>
              </a:rPr>
              <a:t>Problem  </a:t>
            </a:r>
            <a:r>
              <a:rPr sz="1050" b="0" i="0">
                <a:solidFill>
                  <a:srgbClr val="C4B2AE"/>
                </a:solidFill>
                <a:latin typeface="Segoe UI"/>
              </a:rPr>
              <a:t>A face check has to be fair and optional for the recruiter.</a:t>
            </a:r>
          </a:p>
        </p:txBody>
      </p:sp>
      <p:sp>
        <p:nvSpPr>
          <p:cNvPr id="27" name="TextBox 26"/>
          <p:cNvSpPr txBox="1"/>
          <p:nvPr/>
        </p:nvSpPr>
        <p:spPr>
          <a:xfrm>
            <a:off x="795528" y="5550408"/>
            <a:ext cx="4983480" cy="457200"/>
          </a:xfrm>
          <a:prstGeom prst="rect">
            <a:avLst/>
          </a:prstGeom>
          <a:noFill/>
        </p:spPr>
        <p:txBody>
          <a:bodyPr wrap="square" lIns="0" rIns="0" tIns="0" bIns="0" anchor="t">
            <a:spAutoFit/>
          </a:bodyPr>
          <a:lstStyle/>
          <a:p>
            <a:pPr algn="l">
              <a:lnSpc>
                <a:spcPct val="115000"/>
              </a:lnSpc>
              <a:spcAft>
                <a:spcPts val="0"/>
              </a:spcAft>
            </a:pPr>
            <a:r>
              <a:rPr sz="1050" b="0" i="0">
                <a:solidFill>
                  <a:srgbClr val="98D0AC"/>
                </a:solidFill>
                <a:latin typeface="Segoe UI Semibold"/>
              </a:rPr>
              <a:t>Solution  </a:t>
            </a:r>
            <a:r>
              <a:rPr sz="1050" b="0" i="0">
                <a:solidFill>
                  <a:srgbClr val="F7F0E7"/>
                </a:solidFill>
                <a:latin typeface="Segoe UI"/>
              </a:rPr>
              <a:t>Explicit consent, three-frame InsightFace match, and a recruiter override.</a:t>
            </a:r>
          </a:p>
        </p:txBody>
      </p:sp>
      <p:sp>
        <p:nvSpPr>
          <p:cNvPr id="28" name="Rounded Rectangle 27"/>
          <p:cNvSpPr/>
          <p:nvPr/>
        </p:nvSpPr>
        <p:spPr>
          <a:xfrm>
            <a:off x="6144768" y="4709160"/>
            <a:ext cx="5376672" cy="1325880"/>
          </a:xfrm>
          <a:prstGeom prst="roundRect">
            <a:avLst>
              <a:gd name="adj" fmla="val 11034"/>
            </a:avLst>
          </a:prstGeom>
          <a:solidFill>
            <a:srgbClr val="F7F0E7">
              <a:alpha val="3500"/>
            </a:srgbClr>
          </a:solidFill>
          <a:ln w="9525">
            <a:solidFill>
              <a:srgbClr val="F7F0E7">
                <a:alpha val="11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73368" y="4846320"/>
            <a:ext cx="4937760" cy="320040"/>
          </a:xfrm>
          <a:prstGeom prst="rect">
            <a:avLst/>
          </a:prstGeom>
          <a:noFill/>
        </p:spPr>
        <p:txBody>
          <a:bodyPr wrap="square" lIns="0" rIns="0" tIns="0" bIns="0" anchor="t">
            <a:spAutoFit/>
          </a:bodyPr>
          <a:lstStyle/>
          <a:p>
            <a:pPr algn="l">
              <a:lnSpc>
                <a:spcPct val="112000"/>
              </a:lnSpc>
            </a:pPr>
            <a:r>
              <a:rPr sz="1350" b="0" i="0">
                <a:solidFill>
                  <a:srgbClr val="F7F0E7"/>
                </a:solidFill>
                <a:latin typeface="Segoe UI Semibold"/>
              </a:rPr>
              <a:t>Reports that sound right but are not</a:t>
            </a:r>
          </a:p>
        </p:txBody>
      </p:sp>
      <p:sp>
        <p:nvSpPr>
          <p:cNvPr id="30" name="TextBox 29"/>
          <p:cNvSpPr txBox="1"/>
          <p:nvPr/>
        </p:nvSpPr>
        <p:spPr>
          <a:xfrm>
            <a:off x="6373368" y="5184648"/>
            <a:ext cx="4983480" cy="365760"/>
          </a:xfrm>
          <a:prstGeom prst="rect">
            <a:avLst/>
          </a:prstGeom>
          <a:noFill/>
        </p:spPr>
        <p:txBody>
          <a:bodyPr wrap="square" lIns="0" rIns="0" tIns="0" bIns="0" anchor="t">
            <a:spAutoFit/>
          </a:bodyPr>
          <a:lstStyle/>
          <a:p>
            <a:pPr algn="l">
              <a:lnSpc>
                <a:spcPct val="115000"/>
              </a:lnSpc>
              <a:spcAft>
                <a:spcPts val="0"/>
              </a:spcAft>
            </a:pPr>
            <a:r>
              <a:rPr sz="1050" b="0" i="0">
                <a:solidFill>
                  <a:srgbClr val="DB8492"/>
                </a:solidFill>
                <a:latin typeface="Segoe UI Semibold"/>
              </a:rPr>
              <a:t>Problem  </a:t>
            </a:r>
            <a:r>
              <a:rPr sz="1050" b="0" i="0">
                <a:solidFill>
                  <a:srgbClr val="C4B2AE"/>
                </a:solidFill>
                <a:latin typeface="Segoe UI"/>
              </a:rPr>
              <a:t>A model summary can invent strengths.</a:t>
            </a:r>
          </a:p>
        </p:txBody>
      </p:sp>
      <p:sp>
        <p:nvSpPr>
          <p:cNvPr id="31" name="TextBox 30"/>
          <p:cNvSpPr txBox="1"/>
          <p:nvPr/>
        </p:nvSpPr>
        <p:spPr>
          <a:xfrm>
            <a:off x="6373368" y="5550408"/>
            <a:ext cx="4983480" cy="457200"/>
          </a:xfrm>
          <a:prstGeom prst="rect">
            <a:avLst/>
          </a:prstGeom>
          <a:noFill/>
        </p:spPr>
        <p:txBody>
          <a:bodyPr wrap="square" lIns="0" rIns="0" tIns="0" bIns="0" anchor="t">
            <a:spAutoFit/>
          </a:bodyPr>
          <a:lstStyle/>
          <a:p>
            <a:pPr algn="l">
              <a:lnSpc>
                <a:spcPct val="115000"/>
              </a:lnSpc>
              <a:spcAft>
                <a:spcPts val="0"/>
              </a:spcAft>
            </a:pPr>
            <a:r>
              <a:rPr sz="1050" b="0" i="0">
                <a:solidFill>
                  <a:srgbClr val="98D0AC"/>
                </a:solidFill>
                <a:latin typeface="Segoe UI Semibold"/>
              </a:rPr>
              <a:t>Solution  </a:t>
            </a:r>
            <a:r>
              <a:rPr sz="1050" b="0" i="0">
                <a:solidFill>
                  <a:srgbClr val="F7F0E7"/>
                </a:solidFill>
                <a:latin typeface="Segoe UI"/>
              </a:rPr>
              <a:t>Every claim cites a checklist item, and scores come from the saved transcript.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png"/>
          <p:cNvPicPr>
            <a:picLocks noChangeAspect="1"/>
          </p:cNvPicPr>
          <p:nvPr/>
        </p:nvPicPr>
        <p:blipFill>
          <a:blip r:embed="rId2"/>
          <a:stretch>
            <a:fillRect/>
          </a:stretch>
        </p:blipFill>
        <p:spPr>
          <a:xfrm>
            <a:off x="0" y="0"/>
            <a:ext cx="12191695" cy="6858000"/>
          </a:xfrm>
          <a:prstGeom prst="rect">
            <a:avLst/>
          </a:prstGeom>
        </p:spPr>
      </p:pic>
      <p:pic>
        <p:nvPicPr>
          <p:cNvPr id="3" name="Picture 2" descr="fade_qa_avatar.png"/>
          <p:cNvPicPr>
            <a:picLocks noChangeAspect="1"/>
          </p:cNvPicPr>
          <p:nvPr/>
        </p:nvPicPr>
        <p:blipFill>
          <a:blip r:embed="rId3"/>
          <a:stretch>
            <a:fillRect/>
          </a:stretch>
        </p:blipFill>
        <p:spPr>
          <a:xfrm>
            <a:off x="3931920" y="1371600"/>
            <a:ext cx="8412480" cy="4295313"/>
          </a:xfrm>
          <a:prstGeom prst="rect">
            <a:avLst/>
          </a:prstGeom>
        </p:spPr>
      </p:pic>
      <p:sp>
        <p:nvSpPr>
          <p:cNvPr id="4" name="Rectangle 3"/>
          <p:cNvSpPr/>
          <p:nvPr/>
        </p:nvSpPr>
        <p:spPr>
          <a:xfrm>
            <a:off x="566928" y="1938528"/>
            <a:ext cx="292608" cy="41148"/>
          </a:xfrm>
          <a:prstGeom prst="rect">
            <a:avLst/>
          </a:prstGeom>
          <a:solidFill>
            <a:srgbClr val="F3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9264" y="1828800"/>
            <a:ext cx="8229600" cy="274320"/>
          </a:xfrm>
          <a:prstGeom prst="rect">
            <a:avLst/>
          </a:prstGeom>
          <a:noFill/>
        </p:spPr>
        <p:txBody>
          <a:bodyPr wrap="square" lIns="0" rIns="0" tIns="0" bIns="0" anchor="t">
            <a:spAutoFit/>
          </a:bodyPr>
          <a:lstStyle/>
          <a:p>
            <a:pPr algn="l">
              <a:lnSpc>
                <a:spcPct val="112000"/>
              </a:lnSpc>
            </a:pPr>
            <a:r>
              <a:rPr sz="1100" b="0" i="0" spc="320">
                <a:solidFill>
                  <a:srgbClr val="F3A85C"/>
                </a:solidFill>
                <a:latin typeface="Segoe UI Semibold"/>
              </a:rPr>
              <a:t>11  ·  Q&amp;A</a:t>
            </a:r>
          </a:p>
        </p:txBody>
      </p:sp>
      <p:sp>
        <p:nvSpPr>
          <p:cNvPr id="6" name="TextBox 5"/>
          <p:cNvSpPr txBox="1"/>
          <p:nvPr/>
        </p:nvSpPr>
        <p:spPr>
          <a:xfrm>
            <a:off x="502920" y="2286000"/>
            <a:ext cx="7315200" cy="1463040"/>
          </a:xfrm>
          <a:prstGeom prst="rect">
            <a:avLst/>
          </a:prstGeom>
          <a:noFill/>
        </p:spPr>
        <p:txBody>
          <a:bodyPr wrap="square" lIns="0" rIns="0" tIns="0" bIns="0" anchor="t">
            <a:spAutoFit/>
          </a:bodyPr>
          <a:lstStyle/>
          <a:p>
            <a:pPr algn="l">
              <a:lnSpc>
                <a:spcPct val="112000"/>
              </a:lnSpc>
            </a:pPr>
            <a:r>
              <a:rPr sz="8000" b="0" i="0">
                <a:solidFill>
                  <a:srgbClr val="F7F0E7"/>
                </a:solidFill>
                <a:latin typeface="Georgia"/>
              </a:rPr>
              <a:t>Questions?</a:t>
            </a:r>
          </a:p>
        </p:txBody>
      </p:sp>
      <p:sp>
        <p:nvSpPr>
          <p:cNvPr id="7" name="TextBox 6"/>
          <p:cNvSpPr txBox="1"/>
          <p:nvPr/>
        </p:nvSpPr>
        <p:spPr>
          <a:xfrm>
            <a:off x="566928" y="3794760"/>
            <a:ext cx="5943600" cy="731520"/>
          </a:xfrm>
          <a:prstGeom prst="rect">
            <a:avLst/>
          </a:prstGeom>
          <a:noFill/>
        </p:spPr>
        <p:txBody>
          <a:bodyPr wrap="square" lIns="0" rIns="0" tIns="0" bIns="0" anchor="t">
            <a:spAutoFit/>
          </a:bodyPr>
          <a:lstStyle/>
          <a:p>
            <a:pPr algn="l">
              <a:lnSpc>
                <a:spcPct val="112000"/>
              </a:lnSpc>
            </a:pPr>
            <a:r>
              <a:rPr sz="2000" b="0" i="0">
                <a:solidFill>
                  <a:srgbClr val="C4B2AE"/>
                </a:solidFill>
                <a:latin typeface="Segoe UI"/>
              </a:rPr>
              <a:t>Thank you for listening.</a:t>
            </a:r>
          </a:p>
        </p:txBody>
      </p:sp>
      <p:sp>
        <p:nvSpPr>
          <p:cNvPr id="8" name="TextBox 7"/>
          <p:cNvSpPr txBox="1"/>
          <p:nvPr/>
        </p:nvSpPr>
        <p:spPr>
          <a:xfrm>
            <a:off x="566928" y="6419088"/>
            <a:ext cx="2743200" cy="228600"/>
          </a:xfrm>
          <a:prstGeom prst="rect">
            <a:avLst/>
          </a:prstGeom>
          <a:noFill/>
        </p:spPr>
        <p:txBody>
          <a:bodyPr wrap="square" lIns="0" rIns="0" tIns="0" bIns="0" anchor="t">
            <a:spAutoFit/>
          </a:bodyPr>
          <a:lstStyle/>
          <a:p>
            <a:pPr algn="l">
              <a:lnSpc>
                <a:spcPct val="112000"/>
              </a:lnSpc>
            </a:pPr>
            <a:r>
              <a:rPr sz="900" b="0" i="0" spc="400">
                <a:solidFill>
                  <a:srgbClr val="8C7A78"/>
                </a:solidFill>
                <a:latin typeface="Segoe UI Semibold"/>
              </a:rPr>
              <a:t>SIFT</a:t>
            </a:r>
          </a:p>
        </p:txBody>
      </p:sp>
      <p:sp>
        <p:nvSpPr>
          <p:cNvPr id="9" name="TextBox 8"/>
          <p:cNvSpPr txBox="1"/>
          <p:nvPr/>
        </p:nvSpPr>
        <p:spPr>
          <a:xfrm>
            <a:off x="9784080" y="6419088"/>
            <a:ext cx="1856231" cy="228600"/>
          </a:xfrm>
          <a:prstGeom prst="rect">
            <a:avLst/>
          </a:prstGeom>
          <a:noFill/>
        </p:spPr>
        <p:txBody>
          <a:bodyPr wrap="square" lIns="0" rIns="0" tIns="0" bIns="0" anchor="t">
            <a:spAutoFit/>
          </a:bodyPr>
          <a:lstStyle/>
          <a:p>
            <a:pPr algn="r">
              <a:lnSpc>
                <a:spcPct val="112000"/>
              </a:lnSpc>
            </a:pPr>
            <a:r>
              <a:rPr sz="900" b="0" i="0" spc="200">
                <a:solidFill>
                  <a:srgbClr val="8C7A78"/>
                </a:solidFill>
                <a:latin typeface="Segoe UI Semibold"/>
              </a:rP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